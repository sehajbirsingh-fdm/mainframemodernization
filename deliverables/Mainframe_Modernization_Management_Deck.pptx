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6acfb326c240e0" /><Relationship Type="http://schemas.openxmlformats.org/officeDocument/2006/relationships/extended-properties" Target="/docProps/app.xml" Id="R9534c987686b4173" /><Relationship Type="http://schemas.openxmlformats.org/officeDocument/2006/relationships/officeDocument" Target="/ppt/presentation.xml" Id="R79857cb20dd74f30" /></Relationships>
</file>

<file path=ppt/presentation.xml><?xml version="1.0" encoding="utf-8"?>
<p:presentation xmlns:p="http://schemas.openxmlformats.org/presentationml/2006/main">
  <p:sldMasterIdLst>
    <p:sldMasterId xmlns:r="http://schemas.openxmlformats.org/officeDocument/2006/relationships" id="2147483648" r:id="Rb5da747035c84525"/>
  </p:sldMasterIdLst>
  <p:notesMasterIdLst>
    <p:notesMasterId xmlns:r="http://schemas.openxmlformats.org/officeDocument/2006/relationships" r:id="R10176d904a9e40b0"/>
  </p:notesMasterIdLst>
  <p:sldIdLst>
    <p:sldId xmlns:r="http://schemas.openxmlformats.org/officeDocument/2006/relationships" id="256" r:id="Rf859147287644820"/>
    <p:sldId xmlns:r="http://schemas.openxmlformats.org/officeDocument/2006/relationships" id="257" r:id="Rfee56b979e284622"/>
    <p:sldId xmlns:r="http://schemas.openxmlformats.org/officeDocument/2006/relationships" id="258" r:id="R43537a327a1a4055"/>
    <p:sldId xmlns:r="http://schemas.openxmlformats.org/officeDocument/2006/relationships" id="259" r:id="R4218447ca7d64dbc"/>
    <p:sldId xmlns:r="http://schemas.openxmlformats.org/officeDocument/2006/relationships" id="260" r:id="R79cb8023d6c7459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f72006cf76463f" /><Relationship Type="http://schemas.openxmlformats.org/officeDocument/2006/relationships/slideMaster" Target="/ppt/slideMasters/slideMaster1.xml" Id="Rb5da747035c84525" /><Relationship Type="http://schemas.openxmlformats.org/officeDocument/2006/relationships/notesMaster" Target="/ppt/notesMasters/notesMaster1.xml" Id="R10176d904a9e40b0" /><Relationship Type="http://schemas.openxmlformats.org/officeDocument/2006/relationships/presProps" Target="/ppt/presProps.xml" Id="Rf8e8dd02ea924476" /><Relationship Type="http://schemas.openxmlformats.org/officeDocument/2006/relationships/tableStyles" Target="/ppt/tableStyles.xml" Id="Ree0f3366d2994ff8" /><Relationship Type="http://schemas.openxmlformats.org/officeDocument/2006/relationships/slide" Target="/ppt/slides/slide1.xml" Id="Rf859147287644820" /><Relationship Type="http://schemas.openxmlformats.org/officeDocument/2006/relationships/slide" Target="/ppt/slides/slide2.xml" Id="Rfee56b979e284622" /><Relationship Type="http://schemas.openxmlformats.org/officeDocument/2006/relationships/slide" Target="/ppt/slides/slide3.xml" Id="R43537a327a1a4055" /><Relationship Type="http://schemas.openxmlformats.org/officeDocument/2006/relationships/slide" Target="/ppt/slides/slide4.xml" Id="R4218447ca7d64dbc" /><Relationship Type="http://schemas.openxmlformats.org/officeDocument/2006/relationships/slide" Target="/ppt/slides/slide5.xml" Id="R79cb8023d6c745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529d24e99845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f94f94a9384216" /><Relationship Type="http://schemas.openxmlformats.org/officeDocument/2006/relationships/notesMaster" Target="/ppt/notesMasters/notesMaster1.xml" Id="R000f46a0acb049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fcb5897f3045c9" /><Relationship Type="http://schemas.openxmlformats.org/officeDocument/2006/relationships/notesMaster" Target="/ppt/notesMasters/notesMaster1.xml" Id="R639837b84bfa4a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77f392bb7c4f5f" /><Relationship Type="http://schemas.openxmlformats.org/officeDocument/2006/relationships/notesMaster" Target="/ppt/notesMasters/notesMaster1.xml" Id="R24a39258c68446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e5d3b9a1a04736" /><Relationship Type="http://schemas.openxmlformats.org/officeDocument/2006/relationships/notesMaster" Target="/ppt/notesMasters/notesMaster1.xml" Id="Rddb2ce71506c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3c331495d14067" /><Relationship Type="http://schemas.openxmlformats.org/officeDocument/2006/relationships/notesMaster" Target="/ppt/notesMasters/notesMaster1.xml" Id="R4027e9e3ac7b4c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pod established the modernization foundation before my additions. It used AI-assisted analysis and a modernization agent framework to interpret COBOL programs and copybooks, recover business rules and mappings, and produce reviewable specifications. Specification-driven development then guided the Spring Boot services and React frontend, with reviews and tests tied to the requirements. This is a working proof of concept with local and mock integration boundaries. The objective is to preserve legacy behaviour while moving implementation to a modern application. We are not presenting a completed production migration or verified cost savings.</a:t>
            </a:r>
          </a:p>
          <a:p xmlns:a="http://schemas.openxmlformats.org/drawingml/2006/main">
            <a:r>
              <a:t>Sources</a:t>
            </a:r>
          </a:p>
          <a:p xmlns:a="http://schemas.openxmlformats.org/drawingml/2006/main">
            <a:r>
              <a:t>/Users/temp/Downloads/Mainframe Modernization Powered by AI‑Enabled SDLC.pptx, slides 3, 7, 9, 11 and 18</a:t>
            </a:r>
          </a:p>
          <a:p xmlns:a="http://schemas.openxmlformats.org/drawingml/2006/main">
            <a:r>
              <a:t>/Users/temp/Documents/pod/MainframeModernization/PROJECT_ONBOARDING_GUIDE.md, sections 1–5 and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work adds two capabilities to the application the pod already built. The Code Assistant helps new developers and colleagues working on unfamiliar features ask natural-language questions about the frontend, backend, APIs and end-to-end workflows. Its explanations include code snippets and supporting file references. The second capability demonstrates transaction anomaly detection, persistent alert tracking and customer email notifications. The transaction data is synthetic, and Mailpit captures test emails locally. These are capability demonstrations, without a measured onboarding-time reduction or production fraud-detection claim.</a:t>
            </a:r>
          </a:p>
          <a:p xmlns:a="http://schemas.openxmlformats.org/drawingml/2006/main">
            <a:r>
              <a:t>Sources</a:t>
            </a:r>
          </a:p>
          <a:p xmlns:a="http://schemas.openxmlformats.org/drawingml/2006/main">
            <a:r>
              <a:t>/Users/temp/Documents/pod/MainframeModernization/rag/README.md</a:t>
            </a:r>
          </a:p>
          <a:p xmlns:a="http://schemas.openxmlformats.org/drawingml/2006/main">
            <a:r>
              <a:t>/Users/temp/Documents/pod/MainframeModernization/rag/api.py</a:t>
            </a:r>
          </a:p>
          <a:p xmlns:a="http://schemas.openxmlformats.org/drawingml/2006/main">
            <a:r>
              <a:t>/Users/temp/Documents/pod/MainframeModernization/anomaly_detection/README.md</a:t>
            </a:r>
          </a:p>
          <a:p xmlns:a="http://schemas.openxmlformats.org/drawingml/2006/main">
            <a:r>
              <a:t>Codex task: Recall RAG implementation work, 01a0a5a7-67d3-75a0-b53b-b2b54de438d2</a:t>
            </a:r>
          </a:p>
          <a:p xmlns:a="http://schemas.openxmlformats.org/drawingml/2006/main">
            <a:r>
              <a:t>Codex task: Investigate anomaly monitoring, 01a0a15a-49ab-7cb2-b5b7-36aef8a526af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the assistant first finds project evidence before generating an explanation. This slide covers knowledge preparation. CocoIndex detects additions, edits and deletions. Tree-sitter identifies code structure, and chunks retain links to their files and callable nodes. Groq creates file and function summaries, which enrich the chunks. CodeRankEmbed converts them into vectors stored in LanceDB. Incremental refresh reuses unchanged vectors, updates new or changed chunks and removes deleted chunks. Refreshing the index is an explicit pipeline operation after code changes, rather than an always-running synchronization service.</a:t>
            </a:r>
          </a:p>
          <a:p xmlns:a="http://schemas.openxmlformats.org/drawingml/2006/main">
            <a:r>
              <a:t>Sources</a:t>
            </a:r>
          </a:p>
          <a:p xmlns:a="http://schemas.openxmlformats.org/drawingml/2006/main">
            <a:r>
              <a:t>/Users/temp/Documents/pod/MainframeModernization/rag/README.md, Full Incremental Pipeline and Chunking And Incremental Identity</a:t>
            </a:r>
          </a:p>
          <a:p xmlns:a="http://schemas.openxmlformats.org/drawingml/2006/main">
            <a:r>
              <a:t>/Users/temp/Documents/pod/MainframeModernization/rag/ingestion.py</a:t>
            </a:r>
          </a:p>
          <a:p xmlns:a="http://schemas.openxmlformats.org/drawingml/2006/main">
            <a:r>
              <a:t>/Users/temp/Documents/pod/MainframeModernization/rag/sync_embedding_table.py</a:t>
            </a:r>
          </a:p>
          <a:p xmlns:a="http://schemas.openxmlformats.org/drawingml/2006/main">
            <a:r>
              <a:t>Codex task: Design RAG indexing strategy, 01a00fff-937d-78e1-a308-a0fa4a73a0d4</a:t>
            </a:r>
          </a:p>
          <a:p xmlns:a="http://schemas.openxmlformats.org/drawingml/2006/main">
            <a:r>
              <a:t>User-supplied indexing workflow image: codex-clipboard-eda13267-d0b7-4dcb-8785-1d80f56b4148.png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developer asks a question in the integrated React Code Assistant. Gemini first decides whether the request can be answered, needs clarification or should be declined. For an answerable question, CodeRankEmbed and LanceDB retrieve the top ten semantic code chunks. Groq generates a response using that evidence. Gemini then checks the response against the retrieved code and chooses pass, revise or block. If needed, Groq revises once using the feedback and Gemini checks it again. Only an approved answer is returned as the substantive explanation. Validation reduces unsupported answers but is not a guarantee of correctness. Promptfoo and a separate grounded test set support offline evaluation. Hybrid retrieval and reranking were experiments and are not the live retrieval path.</a:t>
            </a:r>
          </a:p>
          <a:p xmlns:a="http://schemas.openxmlformats.org/drawingml/2006/main">
            <a:r>
              <a:t>Sources</a:t>
            </a:r>
          </a:p>
          <a:p xmlns:a="http://schemas.openxmlformats.org/drawingml/2006/main">
            <a:r>
              <a:t>/Users/temp/Documents/pod/MainframeModernization/rag/api.py, TOP_K, _check_question, _validate_answer and query orchestration</a:t>
            </a:r>
          </a:p>
          <a:p xmlns:a="http://schemas.openxmlformats.org/drawingml/2006/main">
            <a:r>
              <a:t>/Users/temp/Documents/pod/MainframeModernization/rag/rag_evaluation/README.md</a:t>
            </a:r>
          </a:p>
          <a:p xmlns:a="http://schemas.openxmlformats.org/drawingml/2006/main">
            <a:r>
              <a:t>/Users/temp/Documents/pod/MainframeModernization/rag/RAG_lexical/README.md</a:t>
            </a:r>
          </a:p>
          <a:p xmlns:a="http://schemas.openxmlformats.org/drawingml/2006/main">
            <a:r>
              <a:t>Codex task: Recall RAG implementation work, 01a0a5a7-67d3-75a0-b53b-b2b54de438d2</a:t>
            </a:r>
          </a:p>
          <a:p xmlns:a="http://schemas.openxmlformats.org/drawingml/2006/main">
            <a:r>
              <a:t/>
            </a:r>
          </a:p>
          <a:p xmlns:a="http://schemas.openxmlformats.org/drawingml/2006/main">
            <a:r>
              <a:t>Diagram detail: The question and indexed code use the same pinned CodeRankEmbed model. Retrieval matches normalized vectors using cosine similarity and returns the top 10 chunks. Evidence contains raw code, file and node summaries, file paths and line ranges. The answer validator sees the question, answer and retrieved evidence. Offline Promptfoo evaluation is separate from this runtime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creates synthetic transactions through the real Spring Boot API while the banking interface can display the data. The detector scans the current API records whenever the processing command runs. It flags unusually large debits or credits, early-hour activity and rapid transaction bursts. SQLite persists findings with a unique transaction ID to prevent duplicate registration. Large credits are retained for bank review and do not enter automatic customer email delivery. For eligible new customer alerts, Groq drafts the wording, and Python validates required transaction facts before sending to Mailpit. Mailpit is a local test inbox, not delivery to real customers. Successful delivery changes the status to SENT. The default end-to-end demo sends the newest customer alert from the current scan. Detection is rule-based. Isolation Forest and UI alert badges in the earlier diagram are future work, not implemented capabilities.</a:t>
            </a:r>
          </a:p>
          <a:p xmlns:a="http://schemas.openxmlformats.org/drawingml/2006/main">
            <a:r>
              <a:t>Sources</a:t>
            </a:r>
          </a:p>
          <a:p xmlns:a="http://schemas.openxmlformats.org/drawingml/2006/main">
            <a:r>
              <a:t>/Users/temp/Documents/pod/MainframeModernization/anomaly_detection/README.md</a:t>
            </a:r>
          </a:p>
          <a:p xmlns:a="http://schemas.openxmlformats.org/drawingml/2006/main">
            <a:r>
              <a:t>/Users/temp/Documents/pod/MainframeModernization/anomaly_detection/realtime.py</a:t>
            </a:r>
          </a:p>
          <a:p xmlns:a="http://schemas.openxmlformats.org/drawingml/2006/main">
            <a:r>
              <a:t>/Users/temp/Documents/pod/MainframeModernization/anomaly_detection/detect.py</a:t>
            </a:r>
          </a:p>
          <a:p xmlns:a="http://schemas.openxmlformats.org/drawingml/2006/main">
            <a:r>
              <a:t>/Users/temp/Documents/pod/MainframeModernization/anomaly_detection/alerts.py</a:t>
            </a:r>
          </a:p>
          <a:p xmlns:a="http://schemas.openxmlformats.org/drawingml/2006/main">
            <a:r>
              <a:t>/Users/temp/Documents/pod/MainframeModernization/anomaly_detection/notification.py</a:t>
            </a:r>
          </a:p>
          <a:p xmlns:a="http://schemas.openxmlformats.org/drawingml/2006/main">
            <a:r>
              <a:t>/Users/temp/Documents/pod/MainframeModernization/anomaly_detection/main.py</a:t>
            </a:r>
          </a:p>
          <a:p xmlns:a="http://schemas.openxmlformats.org/drawingml/2006/main">
            <a:r>
              <a:t>Codex task: Investigate anomaly monitoring, 01a0a15a-49ab-7cb2-b5b7-36aef8a526af</a:t>
            </a:r>
          </a:p>
          <a:p xmlns:a="http://schemas.openxmlformats.org/drawingml/2006/main">
            <a:r>
              <a:t>User-supplied anomaly workflow image: codex-clipboard-5231e874-b5c5-41e1-9c80-eaa27bcf8e7a.png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4c9552ecc641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9de8e6ad2f455a" /><Relationship Type="http://schemas.openxmlformats.org/officeDocument/2006/relationships/slideLayout" Target="/ppt/slideLayouts/slideLayout1.xml" Id="R7642a4e6138341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42a4e6138341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40caa181da4cb0" /><Relationship Type="http://schemas.openxmlformats.org/officeDocument/2006/relationships/notesSlide" Target="/ppt/notesSlides/notesSlide1.xml" Id="Ref013f53eb6340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6b35a2213304f59" /><Relationship Type="http://schemas.openxmlformats.org/officeDocument/2006/relationships/notesSlide" Target="/ppt/notesSlides/notesSlide2.xml" Id="R7e7adf8077044d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de4028e7a340bf" /><Relationship Type="http://schemas.openxmlformats.org/officeDocument/2006/relationships/notesSlide" Target="/ppt/notesSlides/notesSlide3.xml" Id="R5ada1c8e3ee14f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609d49800040a3" /><Relationship Type="http://schemas.openxmlformats.org/officeDocument/2006/relationships/notesSlide" Target="/ppt/notesSlides/notesSlide4.xml" Id="R731dac19e8aa4c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ad30a12ea54e44" /><Relationship Type="http://schemas.openxmlformats.org/officeDocument/2006/relationships/notesSlide" Target="/ppt/notesSlides/notesSlide5.xml" Id="R464e06e1849244d1" /></Relationships>
</file>

<file path=ppt/slides/slide1.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42" name="title">
            <a:extLst xmlns:a="http://schemas.openxmlformats.org/drawingml/2006/main">
              <a:ext uri="{FF2B5EF4-FFF2-40B4-BE49-F238E27FC236}">
                <a16:creationId xmlns:a16="http://schemas.microsoft.com/office/drawing/2014/main" id="{30908FE3-5AFD-464F-97D8-26C3E859B77F}"/>
              </a:ext>
            </a:extLst>
          </p:cNvPr>
          <p:cNvSpPr>
            <a:spLocks xmlns:a="http://schemas.openxmlformats.org/drawingml/2006/main" noGrp="1"/>
          </p:cNvSpPr>
          <p:nvPr/>
        </p:nvSpPr>
        <p:spPr>
          <a:xfrm xmlns:a="http://schemas.openxmlformats.org/drawingml/2006/main">
            <a:off x="685800" y="495300"/>
            <a:ext cx="1386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101E35"/>
                </a:solidFill>
                <a:latin typeface="Arial"/>
                <a:ea typeface="Arial"/>
                <a:cs typeface="Arial"/>
              </a:defRPr>
            </a:pPr>
            <a:r>
              <a:rPr sz="4050" b="1">
                <a:solidFill>
                  <a:srgbClr val="101E35"/>
                </a:solidFill>
                <a:latin typeface="Arial"/>
                <a:ea typeface="Arial"/>
                <a:cs typeface="Arial"/>
              </a:rPr>
              <a:t>Specification-driven mainframe modernization</a:t>
            </a:r>
          </a:p>
        </p:txBody>
      </p:sp>
      <p:sp>
        <p:nvSpPr>
          <p:cNvPr id="2" name="subtitle">
            <a:extLst xmlns:a="http://schemas.openxmlformats.org/drawingml/2006/main">
              <a:ext uri="{FF2B5EF4-FFF2-40B4-BE49-F238E27FC236}">
                <a16:creationId xmlns:a16="http://schemas.microsoft.com/office/drawing/2014/main" id="{ADD608D2-4B42-4ADE-98C3-CF9AD1BFC0D6}"/>
              </a:ext>
            </a:extLst>
          </p:cNvPr>
          <p:cNvSpPr>
            <a:spLocks xmlns:a="http://schemas.openxmlformats.org/drawingml/2006/main" noGrp="1"/>
          </p:cNvSpPr>
          <p:nvPr/>
        </p:nvSpPr>
        <p:spPr>
          <a:xfrm xmlns:a="http://schemas.openxmlformats.org/drawingml/2006/main">
            <a:off x="704850" y="136207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62738A"/>
                </a:solidFill>
                <a:latin typeface="Arial"/>
                <a:ea typeface="Arial"/>
                <a:cs typeface="Arial"/>
              </a:defRPr>
            </a:pPr>
            <a:r>
              <a:rPr sz="2025" b="0">
                <a:solidFill>
                  <a:srgbClr val="62738A"/>
                </a:solidFill>
                <a:latin typeface="Arial"/>
                <a:ea typeface="Arial"/>
                <a:cs typeface="Arial"/>
              </a:rPr>
              <a:t>The pod’s foundation: legacy behaviour translated into a working modern application</a:t>
            </a:r>
          </a:p>
        </p:txBody>
      </p:sp>
      <p:sp>
        <p:nvSpPr>
          <p:cNvPr id="3" name="footer">
            <a:extLst xmlns:a="http://schemas.openxmlformats.org/drawingml/2006/main">
              <a:ext uri="{FF2B5EF4-FFF2-40B4-BE49-F238E27FC236}">
                <a16:creationId xmlns:a16="http://schemas.microsoft.com/office/drawing/2014/main" id="{0DD25F83-686C-43E9-8FE4-82F00FDBC3D4}"/>
              </a:ext>
            </a:extLst>
          </p:cNvPr>
          <p:cNvSpPr>
            <a:spLocks xmlns:a="http://schemas.openxmlformats.org/drawingml/2006/main" noGrp="1"/>
          </p:cNvSpPr>
          <p:nvPr/>
        </p:nvSpPr>
        <p:spPr>
          <a:xfrm xmlns:a="http://schemas.openxmlformats.org/drawingml/2006/main">
            <a:off x="704850" y="81057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2738A"/>
                </a:solidFill>
                <a:latin typeface="Arial"/>
                <a:ea typeface="Arial"/>
                <a:cs typeface="Arial"/>
              </a:defRPr>
            </a:pPr>
            <a:r>
              <a:rPr sz="1275" b="0">
                <a:solidFill>
                  <a:srgbClr val="62738A"/>
                </a:solidFill>
                <a:latin typeface="Arial"/>
                <a:ea typeface="Arial"/>
                <a:cs typeface="Arial"/>
              </a:rPr>
              <a:t>BANK OF Z  /  MAINFRAME MODERNIZATION</a:t>
            </a:r>
          </a:p>
        </p:txBody>
      </p:sp>
      <p:sp>
        <p:nvSpPr>
          <p:cNvPr id="4" name="page">
            <a:extLst xmlns:a="http://schemas.openxmlformats.org/drawingml/2006/main">
              <a:ext uri="{FF2B5EF4-FFF2-40B4-BE49-F238E27FC236}">
                <a16:creationId xmlns:a16="http://schemas.microsoft.com/office/drawing/2014/main" id="{C200E630-7861-4E99-8F14-D5DA24B1B41B}"/>
              </a:ext>
            </a:extLst>
          </p:cNvPr>
          <p:cNvSpPr>
            <a:spLocks xmlns:a="http://schemas.openxmlformats.org/drawingml/2006/main" noGrp="1"/>
          </p:cNvSpPr>
          <p:nvPr/>
        </p:nvSpPr>
        <p:spPr>
          <a:xfrm xmlns:a="http://schemas.openxmlformats.org/drawingml/2006/main">
            <a:off x="13811250" y="804862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62738A"/>
                </a:solidFill>
                <a:latin typeface="Arial"/>
                <a:ea typeface="Arial"/>
                <a:cs typeface="Arial"/>
              </a:defRPr>
            </a:pPr>
            <a:r>
              <a:rPr sz="1650" b="0">
                <a:solidFill>
                  <a:srgbClr val="62738A"/>
                </a:solidFill>
                <a:latin typeface="Arial"/>
                <a:ea typeface="Arial"/>
                <a:cs typeface="Arial"/>
              </a:rPr>
              <a:t>01</a:t>
            </a:r>
          </a:p>
        </p:txBody>
      </p:sp>
      <p:sp>
        <p:nvSpPr>
          <p:cNvPr id="5" name="legacy-heading">
            <a:extLst xmlns:a="http://schemas.openxmlformats.org/drawingml/2006/main">
              <a:ext uri="{FF2B5EF4-FFF2-40B4-BE49-F238E27FC236}">
                <a16:creationId xmlns:a16="http://schemas.microsoft.com/office/drawing/2014/main" id="{9C471C47-31E0-4315-B354-9196AADC735F}"/>
              </a:ext>
            </a:extLst>
          </p:cNvPr>
          <p:cNvSpPr>
            <a:spLocks xmlns:a="http://schemas.openxmlformats.org/drawingml/2006/main" noGrp="1"/>
          </p:cNvSpPr>
          <p:nvPr/>
        </p:nvSpPr>
        <p:spPr>
          <a:xfrm xmlns:a="http://schemas.openxmlformats.org/drawingml/2006/main">
            <a:off x="685800" y="22955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62738A"/>
                </a:solidFill>
                <a:latin typeface="Arial"/>
                <a:ea typeface="Arial"/>
                <a:cs typeface="Arial"/>
              </a:defRPr>
            </a:pPr>
            <a:r>
              <a:rPr sz="1500" b="1">
                <a:solidFill>
                  <a:srgbClr val="62738A"/>
                </a:solidFill>
                <a:latin typeface="Arial"/>
                <a:ea typeface="Arial"/>
                <a:cs typeface="Arial"/>
              </a:rPr>
              <a:t>LEGACY KNOWLEDGE</a:t>
            </a:r>
          </a:p>
        </p:txBody>
      </p:sp>
      <p:sp>
        <p:nvSpPr>
          <p:cNvPr id="6" name="legacy-document">
            <a:extLst xmlns:a="http://schemas.openxmlformats.org/drawingml/2006/main">
              <a:ext uri="{FF2B5EF4-FFF2-40B4-BE49-F238E27FC236}">
                <a16:creationId xmlns:a16="http://schemas.microsoft.com/office/drawing/2014/main" id="{743515F0-8413-4C20-A5AF-79012001F140}"/>
              </a:ext>
            </a:extLst>
          </p:cNvPr>
          <p:cNvSpPr>
            <a:spLocks xmlns:a="http://schemas.openxmlformats.org/drawingml/2006/main" noGrp="1"/>
          </p:cNvSpPr>
          <p:nvPr/>
        </p:nvSpPr>
        <p:spPr>
          <a:xfrm xmlns:a="http://schemas.openxmlformats.org/drawingml/2006/main">
            <a:off x="762000" y="2971800"/>
            <a:ext cx="2333625" cy="2133600"/>
          </a:xfrm>
          <a:prstGeom xmlns:a="http://schemas.openxmlformats.org/drawingml/2006/main" prst="foldedCorner">
            <a:avLst/>
          </a:prstGeom>
          <a:solidFill xmlns:a="http://schemas.openxmlformats.org/drawingml/2006/main">
            <a:srgbClr val="FFFFFF"/>
          </a:solidFill>
          <a:ln xmlns:a="http://schemas.openxmlformats.org/drawingml/2006/main" w="17145">
            <a:solidFill>
              <a:srgbClr val="C9D3E2"/>
            </a:solidFill>
            <a:prstDash val="solid"/>
          </a:ln>
        </p:spPr>
      </p:sp>
      <p:sp>
        <p:nvSpPr>
          <p:cNvPr id="7" name="legacy-code">
            <a:extLst xmlns:a="http://schemas.openxmlformats.org/drawingml/2006/main">
              <a:ext uri="{FF2B5EF4-FFF2-40B4-BE49-F238E27FC236}">
                <a16:creationId xmlns:a16="http://schemas.microsoft.com/office/drawing/2014/main" id="{8ADFD75C-6DE2-46A0-9494-2E42E02B6538}"/>
              </a:ext>
            </a:extLst>
          </p:cNvPr>
          <p:cNvSpPr>
            <a:spLocks xmlns:a="http://schemas.openxmlformats.org/drawingml/2006/main" noGrp="1"/>
          </p:cNvSpPr>
          <p:nvPr/>
        </p:nvSpPr>
        <p:spPr>
          <a:xfrm xmlns:a="http://schemas.openxmlformats.org/drawingml/2006/main">
            <a:off x="981075" y="3276600"/>
            <a:ext cx="18478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850" b="1">
                <a:solidFill>
                  <a:srgbClr val="101E35"/>
                </a:solidFill>
                <a:latin typeface="Arial"/>
                <a:ea typeface="Arial"/>
                <a:cs typeface="Arial"/>
              </a:defRPr>
            </a:pPr>
            <a:r>
              <a:rPr sz="2850" b="1">
                <a:solidFill>
                  <a:srgbClr val="101E35"/>
                </a:solidFill>
                <a:latin typeface="Arial"/>
                <a:ea typeface="Arial"/>
                <a:cs typeface="Arial"/>
              </a:rPr>
              <a:t>COBOL</a:t>
            </a:r>
          </a:p>
        </p:txBody>
      </p:sp>
      <p:sp>
        <p:nvSpPr>
          <p:cNvPr id="8" name="legacy-input">
            <a:extLst xmlns:a="http://schemas.openxmlformats.org/drawingml/2006/main">
              <a:ext uri="{FF2B5EF4-FFF2-40B4-BE49-F238E27FC236}">
                <a16:creationId xmlns:a16="http://schemas.microsoft.com/office/drawing/2014/main" id="{448E883D-DCCF-426E-9DF9-6B15C09213AA}"/>
              </a:ext>
            </a:extLst>
          </p:cNvPr>
          <p:cNvSpPr>
            <a:spLocks xmlns:a="http://schemas.openxmlformats.org/drawingml/2006/main" noGrp="1"/>
          </p:cNvSpPr>
          <p:nvPr/>
        </p:nvSpPr>
        <p:spPr>
          <a:xfrm xmlns:a="http://schemas.openxmlformats.org/drawingml/2006/main">
            <a:off x="981075" y="3952875"/>
            <a:ext cx="184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62738A"/>
                </a:solidFill>
                <a:latin typeface="Arial"/>
                <a:ea typeface="Arial"/>
                <a:cs typeface="Arial"/>
              </a:defRPr>
            </a:pPr>
            <a:r>
              <a:rPr sz="1950" b="0">
                <a:solidFill>
                  <a:srgbClr val="62738A"/>
                </a:solidFill>
                <a:latin typeface="Arial"/>
                <a:ea typeface="Arial"/>
                <a:cs typeface="Arial"/>
              </a:rPr>
              <a:t>Programs</a:t>
            </a:r>
          </a:p>
          <a:p xmlns:a="http://schemas.openxmlformats.org/drawingml/2006/main">
            <a:pPr algn="l">
              <a:defRPr sz="1950" b="0">
                <a:solidFill>
                  <a:srgbClr val="62738A"/>
                </a:solidFill>
                <a:latin typeface="Arial"/>
                <a:ea typeface="Arial"/>
                <a:cs typeface="Arial"/>
              </a:defRPr>
            </a:pPr>
            <a:r>
              <a:rPr sz="1950" b="0">
                <a:solidFill>
                  <a:srgbClr val="62738A"/>
                </a:solidFill>
                <a:latin typeface="Arial"/>
                <a:ea typeface="Arial"/>
                <a:cs typeface="Arial"/>
              </a:rPr>
              <a:t>Copybooks</a:t>
            </a:r>
          </a:p>
        </p:txBody>
      </p:sp>
      <p:sp>
        <p:nvSpPr>
          <p:cNvPr id="9" name="agents">
            <a:extLst xmlns:a="http://schemas.openxmlformats.org/drawingml/2006/main">
              <a:ext uri="{FF2B5EF4-FFF2-40B4-BE49-F238E27FC236}">
                <a16:creationId xmlns:a16="http://schemas.microsoft.com/office/drawing/2014/main" id="{1C529468-D25E-4A39-B0F2-D66F7C6AD2AB}"/>
              </a:ext>
            </a:extLst>
          </p:cNvPr>
          <p:cNvSpPr>
            <a:spLocks xmlns:a="http://schemas.openxmlformats.org/drawingml/2006/main" noGrp="1"/>
          </p:cNvSpPr>
          <p:nvPr/>
        </p:nvSpPr>
        <p:spPr>
          <a:xfrm xmlns:a="http://schemas.openxmlformats.org/drawingml/2006/main">
            <a:off x="4133850" y="2752725"/>
            <a:ext cx="4124325" cy="1314450"/>
          </a:xfrm>
          <a:prstGeom xmlns:a="http://schemas.openxmlformats.org/drawingml/2006/main" prst="roundRect">
            <a:avLst>
              <a:gd name="adj" fmla="val 8696"/>
            </a:avLst>
          </a:prstGeom>
          <a:solidFill xmlns:a="http://schemas.openxmlformats.org/drawingml/2006/main">
            <a:srgbClr val="101E35"/>
          </a:solidFill>
          <a:ln xmlns:a="http://schemas.openxmlformats.org/drawingml/2006/main" w="14288">
            <a:solidFill>
              <a:srgbClr val="101E35"/>
            </a:solidFill>
            <a:prstDash val="solid"/>
          </a:ln>
        </p:spPr>
      </p:sp>
      <p:sp>
        <p:nvSpPr>
          <p:cNvPr id="10" name="agents-name">
            <a:extLst xmlns:a="http://schemas.openxmlformats.org/drawingml/2006/main">
              <a:ext uri="{FF2B5EF4-FFF2-40B4-BE49-F238E27FC236}">
                <a16:creationId xmlns:a16="http://schemas.microsoft.com/office/drawing/2014/main" id="{54B8AF2A-B4FD-4C45-A9A7-1DE138690E72}"/>
              </a:ext>
            </a:extLst>
          </p:cNvPr>
          <p:cNvSpPr>
            <a:spLocks xmlns:a="http://schemas.openxmlformats.org/drawingml/2006/main" noGrp="1"/>
          </p:cNvSpPr>
          <p:nvPr/>
        </p:nvSpPr>
        <p:spPr>
          <a:xfrm xmlns:a="http://schemas.openxmlformats.org/drawingml/2006/main">
            <a:off x="4343400" y="2924175"/>
            <a:ext cx="37052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Modernization agents</a:t>
            </a:r>
          </a:p>
        </p:txBody>
      </p:sp>
      <p:sp>
        <p:nvSpPr>
          <p:cNvPr id="11" name="agents-sub">
            <a:extLst xmlns:a="http://schemas.openxmlformats.org/drawingml/2006/main">
              <a:ext uri="{FF2B5EF4-FFF2-40B4-BE49-F238E27FC236}">
                <a16:creationId xmlns:a16="http://schemas.microsoft.com/office/drawing/2014/main" id="{B80F54C9-2C2F-4826-AD9D-25AED832D54D}"/>
              </a:ext>
            </a:extLst>
          </p:cNvPr>
          <p:cNvSpPr>
            <a:spLocks xmlns:a="http://schemas.openxmlformats.org/drawingml/2006/main" noGrp="1"/>
          </p:cNvSpPr>
          <p:nvPr/>
        </p:nvSpPr>
        <p:spPr>
          <a:xfrm xmlns:a="http://schemas.openxmlformats.org/drawingml/2006/main">
            <a:off x="4343400" y="3476625"/>
            <a:ext cx="37052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Recover rules and mappings</a:t>
            </a:r>
          </a:p>
        </p:txBody>
      </p:sp>
      <p:sp>
        <p:nvSpPr>
          <p:cNvPr id="12" name="specs">
            <a:extLst xmlns:a="http://schemas.openxmlformats.org/drawingml/2006/main">
              <a:ext uri="{FF2B5EF4-FFF2-40B4-BE49-F238E27FC236}">
                <a16:creationId xmlns:a16="http://schemas.microsoft.com/office/drawing/2014/main" id="{CFA1CB47-701F-434B-A930-0D0B3E73BB01}"/>
              </a:ext>
            </a:extLst>
          </p:cNvPr>
          <p:cNvSpPr>
            <a:spLocks xmlns:a="http://schemas.openxmlformats.org/drawingml/2006/main" noGrp="1"/>
          </p:cNvSpPr>
          <p:nvPr/>
        </p:nvSpPr>
        <p:spPr>
          <a:xfrm xmlns:a="http://schemas.openxmlformats.org/drawingml/2006/main">
            <a:off x="4133850" y="4705350"/>
            <a:ext cx="4124325" cy="131445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3567E8"/>
            </a:solidFill>
            <a:prstDash val="solid"/>
          </a:ln>
        </p:spPr>
      </p:sp>
      <p:sp>
        <p:nvSpPr>
          <p:cNvPr id="13" name="specs-name">
            <a:extLst xmlns:a="http://schemas.openxmlformats.org/drawingml/2006/main">
              <a:ext uri="{FF2B5EF4-FFF2-40B4-BE49-F238E27FC236}">
                <a16:creationId xmlns:a16="http://schemas.microsoft.com/office/drawing/2014/main" id="{478CD8CF-F022-42A8-9793-97964166181D}"/>
              </a:ext>
            </a:extLst>
          </p:cNvPr>
          <p:cNvSpPr>
            <a:spLocks xmlns:a="http://schemas.openxmlformats.org/drawingml/2006/main" noGrp="1"/>
          </p:cNvSpPr>
          <p:nvPr/>
        </p:nvSpPr>
        <p:spPr>
          <a:xfrm xmlns:a="http://schemas.openxmlformats.org/drawingml/2006/main">
            <a:off x="4343400" y="4876800"/>
            <a:ext cx="37052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1">
                <a:solidFill>
                  <a:srgbClr val="162943"/>
                </a:solidFill>
                <a:latin typeface="Arial"/>
                <a:ea typeface="Arial"/>
                <a:cs typeface="Arial"/>
              </a:defRPr>
            </a:pPr>
            <a:r>
              <a:rPr sz="2250" b="1">
                <a:solidFill>
                  <a:srgbClr val="162943"/>
                </a:solidFill>
                <a:latin typeface="Arial"/>
                <a:ea typeface="Arial"/>
                <a:cs typeface="Arial"/>
              </a:rPr>
              <a:t>Reviewed specifications</a:t>
            </a:r>
          </a:p>
        </p:txBody>
      </p:sp>
      <p:sp>
        <p:nvSpPr>
          <p:cNvPr id="14" name="specs-sub">
            <a:extLst xmlns:a="http://schemas.openxmlformats.org/drawingml/2006/main">
              <a:ext uri="{FF2B5EF4-FFF2-40B4-BE49-F238E27FC236}">
                <a16:creationId xmlns:a16="http://schemas.microsoft.com/office/drawing/2014/main" id="{E138504C-22C1-4676-A001-379ECAFFAD81}"/>
              </a:ext>
            </a:extLst>
          </p:cNvPr>
          <p:cNvSpPr>
            <a:spLocks xmlns:a="http://schemas.openxmlformats.org/drawingml/2006/main" noGrp="1"/>
          </p:cNvSpPr>
          <p:nvPr/>
        </p:nvSpPr>
        <p:spPr>
          <a:xfrm xmlns:a="http://schemas.openxmlformats.org/drawingml/2006/main">
            <a:off x="4343400" y="5429250"/>
            <a:ext cx="37052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Contracts, mappings and tests</a:t>
            </a:r>
          </a:p>
        </p:txBody>
      </p:sp>
      <p:cxnSp>
        <p:nvCxnSpPr>
          <p:cNvPr id="56" name=""/>
          <p:cNvCxnSpPr>
            <a:stCxn xmlns:a="http://schemas.openxmlformats.org/drawingml/2006/main" id="6" idx="3"/>
            <a:endCxn xmlns:a="http://schemas.openxmlformats.org/drawingml/2006/main" id="9" idx="1"/>
          </p:cNvCxnSpPr>
          <p:nvPr/>
        </p:nvCxnSpPr>
        <p:spPr>
          <a:xfrm xmlns:a="http://schemas.openxmlformats.org/drawingml/2006/main" flipV="1">
            <a:off x="3095625" y="3409950"/>
            <a:ext cx="1038225" cy="628650"/>
          </a:xfrm>
          <a:prstGeom xmlns:a="http://schemas.openxmlformats.org/drawingml/2006/main" prst="bentConnector3">
            <a:avLst>
              <a:gd name="adj1" fmla="val 50000"/>
            </a:avLst>
          </a:prstGeom>
          <a:ln xmlns:a="http://schemas.openxmlformats.org/drawingml/2006/main" w="28575">
            <a:solidFill>
              <a:srgbClr val="3567E8"/>
            </a:solidFill>
            <a:prstDash val="solid"/>
            <a:tailEnd type="triangle" w="sm" len="sm"/>
          </a:ln>
        </p:spPr>
      </p:cxnSp>
      <p:cxnSp>
        <p:nvCxnSpPr>
          <p:cNvPr id="57" name=""/>
          <p:cNvCxnSpPr>
            <a:stCxn xmlns:a="http://schemas.openxmlformats.org/drawingml/2006/main" id="9" idx="2"/>
            <a:endCxn xmlns:a="http://schemas.openxmlformats.org/drawingml/2006/main" id="12" idx="0"/>
          </p:cNvCxnSpPr>
          <p:nvPr/>
        </p:nvCxnSpPr>
        <p:spPr>
          <a:xfrm xmlns:a="http://schemas.openxmlformats.org/drawingml/2006/main">
            <a:off x="6196013" y="4067175"/>
            <a:ext cx="0" cy="638175"/>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17" name="human-review">
            <a:extLst xmlns:a="http://schemas.openxmlformats.org/drawingml/2006/main">
              <a:ext uri="{FF2B5EF4-FFF2-40B4-BE49-F238E27FC236}">
                <a16:creationId xmlns:a16="http://schemas.microsoft.com/office/drawing/2014/main" id="{16B62214-189F-4351-AF17-B91D6A01E064}"/>
              </a:ext>
            </a:extLst>
          </p:cNvPr>
          <p:cNvSpPr>
            <a:spLocks xmlns:a="http://schemas.openxmlformats.org/drawingml/2006/main" noGrp="1"/>
          </p:cNvSpPr>
          <p:nvPr/>
        </p:nvSpPr>
        <p:spPr>
          <a:xfrm xmlns:a="http://schemas.openxmlformats.org/drawingml/2006/main">
            <a:off x="6553200" y="42672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Human review</a:t>
            </a:r>
          </a:p>
        </p:txBody>
      </p:sp>
      <p:sp>
        <p:nvSpPr>
          <p:cNvPr id="18" name="build">
            <a:extLst xmlns:a="http://schemas.openxmlformats.org/drawingml/2006/main">
              <a:ext uri="{FF2B5EF4-FFF2-40B4-BE49-F238E27FC236}">
                <a16:creationId xmlns:a16="http://schemas.microsoft.com/office/drawing/2014/main" id="{597AED0F-FCF6-475A-A1A9-62B2ACEDD399}"/>
              </a:ext>
            </a:extLst>
          </p:cNvPr>
          <p:cNvSpPr>
            <a:spLocks xmlns:a="http://schemas.openxmlformats.org/drawingml/2006/main" noGrp="1"/>
          </p:cNvSpPr>
          <p:nvPr/>
        </p:nvSpPr>
        <p:spPr>
          <a:xfrm xmlns:a="http://schemas.openxmlformats.org/drawingml/2006/main">
            <a:off x="10125075" y="2752725"/>
            <a:ext cx="4429125" cy="1314450"/>
          </a:xfrm>
          <a:prstGeom xmlns:a="http://schemas.openxmlformats.org/drawingml/2006/main" prst="roundRect">
            <a:avLst>
              <a:gd name="adj" fmla="val 8696"/>
            </a:avLst>
          </a:prstGeom>
          <a:solidFill xmlns:a="http://schemas.openxmlformats.org/drawingml/2006/main">
            <a:srgbClr val="EAF0FD"/>
          </a:solidFill>
          <a:ln xmlns:a="http://schemas.openxmlformats.org/drawingml/2006/main" w="14288">
            <a:solidFill>
              <a:srgbClr val="EAF0FD"/>
            </a:solidFill>
            <a:prstDash val="solid"/>
          </a:ln>
        </p:spPr>
      </p:sp>
      <p:sp>
        <p:nvSpPr>
          <p:cNvPr id="19" name="build-name">
            <a:extLst xmlns:a="http://schemas.openxmlformats.org/drawingml/2006/main">
              <a:ext uri="{FF2B5EF4-FFF2-40B4-BE49-F238E27FC236}">
                <a16:creationId xmlns:a16="http://schemas.microsoft.com/office/drawing/2014/main" id="{48672529-E339-47B7-9795-BAF5AAB36493}"/>
              </a:ext>
            </a:extLst>
          </p:cNvPr>
          <p:cNvSpPr>
            <a:spLocks xmlns:a="http://schemas.openxmlformats.org/drawingml/2006/main" noGrp="1"/>
          </p:cNvSpPr>
          <p:nvPr/>
        </p:nvSpPr>
        <p:spPr>
          <a:xfrm xmlns:a="http://schemas.openxmlformats.org/drawingml/2006/main">
            <a:off x="10334625" y="2924175"/>
            <a:ext cx="40100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62943"/>
                </a:solidFill>
                <a:latin typeface="Arial"/>
                <a:ea typeface="Arial"/>
                <a:cs typeface="Arial"/>
              </a:defRPr>
            </a:pPr>
            <a:r>
              <a:rPr sz="2475" b="1">
                <a:solidFill>
                  <a:srgbClr val="162943"/>
                </a:solidFill>
                <a:latin typeface="Arial"/>
                <a:ea typeface="Arial"/>
                <a:cs typeface="Arial"/>
              </a:rPr>
              <a:t>Build + verify</a:t>
            </a:r>
          </a:p>
        </p:txBody>
      </p:sp>
      <p:sp>
        <p:nvSpPr>
          <p:cNvPr id="20" name="build-sub">
            <a:extLst xmlns:a="http://schemas.openxmlformats.org/drawingml/2006/main">
              <a:ext uri="{FF2B5EF4-FFF2-40B4-BE49-F238E27FC236}">
                <a16:creationId xmlns:a16="http://schemas.microsoft.com/office/drawing/2014/main" id="{992A6AA3-85A2-42CB-BFFA-71303F6E85AA}"/>
              </a:ext>
            </a:extLst>
          </p:cNvPr>
          <p:cNvSpPr>
            <a:spLocks xmlns:a="http://schemas.openxmlformats.org/drawingml/2006/main" noGrp="1"/>
          </p:cNvSpPr>
          <p:nvPr/>
        </p:nvSpPr>
        <p:spPr>
          <a:xfrm xmlns:a="http://schemas.openxmlformats.org/drawingml/2006/main">
            <a:off x="10334625" y="3476625"/>
            <a:ext cx="40100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AI-assisted implementation</a:t>
            </a:r>
          </a:p>
        </p:txBody>
      </p:sp>
      <p:sp>
        <p:nvSpPr>
          <p:cNvPr id="21" name="modern-app">
            <a:extLst xmlns:a="http://schemas.openxmlformats.org/drawingml/2006/main">
              <a:ext uri="{FF2B5EF4-FFF2-40B4-BE49-F238E27FC236}">
                <a16:creationId xmlns:a16="http://schemas.microsoft.com/office/drawing/2014/main" id="{E7E02115-01EC-4173-82A4-FB92C1919C4E}"/>
              </a:ext>
            </a:extLst>
          </p:cNvPr>
          <p:cNvSpPr>
            <a:spLocks xmlns:a="http://schemas.openxmlformats.org/drawingml/2006/main" noGrp="1"/>
          </p:cNvSpPr>
          <p:nvPr/>
        </p:nvSpPr>
        <p:spPr>
          <a:xfrm xmlns:a="http://schemas.openxmlformats.org/drawingml/2006/main">
            <a:off x="10125075" y="4705350"/>
            <a:ext cx="4429125" cy="1314450"/>
          </a:xfrm>
          <a:prstGeom xmlns:a="http://schemas.openxmlformats.org/drawingml/2006/main" prst="roundRect">
            <a:avLst>
              <a:gd name="adj" fmla="val 8696"/>
            </a:avLst>
          </a:prstGeom>
          <a:solidFill xmlns:a="http://schemas.openxmlformats.org/drawingml/2006/main">
            <a:srgbClr val="3567E8"/>
          </a:solidFill>
          <a:ln xmlns:a="http://schemas.openxmlformats.org/drawingml/2006/main" w="14288">
            <a:solidFill>
              <a:srgbClr val="3567E8"/>
            </a:solidFill>
            <a:prstDash val="solid"/>
          </a:ln>
        </p:spPr>
      </p:sp>
      <p:sp>
        <p:nvSpPr>
          <p:cNvPr id="22" name="modern-app-name">
            <a:extLst xmlns:a="http://schemas.openxmlformats.org/drawingml/2006/main">
              <a:ext uri="{FF2B5EF4-FFF2-40B4-BE49-F238E27FC236}">
                <a16:creationId xmlns:a16="http://schemas.microsoft.com/office/drawing/2014/main" id="{108071CD-C365-4398-96B1-405A3F2FAB1A}"/>
              </a:ext>
            </a:extLst>
          </p:cNvPr>
          <p:cNvSpPr>
            <a:spLocks xmlns:a="http://schemas.openxmlformats.org/drawingml/2006/main" noGrp="1"/>
          </p:cNvSpPr>
          <p:nvPr/>
        </p:nvSpPr>
        <p:spPr>
          <a:xfrm xmlns:a="http://schemas.openxmlformats.org/drawingml/2006/main">
            <a:off x="10334625" y="4876800"/>
            <a:ext cx="40100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Spring Boot + React</a:t>
            </a:r>
          </a:p>
        </p:txBody>
      </p:sp>
      <p:sp>
        <p:nvSpPr>
          <p:cNvPr id="23" name="modern-app-sub">
            <a:extLst xmlns:a="http://schemas.openxmlformats.org/drawingml/2006/main">
              <a:ext uri="{FF2B5EF4-FFF2-40B4-BE49-F238E27FC236}">
                <a16:creationId xmlns:a16="http://schemas.microsoft.com/office/drawing/2014/main" id="{D312CA7F-30FB-4746-9086-0FAADD6374F9}"/>
              </a:ext>
            </a:extLst>
          </p:cNvPr>
          <p:cNvSpPr>
            <a:spLocks xmlns:a="http://schemas.openxmlformats.org/drawingml/2006/main" noGrp="1"/>
          </p:cNvSpPr>
          <p:nvPr/>
        </p:nvSpPr>
        <p:spPr>
          <a:xfrm xmlns:a="http://schemas.openxmlformats.org/drawingml/2006/main">
            <a:off x="10334625" y="5429250"/>
            <a:ext cx="40100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DBE6FF"/>
                </a:solidFill>
                <a:latin typeface="Arial"/>
                <a:ea typeface="Arial"/>
                <a:cs typeface="Arial"/>
              </a:defRPr>
            </a:pPr>
            <a:r>
              <a:rPr sz="1725" b="0">
                <a:solidFill>
                  <a:srgbClr val="DBE6FF"/>
                </a:solidFill>
                <a:latin typeface="Arial"/>
                <a:ea typeface="Arial"/>
                <a:cs typeface="Arial"/>
              </a:rPr>
              <a:t>Modern banking application</a:t>
            </a:r>
          </a:p>
        </p:txBody>
      </p:sp>
      <p:sp>
        <p:nvSpPr>
          <p:cNvPr id="24" name="spec-to-build0">
            <a:extLst xmlns:a="http://schemas.openxmlformats.org/drawingml/2006/main">
              <a:ext uri="{FF2B5EF4-FFF2-40B4-BE49-F238E27FC236}">
                <a16:creationId xmlns:a16="http://schemas.microsoft.com/office/drawing/2014/main" id="{5C0FF2D9-6130-4A5B-A77E-51B4ED66F716}"/>
              </a:ext>
            </a:extLst>
          </p:cNvPr>
          <p:cNvSpPr>
            <a:spLocks xmlns:a="http://schemas.openxmlformats.org/drawingml/2006/main" noGrp="1"/>
          </p:cNvSpPr>
          <p:nvPr/>
        </p:nvSpPr>
        <p:spPr>
          <a:xfrm xmlns:a="http://schemas.openxmlformats.org/drawingml/2006/main">
            <a:off x="8248650" y="53530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spec-to-build1">
            <a:extLst xmlns:a="http://schemas.openxmlformats.org/drawingml/2006/main">
              <a:ext uri="{FF2B5EF4-FFF2-40B4-BE49-F238E27FC236}">
                <a16:creationId xmlns:a16="http://schemas.microsoft.com/office/drawing/2014/main" id="{09C67520-D348-47A4-9FFA-118A35C02BF8}"/>
              </a:ext>
            </a:extLst>
          </p:cNvPr>
          <p:cNvSpPr>
            <a:spLocks xmlns:a="http://schemas.openxmlformats.org/drawingml/2006/main" noGrp="1"/>
          </p:cNvSpPr>
          <p:nvPr/>
        </p:nvSpPr>
        <p:spPr>
          <a:xfrm xmlns:a="http://schemas.openxmlformats.org/drawingml/2006/main">
            <a:off x="9182100" y="53530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6" name="spec-to-build2">
            <a:extLst xmlns:a="http://schemas.openxmlformats.org/drawingml/2006/main">
              <a:ext uri="{FF2B5EF4-FFF2-40B4-BE49-F238E27FC236}">
                <a16:creationId xmlns:a16="http://schemas.microsoft.com/office/drawing/2014/main" id="{A37B9674-636C-4A12-85B5-7260A21FB9DE}"/>
              </a:ext>
            </a:extLst>
          </p:cNvPr>
          <p:cNvSpPr>
            <a:spLocks xmlns:a="http://schemas.openxmlformats.org/drawingml/2006/main" noGrp="1"/>
          </p:cNvSpPr>
          <p:nvPr/>
        </p:nvSpPr>
        <p:spPr>
          <a:xfrm xmlns:a="http://schemas.openxmlformats.org/drawingml/2006/main">
            <a:off x="9182100" y="34004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spec-to-build3">
            <a:extLst xmlns:a="http://schemas.openxmlformats.org/drawingml/2006/main">
              <a:ext uri="{FF2B5EF4-FFF2-40B4-BE49-F238E27FC236}">
                <a16:creationId xmlns:a16="http://schemas.microsoft.com/office/drawing/2014/main" id="{762A623D-2B8F-4F20-A5BA-F1548CBA19E1}"/>
              </a:ext>
            </a:extLst>
          </p:cNvPr>
          <p:cNvSpPr>
            <a:spLocks xmlns:a="http://schemas.openxmlformats.org/drawingml/2006/main" noGrp="1"/>
          </p:cNvSpPr>
          <p:nvPr/>
        </p:nvSpPr>
        <p:spPr>
          <a:xfrm xmlns:a="http://schemas.openxmlformats.org/drawingml/2006/main">
            <a:off x="10115550" y="34004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9" name=""/>
          <p:cNvCxnSpPr>
            <a:stCxn xmlns:a="http://schemas.openxmlformats.org/drawingml/2006/main" id="24" idx="3"/>
            <a:endCxn xmlns:a="http://schemas.openxmlformats.org/drawingml/2006/main" id="25" idx="1"/>
          </p:cNvCxnSpPr>
          <p:nvPr/>
        </p:nvCxnSpPr>
        <p:spPr>
          <a:xfrm xmlns:a="http://schemas.openxmlformats.org/drawingml/2006/main">
            <a:off x="8267700" y="5362575"/>
            <a:ext cx="914400" cy="0"/>
          </a:xfrm>
          <a:prstGeom xmlns:a="http://schemas.openxmlformats.org/drawingml/2006/main" prst="straightConnector1">
            <a:avLst/>
          </a:prstGeom>
          <a:ln xmlns:a="http://schemas.openxmlformats.org/drawingml/2006/main" w="28575">
            <a:solidFill>
              <a:srgbClr val="3567E8"/>
            </a:solidFill>
            <a:prstDash val="solid"/>
            <a:tailEnd type="none" w="sm" len="sm"/>
          </a:ln>
        </p:spPr>
      </p:cxnSp>
      <p:cxnSp>
        <p:nvCxnSpPr>
          <p:cNvPr id="70" name=""/>
          <p:cNvCxnSpPr>
            <a:stCxn xmlns:a="http://schemas.openxmlformats.org/drawingml/2006/main" id="25" idx="0"/>
            <a:endCxn xmlns:a="http://schemas.openxmlformats.org/drawingml/2006/main" id="26" idx="2"/>
          </p:cNvCxnSpPr>
          <p:nvPr/>
        </p:nvCxnSpPr>
        <p:spPr>
          <a:xfrm xmlns:a="http://schemas.openxmlformats.org/drawingml/2006/main" flipV="1">
            <a:off x="9191625" y="3419475"/>
            <a:ext cx="0" cy="1933575"/>
          </a:xfrm>
          <a:prstGeom xmlns:a="http://schemas.openxmlformats.org/drawingml/2006/main" prst="straightConnector1">
            <a:avLst/>
          </a:prstGeom>
          <a:ln xmlns:a="http://schemas.openxmlformats.org/drawingml/2006/main" w="28575">
            <a:solidFill>
              <a:srgbClr val="3567E8"/>
            </a:solidFill>
            <a:prstDash val="solid"/>
            <a:tailEnd type="none" w="sm" len="sm"/>
          </a:ln>
        </p:spPr>
      </p:cxnSp>
      <p:cxnSp>
        <p:nvCxnSpPr>
          <p:cNvPr id="71" name=""/>
          <p:cNvCxnSpPr>
            <a:stCxn xmlns:a="http://schemas.openxmlformats.org/drawingml/2006/main" id="26" idx="3"/>
            <a:endCxn xmlns:a="http://schemas.openxmlformats.org/drawingml/2006/main" id="27" idx="1"/>
          </p:cNvCxnSpPr>
          <p:nvPr/>
        </p:nvCxnSpPr>
        <p:spPr>
          <a:xfrm xmlns:a="http://schemas.openxmlformats.org/drawingml/2006/main">
            <a:off x="9201150" y="3409950"/>
            <a:ext cx="914400"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cxnSp>
        <p:nvCxnSpPr>
          <p:cNvPr id="72" name=""/>
          <p:cNvCxnSpPr>
            <a:stCxn xmlns:a="http://schemas.openxmlformats.org/drawingml/2006/main" id="18" idx="2"/>
            <a:endCxn xmlns:a="http://schemas.openxmlformats.org/drawingml/2006/main" id="21" idx="0"/>
          </p:cNvCxnSpPr>
          <p:nvPr/>
        </p:nvCxnSpPr>
        <p:spPr>
          <a:xfrm xmlns:a="http://schemas.openxmlformats.org/drawingml/2006/main">
            <a:off x="12339638" y="4067175"/>
            <a:ext cx="0" cy="638175"/>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32" name="qa-return0">
            <a:extLst xmlns:a="http://schemas.openxmlformats.org/drawingml/2006/main">
              <a:ext uri="{FF2B5EF4-FFF2-40B4-BE49-F238E27FC236}">
                <a16:creationId xmlns:a16="http://schemas.microsoft.com/office/drawing/2014/main" id="{8E2587E0-B1CA-463F-AF68-127610849335}"/>
              </a:ext>
            </a:extLst>
          </p:cNvPr>
          <p:cNvSpPr>
            <a:spLocks xmlns:a="http://schemas.openxmlformats.org/drawingml/2006/main" noGrp="1"/>
          </p:cNvSpPr>
          <p:nvPr/>
        </p:nvSpPr>
        <p:spPr>
          <a:xfrm xmlns:a="http://schemas.openxmlformats.org/drawingml/2006/main">
            <a:off x="12325350" y="60102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qa-return1">
            <a:extLst xmlns:a="http://schemas.openxmlformats.org/drawingml/2006/main">
              <a:ext uri="{FF2B5EF4-FFF2-40B4-BE49-F238E27FC236}">
                <a16:creationId xmlns:a16="http://schemas.microsoft.com/office/drawing/2014/main" id="{4F4D0645-E877-4FE3-8DAB-F64A8B4D72CF}"/>
              </a:ext>
            </a:extLst>
          </p:cNvPr>
          <p:cNvSpPr>
            <a:spLocks xmlns:a="http://schemas.openxmlformats.org/drawingml/2006/main" noGrp="1"/>
          </p:cNvSpPr>
          <p:nvPr/>
        </p:nvSpPr>
        <p:spPr>
          <a:xfrm xmlns:a="http://schemas.openxmlformats.org/drawingml/2006/main">
            <a:off x="12325350" y="67151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qa-return2">
            <a:extLst xmlns:a="http://schemas.openxmlformats.org/drawingml/2006/main">
              <a:ext uri="{FF2B5EF4-FFF2-40B4-BE49-F238E27FC236}">
                <a16:creationId xmlns:a16="http://schemas.microsoft.com/office/drawing/2014/main" id="{36BC8CDB-6D35-4133-ABFC-17F72D16001D}"/>
              </a:ext>
            </a:extLst>
          </p:cNvPr>
          <p:cNvSpPr>
            <a:spLocks xmlns:a="http://schemas.openxmlformats.org/drawingml/2006/main" noGrp="1"/>
          </p:cNvSpPr>
          <p:nvPr/>
        </p:nvSpPr>
        <p:spPr>
          <a:xfrm xmlns:a="http://schemas.openxmlformats.org/drawingml/2006/main">
            <a:off x="6181725" y="67151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qa-return3">
            <a:extLst xmlns:a="http://schemas.openxmlformats.org/drawingml/2006/main">
              <a:ext uri="{FF2B5EF4-FFF2-40B4-BE49-F238E27FC236}">
                <a16:creationId xmlns:a16="http://schemas.microsoft.com/office/drawing/2014/main" id="{1C435125-CAA9-4F6E-A695-E4F9A522F6A5}"/>
              </a:ext>
            </a:extLst>
          </p:cNvPr>
          <p:cNvSpPr>
            <a:spLocks xmlns:a="http://schemas.openxmlformats.org/drawingml/2006/main" noGrp="1"/>
          </p:cNvSpPr>
          <p:nvPr/>
        </p:nvSpPr>
        <p:spPr>
          <a:xfrm xmlns:a="http://schemas.openxmlformats.org/drawingml/2006/main">
            <a:off x="6181725" y="60102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77" name=""/>
          <p:cNvCxnSpPr>
            <a:stCxn xmlns:a="http://schemas.openxmlformats.org/drawingml/2006/main" id="32" idx="2"/>
            <a:endCxn xmlns:a="http://schemas.openxmlformats.org/drawingml/2006/main" id="33" idx="0"/>
          </p:cNvCxnSpPr>
          <p:nvPr/>
        </p:nvCxnSpPr>
        <p:spPr>
          <a:xfrm xmlns:a="http://schemas.openxmlformats.org/drawingml/2006/main">
            <a:off x="12334875" y="6029325"/>
            <a:ext cx="0" cy="685800"/>
          </a:xfrm>
          <a:prstGeom xmlns:a="http://schemas.openxmlformats.org/drawingml/2006/main" prst="straightConnector1">
            <a:avLst/>
          </a:prstGeom>
          <a:ln xmlns:a="http://schemas.openxmlformats.org/drawingml/2006/main" w="28575">
            <a:solidFill>
              <a:srgbClr val="62738A"/>
            </a:solidFill>
            <a:prstDash val="dash"/>
            <a:tailEnd type="none" w="sm" len="sm"/>
          </a:ln>
        </p:spPr>
      </p:cxnSp>
      <p:cxnSp>
        <p:nvCxnSpPr>
          <p:cNvPr id="78" name=""/>
          <p:cNvCxnSpPr>
            <a:stCxn xmlns:a="http://schemas.openxmlformats.org/drawingml/2006/main" id="33" idx="1"/>
            <a:endCxn xmlns:a="http://schemas.openxmlformats.org/drawingml/2006/main" id="34" idx="3"/>
          </p:cNvCxnSpPr>
          <p:nvPr/>
        </p:nvCxnSpPr>
        <p:spPr>
          <a:xfrm xmlns:a="http://schemas.openxmlformats.org/drawingml/2006/main" flipH="1">
            <a:off x="6200775" y="6724650"/>
            <a:ext cx="6124575" cy="0"/>
          </a:xfrm>
          <a:prstGeom xmlns:a="http://schemas.openxmlformats.org/drawingml/2006/main" prst="straightConnector1">
            <a:avLst/>
          </a:prstGeom>
          <a:ln xmlns:a="http://schemas.openxmlformats.org/drawingml/2006/main" w="28575">
            <a:solidFill>
              <a:srgbClr val="62738A"/>
            </a:solidFill>
            <a:prstDash val="dash"/>
            <a:tailEnd type="none" w="sm" len="sm"/>
          </a:ln>
        </p:spPr>
      </p:cxnSp>
      <p:cxnSp>
        <p:nvCxnSpPr>
          <p:cNvPr id="79" name=""/>
          <p:cNvCxnSpPr>
            <a:stCxn xmlns:a="http://schemas.openxmlformats.org/drawingml/2006/main" id="34" idx="0"/>
            <a:endCxn xmlns:a="http://schemas.openxmlformats.org/drawingml/2006/main" id="35" idx="2"/>
          </p:cNvCxnSpPr>
          <p:nvPr/>
        </p:nvCxnSpPr>
        <p:spPr>
          <a:xfrm xmlns:a="http://schemas.openxmlformats.org/drawingml/2006/main" flipV="1">
            <a:off x="6191250" y="6029325"/>
            <a:ext cx="0" cy="685800"/>
          </a:xfrm>
          <a:prstGeom xmlns:a="http://schemas.openxmlformats.org/drawingml/2006/main" prst="straightConnector1">
            <a:avLst/>
          </a:prstGeom>
          <a:ln xmlns:a="http://schemas.openxmlformats.org/drawingml/2006/main" w="28575">
            <a:solidFill>
              <a:srgbClr val="62738A"/>
            </a:solidFill>
            <a:prstDash val="dash"/>
            <a:tailEnd type="triangle" w="sm" len="sm"/>
          </a:ln>
        </p:spPr>
      </p:cxnSp>
      <p:sp>
        <p:nvSpPr>
          <p:cNvPr id="39" name="test-loop">
            <a:extLst xmlns:a="http://schemas.openxmlformats.org/drawingml/2006/main">
              <a:ext uri="{FF2B5EF4-FFF2-40B4-BE49-F238E27FC236}">
                <a16:creationId xmlns:a16="http://schemas.microsoft.com/office/drawing/2014/main" id="{76301EC7-B56F-4BBF-8685-1E72E7AE739B}"/>
              </a:ext>
            </a:extLst>
          </p:cNvPr>
          <p:cNvSpPr>
            <a:spLocks xmlns:a="http://schemas.openxmlformats.org/drawingml/2006/main" noGrp="1"/>
          </p:cNvSpPr>
          <p:nvPr/>
        </p:nvSpPr>
        <p:spPr>
          <a:xfrm xmlns:a="http://schemas.openxmlformats.org/drawingml/2006/main">
            <a:off x="6667500" y="6924675"/>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62738A"/>
                </a:solidFill>
                <a:latin typeface="Arial"/>
                <a:ea typeface="Arial"/>
                <a:cs typeface="Arial"/>
              </a:defRPr>
            </a:pPr>
            <a:r>
              <a:rPr sz="1875" b="0">
                <a:solidFill>
                  <a:srgbClr val="62738A"/>
                </a:solidFill>
                <a:latin typeface="Arial"/>
                <a:ea typeface="Arial"/>
                <a:cs typeface="Arial"/>
              </a:rPr>
              <a:t>Tests and review trace back to the specification</a:t>
            </a:r>
          </a:p>
        </p:txBody>
      </p:sp>
      <p:sp>
        <p:nvSpPr>
          <p:cNvPr id="40" name="preserve">
            <a:extLst xmlns:a="http://schemas.openxmlformats.org/drawingml/2006/main">
              <a:ext uri="{FF2B5EF4-FFF2-40B4-BE49-F238E27FC236}">
                <a16:creationId xmlns:a16="http://schemas.microsoft.com/office/drawing/2014/main" id="{2A12093E-70DA-4917-983C-AC8E0D6A6769}"/>
              </a:ext>
            </a:extLst>
          </p:cNvPr>
          <p:cNvSpPr>
            <a:spLocks xmlns:a="http://schemas.openxmlformats.org/drawingml/2006/main" noGrp="1"/>
          </p:cNvSpPr>
          <p:nvPr/>
        </p:nvSpPr>
        <p:spPr>
          <a:xfrm xmlns:a="http://schemas.openxmlformats.org/drawingml/2006/main">
            <a:off x="685800" y="6648450"/>
            <a:ext cx="5048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1">
                <a:solidFill>
                  <a:srgbClr val="101E35"/>
                </a:solidFill>
                <a:latin typeface="Arial"/>
                <a:ea typeface="Arial"/>
                <a:cs typeface="Arial"/>
              </a:defRPr>
            </a:pPr>
            <a:r>
              <a:rPr sz="2625" b="1">
                <a:solidFill>
                  <a:srgbClr val="101E35"/>
                </a:solidFill>
                <a:latin typeface="Arial"/>
                <a:ea typeface="Arial"/>
                <a:cs typeface="Arial"/>
              </a:rPr>
              <a:t>Preserve the business rules</a:t>
            </a:r>
          </a:p>
        </p:txBody>
      </p:sp>
      <p:sp>
        <p:nvSpPr>
          <p:cNvPr id="41" name="preserve-detail">
            <a:extLst xmlns:a="http://schemas.openxmlformats.org/drawingml/2006/main">
              <a:ext uri="{FF2B5EF4-FFF2-40B4-BE49-F238E27FC236}">
                <a16:creationId xmlns:a16="http://schemas.microsoft.com/office/drawing/2014/main" id="{1B4CD854-0889-455B-AC3A-39DD490503C9}"/>
              </a:ext>
            </a:extLst>
          </p:cNvPr>
          <p:cNvSpPr>
            <a:spLocks xmlns:a="http://schemas.openxmlformats.org/drawingml/2006/main" noGrp="1"/>
          </p:cNvSpPr>
          <p:nvPr/>
        </p:nvSpPr>
        <p:spPr>
          <a:xfrm xmlns:a="http://schemas.openxmlformats.org/drawingml/2006/main">
            <a:off x="685800" y="7162800"/>
            <a:ext cx="5048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0">
                <a:solidFill>
                  <a:srgbClr val="62738A"/>
                </a:solidFill>
                <a:latin typeface="Arial"/>
                <a:ea typeface="Arial"/>
                <a:cs typeface="Arial"/>
              </a:defRPr>
            </a:pPr>
            <a:r>
              <a:rPr sz="1950" b="0">
                <a:solidFill>
                  <a:srgbClr val="62738A"/>
                </a:solidFill>
                <a:latin typeface="Arial"/>
                <a:ea typeface="Arial"/>
                <a:cs typeface="Arial"/>
              </a:rPr>
              <a:t>Change the implementation</a:t>
            </a:r>
          </a:p>
        </p:txBody>
      </p:sp>
    </p:spTree>
    <p:extLst>
      <p:ext uri="{BB962C8B-B14F-4D97-AF65-F5344CB8AC3E}">
        <p14:creationId xmlns:p14="http://schemas.microsoft.com/office/powerpoint/2010/main" val="1842394940"/>
      </p:ext>
    </p:extLst>
  </p:cSld>
</p:sld>
</file>

<file path=ppt/slides/slide2.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26" name="title">
            <a:extLst xmlns:a="http://schemas.openxmlformats.org/drawingml/2006/main">
              <a:ext uri="{FF2B5EF4-FFF2-40B4-BE49-F238E27FC236}">
                <a16:creationId xmlns:a16="http://schemas.microsoft.com/office/drawing/2014/main" id="{DE43D869-93A3-45E7-9A9F-095BB6F4E35F}"/>
              </a:ext>
            </a:extLst>
          </p:cNvPr>
          <p:cNvSpPr>
            <a:spLocks xmlns:a="http://schemas.openxmlformats.org/drawingml/2006/main" noGrp="1"/>
          </p:cNvSpPr>
          <p:nvPr/>
        </p:nvSpPr>
        <p:spPr>
          <a:xfrm xmlns:a="http://schemas.openxmlformats.org/drawingml/2006/main">
            <a:off x="685800" y="495300"/>
            <a:ext cx="1386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101E35"/>
                </a:solidFill>
                <a:latin typeface="Arial"/>
                <a:ea typeface="Arial"/>
                <a:cs typeface="Arial"/>
              </a:defRPr>
            </a:pPr>
            <a:r>
              <a:rPr sz="4050" b="1">
                <a:solidFill>
                  <a:srgbClr val="101E35"/>
                </a:solidFill>
                <a:latin typeface="Arial"/>
                <a:ea typeface="Arial"/>
                <a:cs typeface="Arial"/>
              </a:rPr>
              <a:t>My additions to the modernized application</a:t>
            </a:r>
          </a:p>
        </p:txBody>
      </p:sp>
      <p:sp>
        <p:nvSpPr>
          <p:cNvPr id="2" name="subtitle">
            <a:extLst xmlns:a="http://schemas.openxmlformats.org/drawingml/2006/main">
              <a:ext uri="{FF2B5EF4-FFF2-40B4-BE49-F238E27FC236}">
                <a16:creationId xmlns:a16="http://schemas.microsoft.com/office/drawing/2014/main" id="{4FCD47FF-4DA7-4834-A8D5-B8C25BE06332}"/>
              </a:ext>
            </a:extLst>
          </p:cNvPr>
          <p:cNvSpPr>
            <a:spLocks xmlns:a="http://schemas.openxmlformats.org/drawingml/2006/main" noGrp="1"/>
          </p:cNvSpPr>
          <p:nvPr/>
        </p:nvSpPr>
        <p:spPr>
          <a:xfrm xmlns:a="http://schemas.openxmlformats.org/drawingml/2006/main">
            <a:off x="704850" y="136207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62738A"/>
                </a:solidFill>
                <a:latin typeface="Arial"/>
                <a:ea typeface="Arial"/>
                <a:cs typeface="Arial"/>
              </a:defRPr>
            </a:pPr>
            <a:r>
              <a:rPr sz="2025" b="0">
                <a:solidFill>
                  <a:srgbClr val="62738A"/>
                </a:solidFill>
                <a:latin typeface="Arial"/>
                <a:ea typeface="Arial"/>
                <a:cs typeface="Arial"/>
              </a:rPr>
              <a:t>Developer understanding and transaction oversight</a:t>
            </a:r>
          </a:p>
        </p:txBody>
      </p:sp>
      <p:sp>
        <p:nvSpPr>
          <p:cNvPr id="3" name="footer">
            <a:extLst xmlns:a="http://schemas.openxmlformats.org/drawingml/2006/main">
              <a:ext uri="{FF2B5EF4-FFF2-40B4-BE49-F238E27FC236}">
                <a16:creationId xmlns:a16="http://schemas.microsoft.com/office/drawing/2014/main" id="{EE20DCEA-9F7A-49A4-AE81-35792CDA04E4}"/>
              </a:ext>
            </a:extLst>
          </p:cNvPr>
          <p:cNvSpPr>
            <a:spLocks xmlns:a="http://schemas.openxmlformats.org/drawingml/2006/main" noGrp="1"/>
          </p:cNvSpPr>
          <p:nvPr/>
        </p:nvSpPr>
        <p:spPr>
          <a:xfrm xmlns:a="http://schemas.openxmlformats.org/drawingml/2006/main">
            <a:off x="704850" y="81057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2738A"/>
                </a:solidFill>
                <a:latin typeface="Arial"/>
                <a:ea typeface="Arial"/>
                <a:cs typeface="Arial"/>
              </a:defRPr>
            </a:pPr>
            <a:r>
              <a:rPr sz="1275" b="0">
                <a:solidFill>
                  <a:srgbClr val="62738A"/>
                </a:solidFill>
                <a:latin typeface="Arial"/>
                <a:ea typeface="Arial"/>
                <a:cs typeface="Arial"/>
              </a:rPr>
              <a:t>BANK OF Z  /  MAINFRAME MODERNIZATION</a:t>
            </a:r>
          </a:p>
        </p:txBody>
      </p:sp>
      <p:sp>
        <p:nvSpPr>
          <p:cNvPr id="4" name="page">
            <a:extLst xmlns:a="http://schemas.openxmlformats.org/drawingml/2006/main">
              <a:ext uri="{FF2B5EF4-FFF2-40B4-BE49-F238E27FC236}">
                <a16:creationId xmlns:a16="http://schemas.microsoft.com/office/drawing/2014/main" id="{DB08CF4C-682B-4B55-BFB1-3F7BC9DAE45F}"/>
              </a:ext>
            </a:extLst>
          </p:cNvPr>
          <p:cNvSpPr>
            <a:spLocks xmlns:a="http://schemas.openxmlformats.org/drawingml/2006/main" noGrp="1"/>
          </p:cNvSpPr>
          <p:nvPr/>
        </p:nvSpPr>
        <p:spPr>
          <a:xfrm xmlns:a="http://schemas.openxmlformats.org/drawingml/2006/main">
            <a:off x="13811250" y="804862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62738A"/>
                </a:solidFill>
                <a:latin typeface="Arial"/>
                <a:ea typeface="Arial"/>
                <a:cs typeface="Arial"/>
              </a:defRPr>
            </a:pPr>
            <a:r>
              <a:rPr sz="1650" b="0">
                <a:solidFill>
                  <a:srgbClr val="62738A"/>
                </a:solidFill>
                <a:latin typeface="Arial"/>
                <a:ea typeface="Arial"/>
                <a:cs typeface="Arial"/>
              </a:rPr>
              <a:t>02</a:t>
            </a:r>
          </a:p>
        </p:txBody>
      </p:sp>
      <p:sp>
        <p:nvSpPr>
          <p:cNvPr id="5" name="split">
            <a:extLst xmlns:a="http://schemas.openxmlformats.org/drawingml/2006/main">
              <a:ext uri="{FF2B5EF4-FFF2-40B4-BE49-F238E27FC236}">
                <a16:creationId xmlns:a16="http://schemas.microsoft.com/office/drawing/2014/main" id="{DB560E4E-6065-463F-81B3-013D77EA0A50}"/>
              </a:ext>
            </a:extLst>
          </p:cNvPr>
          <p:cNvSpPr>
            <a:spLocks xmlns:a="http://schemas.openxmlformats.org/drawingml/2006/main" noGrp="1"/>
          </p:cNvSpPr>
          <p:nvPr/>
        </p:nvSpPr>
        <p:spPr>
          <a:xfrm xmlns:a="http://schemas.openxmlformats.org/drawingml/2006/main">
            <a:off x="7620000" y="2286000"/>
            <a:ext cx="0" cy="5238750"/>
          </a:xfrm>
          <a:prstGeom xmlns:a="http://schemas.openxmlformats.org/drawingml/2006/main" prst="line">
            <a:avLst/>
          </a:prstGeom>
          <a:noFill xmlns:a="http://schemas.openxmlformats.org/drawingml/2006/main"/>
          <a:ln xmlns:a="http://schemas.openxmlformats.org/drawingml/2006/main" w="14288">
            <a:solidFill>
              <a:srgbClr val="C9D3E2"/>
            </a:solidFill>
            <a:prstDash val="solid"/>
          </a:ln>
        </p:spPr>
      </p:sp>
      <p:sp>
        <p:nvSpPr>
          <p:cNvPr id="6" name="assistant-index">
            <a:extLst xmlns:a="http://schemas.openxmlformats.org/drawingml/2006/main">
              <a:ext uri="{FF2B5EF4-FFF2-40B4-BE49-F238E27FC236}">
                <a16:creationId xmlns:a16="http://schemas.microsoft.com/office/drawing/2014/main" id="{236902B3-6204-431C-8FF0-B2E9DFF82A48}"/>
              </a:ext>
            </a:extLst>
          </p:cNvPr>
          <p:cNvSpPr>
            <a:spLocks xmlns:a="http://schemas.openxmlformats.org/drawingml/2006/main" noGrp="1"/>
          </p:cNvSpPr>
          <p:nvPr/>
        </p:nvSpPr>
        <p:spPr>
          <a:xfrm xmlns:a="http://schemas.openxmlformats.org/drawingml/2006/main">
            <a:off x="685800" y="2238375"/>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200" b="1">
                <a:solidFill>
                  <a:srgbClr val="3567E8"/>
                </a:solidFill>
                <a:latin typeface="Arial"/>
                <a:ea typeface="Arial"/>
                <a:cs typeface="Arial"/>
              </a:defRPr>
            </a:pPr>
            <a:r>
              <a:rPr sz="4200" b="1">
                <a:solidFill>
                  <a:srgbClr val="3567E8"/>
                </a:solidFill>
                <a:latin typeface="Arial"/>
                <a:ea typeface="Arial"/>
                <a:cs typeface="Arial"/>
              </a:rPr>
              <a:t>01</a:t>
            </a:r>
          </a:p>
        </p:txBody>
      </p:sp>
      <p:sp>
        <p:nvSpPr>
          <p:cNvPr id="7" name="assistant-title">
            <a:extLst xmlns:a="http://schemas.openxmlformats.org/drawingml/2006/main">
              <a:ext uri="{FF2B5EF4-FFF2-40B4-BE49-F238E27FC236}">
                <a16:creationId xmlns:a16="http://schemas.microsoft.com/office/drawing/2014/main" id="{037C6098-82A4-48AC-B05B-D2CC57E7AA13}"/>
              </a:ext>
            </a:extLst>
          </p:cNvPr>
          <p:cNvSpPr>
            <a:spLocks xmlns:a="http://schemas.openxmlformats.org/drawingml/2006/main" noGrp="1"/>
          </p:cNvSpPr>
          <p:nvPr/>
        </p:nvSpPr>
        <p:spPr>
          <a:xfrm xmlns:a="http://schemas.openxmlformats.org/drawingml/2006/main">
            <a:off x="685800" y="3028950"/>
            <a:ext cx="6286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1E35"/>
                </a:solidFill>
                <a:latin typeface="Arial"/>
                <a:ea typeface="Arial"/>
                <a:cs typeface="Arial"/>
              </a:defRPr>
            </a:pPr>
            <a:r>
              <a:rPr sz="3225" b="1">
                <a:solidFill>
                  <a:srgbClr val="101E35"/>
                </a:solidFill>
                <a:latin typeface="Arial"/>
                <a:ea typeface="Arial"/>
                <a:cs typeface="Arial"/>
              </a:rPr>
              <a:t>Code Assistant</a:t>
            </a:r>
          </a:p>
        </p:txBody>
      </p:sp>
      <p:sp>
        <p:nvSpPr>
          <p:cNvPr id="8" name="assistant-value">
            <a:extLst xmlns:a="http://schemas.openxmlformats.org/drawingml/2006/main">
              <a:ext uri="{FF2B5EF4-FFF2-40B4-BE49-F238E27FC236}">
                <a16:creationId xmlns:a16="http://schemas.microsoft.com/office/drawing/2014/main" id="{B3E4ED9B-EC92-457F-BA35-6442625BA34A}"/>
              </a:ext>
            </a:extLst>
          </p:cNvPr>
          <p:cNvSpPr>
            <a:spLocks xmlns:a="http://schemas.openxmlformats.org/drawingml/2006/main" noGrp="1"/>
          </p:cNvSpPr>
          <p:nvPr/>
        </p:nvSpPr>
        <p:spPr>
          <a:xfrm xmlns:a="http://schemas.openxmlformats.org/drawingml/2006/main">
            <a:off x="685800" y="3714750"/>
            <a:ext cx="628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62738A"/>
                </a:solidFill>
                <a:latin typeface="Arial"/>
                <a:ea typeface="Arial"/>
                <a:cs typeface="Arial"/>
              </a:defRPr>
            </a:pPr>
            <a:r>
              <a:rPr sz="2250" b="0">
                <a:solidFill>
                  <a:srgbClr val="62738A"/>
                </a:solidFill>
                <a:latin typeface="Arial"/>
                <a:ea typeface="Arial"/>
                <a:cs typeface="Arial"/>
              </a:rPr>
              <a:t>Helps developers understand</a:t>
            </a:r>
          </a:p>
          <a:p xmlns:a="http://schemas.openxmlformats.org/drawingml/2006/main">
            <a:pPr algn="l">
              <a:defRPr sz="2250" b="0">
                <a:solidFill>
                  <a:srgbClr val="62738A"/>
                </a:solidFill>
                <a:latin typeface="Arial"/>
                <a:ea typeface="Arial"/>
                <a:cs typeface="Arial"/>
              </a:defRPr>
            </a:pPr>
            <a:r>
              <a:rPr sz="2250" b="0">
                <a:solidFill>
                  <a:srgbClr val="62738A"/>
                </a:solidFill>
                <a:latin typeface="Arial"/>
                <a:ea typeface="Arial"/>
                <a:cs typeface="Arial"/>
              </a:rPr>
              <a:t>unfamiliar features and workflows</a:t>
            </a:r>
          </a:p>
        </p:txBody>
      </p:sp>
      <p:sp>
        <p:nvSpPr>
          <p:cNvPr id="9" name="question-example">
            <a:extLst xmlns:a="http://schemas.openxmlformats.org/drawingml/2006/main">
              <a:ext uri="{FF2B5EF4-FFF2-40B4-BE49-F238E27FC236}">
                <a16:creationId xmlns:a16="http://schemas.microsoft.com/office/drawing/2014/main" id="{C067EB8C-C3E4-496C-B02D-DCAB16FDFD53}"/>
              </a:ext>
            </a:extLst>
          </p:cNvPr>
          <p:cNvSpPr>
            <a:spLocks xmlns:a="http://schemas.openxmlformats.org/drawingml/2006/main" noGrp="1"/>
          </p:cNvSpPr>
          <p:nvPr/>
        </p:nvSpPr>
        <p:spPr>
          <a:xfrm xmlns:a="http://schemas.openxmlformats.org/drawingml/2006/main">
            <a:off x="685800" y="5076825"/>
            <a:ext cx="6248400" cy="1143000"/>
          </a:xfrm>
          <a:prstGeom xmlns:a="http://schemas.openxmlformats.org/drawingml/2006/main" prst="roundRect">
            <a:avLst>
              <a:gd name="adj" fmla="val 10000"/>
            </a:avLst>
          </a:prstGeom>
          <a:solidFill xmlns:a="http://schemas.openxmlformats.org/drawingml/2006/main">
            <a:srgbClr val="EAF0FD"/>
          </a:solidFill>
          <a:ln xmlns:a="http://schemas.openxmlformats.org/drawingml/2006/main" w="14288">
            <a:solidFill>
              <a:srgbClr val="EAF0FD"/>
            </a:solidFill>
            <a:prstDash val="solid"/>
          </a:ln>
        </p:spPr>
      </p:sp>
      <p:sp>
        <p:nvSpPr>
          <p:cNvPr id="10" name="question-example-name">
            <a:extLst xmlns:a="http://schemas.openxmlformats.org/drawingml/2006/main">
              <a:ext uri="{FF2B5EF4-FFF2-40B4-BE49-F238E27FC236}">
                <a16:creationId xmlns:a16="http://schemas.microsoft.com/office/drawing/2014/main" id="{7393D37F-7BD6-442F-B3BB-AED2140A7B28}"/>
              </a:ext>
            </a:extLst>
          </p:cNvPr>
          <p:cNvSpPr>
            <a:spLocks xmlns:a="http://schemas.openxmlformats.org/drawingml/2006/main" noGrp="1"/>
          </p:cNvSpPr>
          <p:nvPr/>
        </p:nvSpPr>
        <p:spPr>
          <a:xfrm xmlns:a="http://schemas.openxmlformats.org/drawingml/2006/main">
            <a:off x="895350" y="5248275"/>
            <a:ext cx="5829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62943"/>
                </a:solidFill>
                <a:latin typeface="Arial"/>
                <a:ea typeface="Arial"/>
                <a:cs typeface="Arial"/>
              </a:defRPr>
            </a:pPr>
            <a:r>
              <a:rPr sz="2100" b="1">
                <a:solidFill>
                  <a:srgbClr val="162943"/>
                </a:solidFill>
                <a:latin typeface="Arial"/>
                <a:ea typeface="Arial"/>
                <a:cs typeface="Arial"/>
              </a:rPr>
              <a:t>“How does account inquiry work?”</a:t>
            </a:r>
          </a:p>
        </p:txBody>
      </p:sp>
      <p:sp>
        <p:nvSpPr>
          <p:cNvPr id="11" name="question-example-sub">
            <a:extLst xmlns:a="http://schemas.openxmlformats.org/drawingml/2006/main">
              <a:ext uri="{FF2B5EF4-FFF2-40B4-BE49-F238E27FC236}">
                <a16:creationId xmlns:a16="http://schemas.microsoft.com/office/drawing/2014/main" id="{04D563DE-15D9-4E54-A7EF-D0692EAE13AD}"/>
              </a:ext>
            </a:extLst>
          </p:cNvPr>
          <p:cNvSpPr>
            <a:spLocks xmlns:a="http://schemas.openxmlformats.org/drawingml/2006/main" noGrp="1"/>
          </p:cNvSpPr>
          <p:nvPr/>
        </p:nvSpPr>
        <p:spPr>
          <a:xfrm xmlns:a="http://schemas.openxmlformats.org/drawingml/2006/main">
            <a:off x="895350" y="5800725"/>
            <a:ext cx="58293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Ask in natural language</a:t>
            </a:r>
          </a:p>
        </p:txBody>
      </p:sp>
      <p:sp>
        <p:nvSpPr>
          <p:cNvPr id="12" name="assistant-result">
            <a:extLst xmlns:a="http://schemas.openxmlformats.org/drawingml/2006/main">
              <a:ext uri="{FF2B5EF4-FFF2-40B4-BE49-F238E27FC236}">
                <a16:creationId xmlns:a16="http://schemas.microsoft.com/office/drawing/2014/main" id="{6CE356D1-FE3F-4447-B9D2-4611E95EBF50}"/>
              </a:ext>
            </a:extLst>
          </p:cNvPr>
          <p:cNvSpPr>
            <a:spLocks xmlns:a="http://schemas.openxmlformats.org/drawingml/2006/main" noGrp="1"/>
          </p:cNvSpPr>
          <p:nvPr/>
        </p:nvSpPr>
        <p:spPr>
          <a:xfrm xmlns:a="http://schemas.openxmlformats.org/drawingml/2006/main">
            <a:off x="685800" y="6753225"/>
            <a:ext cx="6248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3567E8"/>
                </a:solidFill>
                <a:latin typeface="Arial"/>
                <a:ea typeface="Arial"/>
                <a:cs typeface="Arial"/>
              </a:defRPr>
            </a:pPr>
            <a:r>
              <a:rPr sz="2025" b="1">
                <a:solidFill>
                  <a:srgbClr val="3567E8"/>
                </a:solidFill>
                <a:latin typeface="Arial"/>
                <a:ea typeface="Arial"/>
                <a:cs typeface="Arial"/>
              </a:rPr>
              <a:t>Explanation + code snippets + source files</a:t>
            </a:r>
          </a:p>
        </p:txBody>
      </p:sp>
      <p:cxnSp>
        <p:nvCxnSpPr>
          <p:cNvPr id="38" name=""/>
          <p:cNvCxnSpPr>
            <a:stCxn xmlns:a="http://schemas.openxmlformats.org/drawingml/2006/main" id="9" idx="2"/>
            <a:endCxn xmlns:a="http://schemas.openxmlformats.org/drawingml/2006/main" id="12" idx="0"/>
          </p:cNvCxnSpPr>
          <p:nvPr/>
        </p:nvCxnSpPr>
        <p:spPr>
          <a:xfrm xmlns:a="http://schemas.openxmlformats.org/drawingml/2006/main">
            <a:off x="3810000" y="6219825"/>
            <a:ext cx="0" cy="53340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14" name="anomaly-index">
            <a:extLst xmlns:a="http://schemas.openxmlformats.org/drawingml/2006/main">
              <a:ext uri="{FF2B5EF4-FFF2-40B4-BE49-F238E27FC236}">
                <a16:creationId xmlns:a16="http://schemas.microsoft.com/office/drawing/2014/main" id="{F21AF3EC-E91E-4CFE-939B-DF073D922D1F}"/>
              </a:ext>
            </a:extLst>
          </p:cNvPr>
          <p:cNvSpPr>
            <a:spLocks xmlns:a="http://schemas.openxmlformats.org/drawingml/2006/main" noGrp="1"/>
          </p:cNvSpPr>
          <p:nvPr/>
        </p:nvSpPr>
        <p:spPr>
          <a:xfrm xmlns:a="http://schemas.openxmlformats.org/drawingml/2006/main">
            <a:off x="8305800" y="2238375"/>
            <a:ext cx="1143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200" b="1">
                <a:solidFill>
                  <a:srgbClr val="B46B13"/>
                </a:solidFill>
                <a:latin typeface="Arial"/>
                <a:ea typeface="Arial"/>
                <a:cs typeface="Arial"/>
              </a:defRPr>
            </a:pPr>
            <a:r>
              <a:rPr sz="4200" b="1">
                <a:solidFill>
                  <a:srgbClr val="B46B13"/>
                </a:solidFill>
                <a:latin typeface="Arial"/>
                <a:ea typeface="Arial"/>
                <a:cs typeface="Arial"/>
              </a:rPr>
              <a:t>02</a:t>
            </a:r>
          </a:p>
        </p:txBody>
      </p:sp>
      <p:sp>
        <p:nvSpPr>
          <p:cNvPr id="15" name="anomaly-title">
            <a:extLst xmlns:a="http://schemas.openxmlformats.org/drawingml/2006/main">
              <a:ext uri="{FF2B5EF4-FFF2-40B4-BE49-F238E27FC236}">
                <a16:creationId xmlns:a16="http://schemas.microsoft.com/office/drawing/2014/main" id="{DADF6605-4CFF-4AD7-87C7-F25CAB833914}"/>
              </a:ext>
            </a:extLst>
          </p:cNvPr>
          <p:cNvSpPr>
            <a:spLocks xmlns:a="http://schemas.openxmlformats.org/drawingml/2006/main" noGrp="1"/>
          </p:cNvSpPr>
          <p:nvPr/>
        </p:nvSpPr>
        <p:spPr>
          <a:xfrm xmlns:a="http://schemas.openxmlformats.org/drawingml/2006/main">
            <a:off x="8305800" y="3028950"/>
            <a:ext cx="62484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225" b="1">
                <a:solidFill>
                  <a:srgbClr val="101E35"/>
                </a:solidFill>
                <a:latin typeface="Arial"/>
                <a:ea typeface="Arial"/>
                <a:cs typeface="Arial"/>
              </a:defRPr>
            </a:pPr>
            <a:r>
              <a:rPr sz="3225" b="1">
                <a:solidFill>
                  <a:srgbClr val="101E35"/>
                </a:solidFill>
                <a:latin typeface="Arial"/>
                <a:ea typeface="Arial"/>
                <a:cs typeface="Arial"/>
              </a:rPr>
              <a:t>Anomaly monitoring</a:t>
            </a:r>
          </a:p>
        </p:txBody>
      </p:sp>
      <p:sp>
        <p:nvSpPr>
          <p:cNvPr id="16" name="anomaly-value">
            <a:extLst xmlns:a="http://schemas.openxmlformats.org/drawingml/2006/main">
              <a:ext uri="{FF2B5EF4-FFF2-40B4-BE49-F238E27FC236}">
                <a16:creationId xmlns:a16="http://schemas.microsoft.com/office/drawing/2014/main" id="{D3377489-04EC-45D5-935E-E3E8F34AEFBB}"/>
              </a:ext>
            </a:extLst>
          </p:cNvPr>
          <p:cNvSpPr>
            <a:spLocks xmlns:a="http://schemas.openxmlformats.org/drawingml/2006/main" noGrp="1"/>
          </p:cNvSpPr>
          <p:nvPr/>
        </p:nvSpPr>
        <p:spPr>
          <a:xfrm xmlns:a="http://schemas.openxmlformats.org/drawingml/2006/main">
            <a:off x="8305800" y="3714750"/>
            <a:ext cx="624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62738A"/>
                </a:solidFill>
                <a:latin typeface="Arial"/>
                <a:ea typeface="Arial"/>
                <a:cs typeface="Arial"/>
              </a:defRPr>
            </a:pPr>
            <a:r>
              <a:rPr sz="2250" b="0">
                <a:solidFill>
                  <a:srgbClr val="62738A"/>
                </a:solidFill>
                <a:latin typeface="Arial"/>
                <a:ea typeface="Arial"/>
                <a:cs typeface="Arial"/>
              </a:rPr>
              <a:t>Detects unusual transactions</a:t>
            </a:r>
          </a:p>
          <a:p xmlns:a="http://schemas.openxmlformats.org/drawingml/2006/main">
            <a:pPr algn="l">
              <a:defRPr sz="2250" b="0">
                <a:solidFill>
                  <a:srgbClr val="62738A"/>
                </a:solidFill>
                <a:latin typeface="Arial"/>
                <a:ea typeface="Arial"/>
                <a:cs typeface="Arial"/>
              </a:defRPr>
            </a:pPr>
            <a:r>
              <a:rPr sz="2250" b="0">
                <a:solidFill>
                  <a:srgbClr val="62738A"/>
                </a:solidFill>
                <a:latin typeface="Arial"/>
                <a:ea typeface="Arial"/>
                <a:cs typeface="Arial"/>
              </a:rPr>
              <a:t>and prepares customer notifications</a:t>
            </a:r>
          </a:p>
        </p:txBody>
      </p:sp>
      <p:sp>
        <p:nvSpPr>
          <p:cNvPr id="17" name="incoming">
            <a:extLst xmlns:a="http://schemas.openxmlformats.org/drawingml/2006/main">
              <a:ext uri="{FF2B5EF4-FFF2-40B4-BE49-F238E27FC236}">
                <a16:creationId xmlns:a16="http://schemas.microsoft.com/office/drawing/2014/main" id="{CE1866F1-FA73-487E-B960-49C1D6F1E0A0}"/>
              </a:ext>
            </a:extLst>
          </p:cNvPr>
          <p:cNvSpPr>
            <a:spLocks xmlns:a="http://schemas.openxmlformats.org/drawingml/2006/main" noGrp="1"/>
          </p:cNvSpPr>
          <p:nvPr/>
        </p:nvSpPr>
        <p:spPr>
          <a:xfrm xmlns:a="http://schemas.openxmlformats.org/drawingml/2006/main">
            <a:off x="8305800" y="5076825"/>
            <a:ext cx="2886075" cy="1143000"/>
          </a:xfrm>
          <a:prstGeom xmlns:a="http://schemas.openxmlformats.org/drawingml/2006/main" prst="roundRect">
            <a:avLst>
              <a:gd name="adj" fmla="val 10000"/>
            </a:avLst>
          </a:prstGeom>
          <a:solidFill xmlns:a="http://schemas.openxmlformats.org/drawingml/2006/main">
            <a:srgbClr val="FFF2DF"/>
          </a:solidFill>
          <a:ln xmlns:a="http://schemas.openxmlformats.org/drawingml/2006/main" w="14288">
            <a:solidFill>
              <a:srgbClr val="FFF2DF"/>
            </a:solidFill>
            <a:prstDash val="solid"/>
          </a:ln>
        </p:spPr>
      </p:sp>
      <p:sp>
        <p:nvSpPr>
          <p:cNvPr id="18" name="incoming-name">
            <a:extLst xmlns:a="http://schemas.openxmlformats.org/drawingml/2006/main">
              <a:ext uri="{FF2B5EF4-FFF2-40B4-BE49-F238E27FC236}">
                <a16:creationId xmlns:a16="http://schemas.microsoft.com/office/drawing/2014/main" id="{A5D4DC36-DBE3-4649-B574-A18C9B2EB137}"/>
              </a:ext>
            </a:extLst>
          </p:cNvPr>
          <p:cNvSpPr>
            <a:spLocks xmlns:a="http://schemas.openxmlformats.org/drawingml/2006/main" noGrp="1"/>
          </p:cNvSpPr>
          <p:nvPr/>
        </p:nvSpPr>
        <p:spPr>
          <a:xfrm xmlns:a="http://schemas.openxmlformats.org/drawingml/2006/main">
            <a:off x="8515350" y="524827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Transaction activity</a:t>
            </a:r>
          </a:p>
        </p:txBody>
      </p:sp>
      <p:sp>
        <p:nvSpPr>
          <p:cNvPr id="19" name="incoming-sub">
            <a:extLst xmlns:a="http://schemas.openxmlformats.org/drawingml/2006/main">
              <a:ext uri="{FF2B5EF4-FFF2-40B4-BE49-F238E27FC236}">
                <a16:creationId xmlns:a16="http://schemas.microsoft.com/office/drawing/2014/main" id="{013E9851-34FE-475D-976B-B467038765B7}"/>
              </a:ext>
            </a:extLst>
          </p:cNvPr>
          <p:cNvSpPr>
            <a:spLocks xmlns:a="http://schemas.openxmlformats.org/drawingml/2006/main" noGrp="1"/>
          </p:cNvSpPr>
          <p:nvPr/>
        </p:nvSpPr>
        <p:spPr>
          <a:xfrm xmlns:a="http://schemas.openxmlformats.org/drawingml/2006/main">
            <a:off x="8515350" y="5800725"/>
            <a:ext cx="24669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Live simulation</a:t>
            </a:r>
          </a:p>
        </p:txBody>
      </p:sp>
      <p:sp>
        <p:nvSpPr>
          <p:cNvPr id="20" name="alert">
            <a:extLst xmlns:a="http://schemas.openxmlformats.org/drawingml/2006/main">
              <a:ext uri="{FF2B5EF4-FFF2-40B4-BE49-F238E27FC236}">
                <a16:creationId xmlns:a16="http://schemas.microsoft.com/office/drawing/2014/main" id="{CE9566DA-5C68-45C2-805C-59B2EC685C30}"/>
              </a:ext>
            </a:extLst>
          </p:cNvPr>
          <p:cNvSpPr>
            <a:spLocks xmlns:a="http://schemas.openxmlformats.org/drawingml/2006/main" noGrp="1"/>
          </p:cNvSpPr>
          <p:nvPr/>
        </p:nvSpPr>
        <p:spPr>
          <a:xfrm xmlns:a="http://schemas.openxmlformats.org/drawingml/2006/main">
            <a:off x="11668125" y="5076825"/>
            <a:ext cx="2886075" cy="1143000"/>
          </a:xfrm>
          <a:prstGeom xmlns:a="http://schemas.openxmlformats.org/drawingml/2006/main" prst="roundRect">
            <a:avLst>
              <a:gd name="adj" fmla="val 10000"/>
            </a:avLst>
          </a:prstGeom>
          <a:solidFill xmlns:a="http://schemas.openxmlformats.org/drawingml/2006/main">
            <a:srgbClr val="FFF2DF"/>
          </a:solidFill>
          <a:ln xmlns:a="http://schemas.openxmlformats.org/drawingml/2006/main" w="14288">
            <a:solidFill>
              <a:srgbClr val="FFF2DF"/>
            </a:solidFill>
            <a:prstDash val="solid"/>
          </a:ln>
        </p:spPr>
      </p:sp>
      <p:sp>
        <p:nvSpPr>
          <p:cNvPr id="21" name="alert-name">
            <a:extLst xmlns:a="http://schemas.openxmlformats.org/drawingml/2006/main">
              <a:ext uri="{FF2B5EF4-FFF2-40B4-BE49-F238E27FC236}">
                <a16:creationId xmlns:a16="http://schemas.microsoft.com/office/drawing/2014/main" id="{625802E5-E0FB-472A-9FF2-56C1F70A1A8E}"/>
              </a:ext>
            </a:extLst>
          </p:cNvPr>
          <p:cNvSpPr>
            <a:spLocks xmlns:a="http://schemas.openxmlformats.org/drawingml/2006/main" noGrp="1"/>
          </p:cNvSpPr>
          <p:nvPr/>
        </p:nvSpPr>
        <p:spPr>
          <a:xfrm xmlns:a="http://schemas.openxmlformats.org/drawingml/2006/main">
            <a:off x="11877675" y="524827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New anomaly</a:t>
            </a:r>
          </a:p>
        </p:txBody>
      </p:sp>
      <p:sp>
        <p:nvSpPr>
          <p:cNvPr id="22" name="alert-sub">
            <a:extLst xmlns:a="http://schemas.openxmlformats.org/drawingml/2006/main">
              <a:ext uri="{FF2B5EF4-FFF2-40B4-BE49-F238E27FC236}">
                <a16:creationId xmlns:a16="http://schemas.microsoft.com/office/drawing/2014/main" id="{3F9EBE96-296A-414E-AA4B-4DB087C975EC}"/>
              </a:ext>
            </a:extLst>
          </p:cNvPr>
          <p:cNvSpPr>
            <a:spLocks xmlns:a="http://schemas.openxmlformats.org/drawingml/2006/main" noGrp="1"/>
          </p:cNvSpPr>
          <p:nvPr/>
        </p:nvSpPr>
        <p:spPr>
          <a:xfrm xmlns:a="http://schemas.openxmlformats.org/drawingml/2006/main">
            <a:off x="11877675" y="5800725"/>
            <a:ext cx="24669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Alert recorded</a:t>
            </a:r>
          </a:p>
        </p:txBody>
      </p:sp>
      <p:cxnSp>
        <p:nvCxnSpPr>
          <p:cNvPr id="48" name=""/>
          <p:cNvCxnSpPr>
            <a:stCxn xmlns:a="http://schemas.openxmlformats.org/drawingml/2006/main" id="17" idx="3"/>
            <a:endCxn xmlns:a="http://schemas.openxmlformats.org/drawingml/2006/main" id="20" idx="1"/>
          </p:cNvCxnSpPr>
          <p:nvPr/>
        </p:nvCxnSpPr>
        <p:spPr>
          <a:xfrm xmlns:a="http://schemas.openxmlformats.org/drawingml/2006/main">
            <a:off x="11191875" y="5648325"/>
            <a:ext cx="476250" cy="0"/>
          </a:xfrm>
          <a:prstGeom xmlns:a="http://schemas.openxmlformats.org/drawingml/2006/main" prst="straightConnector1">
            <a:avLst/>
          </a:prstGeom>
          <a:ln xmlns:a="http://schemas.openxmlformats.org/drawingml/2006/main" w="28575">
            <a:solidFill>
              <a:srgbClr val="B46B13"/>
            </a:solidFill>
            <a:prstDash val="solid"/>
            <a:tailEnd type="triangle" w="sm" len="sm"/>
          </a:ln>
        </p:spPr>
      </p:cxnSp>
      <p:sp>
        <p:nvSpPr>
          <p:cNvPr id="24" name="monitor-result">
            <a:extLst xmlns:a="http://schemas.openxmlformats.org/drawingml/2006/main">
              <a:ext uri="{FF2B5EF4-FFF2-40B4-BE49-F238E27FC236}">
                <a16:creationId xmlns:a16="http://schemas.microsoft.com/office/drawing/2014/main" id="{38789FA0-7FB7-4CAB-B4E1-16A8BC02C888}"/>
              </a:ext>
            </a:extLst>
          </p:cNvPr>
          <p:cNvSpPr>
            <a:spLocks xmlns:a="http://schemas.openxmlformats.org/drawingml/2006/main" noGrp="1"/>
          </p:cNvSpPr>
          <p:nvPr/>
        </p:nvSpPr>
        <p:spPr>
          <a:xfrm xmlns:a="http://schemas.openxmlformats.org/drawingml/2006/main">
            <a:off x="8305800" y="6753225"/>
            <a:ext cx="6248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B46B13"/>
                </a:solidFill>
                <a:latin typeface="Arial"/>
                <a:ea typeface="Arial"/>
                <a:cs typeface="Arial"/>
              </a:defRPr>
            </a:pPr>
            <a:r>
              <a:rPr sz="2025" b="1">
                <a:solidFill>
                  <a:srgbClr val="B46B13"/>
                </a:solidFill>
                <a:latin typeface="Arial"/>
                <a:ea typeface="Arial"/>
                <a:cs typeface="Arial"/>
              </a:rPr>
              <a:t>Customer email captured in Mailpit</a:t>
            </a:r>
          </a:p>
        </p:txBody>
      </p:sp>
      <p:cxnSp>
        <p:nvCxnSpPr>
          <p:cNvPr id="50" name=""/>
          <p:cNvCxnSpPr>
            <a:stCxn xmlns:a="http://schemas.openxmlformats.org/drawingml/2006/main" id="20" idx="2"/>
            <a:endCxn xmlns:a="http://schemas.openxmlformats.org/drawingml/2006/main" id="24" idx="0"/>
          </p:cNvCxnSpPr>
          <p:nvPr/>
        </p:nvCxnSpPr>
        <p:spPr>
          <a:xfrm xmlns:a="http://schemas.openxmlformats.org/drawingml/2006/main" flipH="1">
            <a:off x="11430000" y="6219825"/>
            <a:ext cx="1681163" cy="533400"/>
          </a:xfrm>
          <a:prstGeom xmlns:a="http://schemas.openxmlformats.org/drawingml/2006/main" prst="bentConnector4">
            <a:avLst>
              <a:gd name="adj1" fmla="val 0"/>
              <a:gd name="adj2" fmla="val 50000"/>
            </a:avLst>
          </a:prstGeom>
          <a:ln xmlns:a="http://schemas.openxmlformats.org/drawingml/2006/main" w="28575">
            <a:solidFill>
              <a:srgbClr val="B46B13"/>
            </a:solidFill>
            <a:prstDash val="solid"/>
            <a:tailEnd type="triangle" w="sm" len="sm"/>
          </a:ln>
        </p:spPr>
      </p:cxnSp>
    </p:spTree>
    <p:extLst>
      <p:ext uri="{BB962C8B-B14F-4D97-AF65-F5344CB8AC3E}">
        <p14:creationId xmlns:p14="http://schemas.microsoft.com/office/powerpoint/2010/main" val="965305608"/>
      </p:ext>
    </p:extLst>
  </p:cSld>
</p:sld>
</file>

<file path=ppt/slides/slide3.xml><?xml version="1.0" encoding="utf-8"?>
<p:sld xmlns:p="http://schemas.openxmlformats.org/presentationml/2006/main">
  <p:cSld>
    <p:bg>
      <p:bgPr>
        <a:solidFill xmlns:a="http://schemas.openxmlformats.org/drawingml/2006/main">
          <a:srgbClr val="09172A"/>
        </a:solidFill>
      </p:bgPr>
    </p:bg>
    <p:spTree>
      <p:nvGrpSpPr>
        <p:cNvPr id="1" name=""/>
        <p:cNvGrpSpPr/>
        <p:nvPr/>
      </p:nvGrpSpPr>
      <p:grpSpPr>
        <a:xfrm xmlns:a="http://schemas.openxmlformats.org/drawingml/2006/main"/>
      </p:grpSpPr>
      <p:sp>
        <p:nvSpPr>
          <p:cNvPr id="61" name="title">
            <a:extLst xmlns:a="http://schemas.openxmlformats.org/drawingml/2006/main">
              <a:ext uri="{FF2B5EF4-FFF2-40B4-BE49-F238E27FC236}">
                <a16:creationId xmlns:a16="http://schemas.microsoft.com/office/drawing/2014/main" id="{51B3CDD0-AF1E-4A07-B205-541AA566A285}"/>
              </a:ext>
            </a:extLst>
          </p:cNvPr>
          <p:cNvSpPr>
            <a:spLocks xmlns:a="http://schemas.openxmlformats.org/drawingml/2006/main" noGrp="1"/>
          </p:cNvSpPr>
          <p:nvPr/>
        </p:nvSpPr>
        <p:spPr>
          <a:xfrm xmlns:a="http://schemas.openxmlformats.org/drawingml/2006/main">
            <a:off x="685800" y="495300"/>
            <a:ext cx="1386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RAG indexing: code becomes searchable vectors</a:t>
            </a:r>
          </a:p>
        </p:txBody>
      </p:sp>
      <p:sp>
        <p:nvSpPr>
          <p:cNvPr id="2" name="subtitle">
            <a:extLst xmlns:a="http://schemas.openxmlformats.org/drawingml/2006/main">
              <a:ext uri="{FF2B5EF4-FFF2-40B4-BE49-F238E27FC236}">
                <a16:creationId xmlns:a16="http://schemas.microsoft.com/office/drawing/2014/main" id="{393D9040-024F-4705-9D07-48DC2CA5968D}"/>
              </a:ext>
            </a:extLst>
          </p:cNvPr>
          <p:cNvSpPr>
            <a:spLocks xmlns:a="http://schemas.openxmlformats.org/drawingml/2006/main" noGrp="1"/>
          </p:cNvSpPr>
          <p:nvPr/>
        </p:nvSpPr>
        <p:spPr>
          <a:xfrm xmlns:a="http://schemas.openxmlformats.org/drawingml/2006/main">
            <a:off x="704850" y="136207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AEBFD6"/>
                </a:solidFill>
                <a:latin typeface="Arial"/>
                <a:ea typeface="Arial"/>
                <a:cs typeface="Arial"/>
              </a:defRPr>
            </a:pPr>
            <a:r>
              <a:rPr sz="2025" b="0">
                <a:solidFill>
                  <a:srgbClr val="AEBFD6"/>
                </a:solidFill>
                <a:latin typeface="Arial"/>
                <a:ea typeface="Arial"/>
                <a:cs typeface="Arial"/>
              </a:rPr>
              <a:t>Retrieval-augmented generation (RAG) starts with the codebase</a:t>
            </a:r>
          </a:p>
        </p:txBody>
      </p:sp>
      <p:sp>
        <p:nvSpPr>
          <p:cNvPr id="3" name="footer">
            <a:extLst xmlns:a="http://schemas.openxmlformats.org/drawingml/2006/main">
              <a:ext uri="{FF2B5EF4-FFF2-40B4-BE49-F238E27FC236}">
                <a16:creationId xmlns:a16="http://schemas.microsoft.com/office/drawing/2014/main" id="{6B16A5EE-9A35-4A51-A48A-0F46FBAF4EC4}"/>
              </a:ext>
            </a:extLst>
          </p:cNvPr>
          <p:cNvSpPr>
            <a:spLocks xmlns:a="http://schemas.openxmlformats.org/drawingml/2006/main" noGrp="1"/>
          </p:cNvSpPr>
          <p:nvPr/>
        </p:nvSpPr>
        <p:spPr>
          <a:xfrm xmlns:a="http://schemas.openxmlformats.org/drawingml/2006/main">
            <a:off x="704850" y="81057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AEBFD6"/>
                </a:solidFill>
                <a:latin typeface="Arial"/>
                <a:ea typeface="Arial"/>
                <a:cs typeface="Arial"/>
              </a:defRPr>
            </a:pPr>
            <a:r>
              <a:rPr sz="1275" b="0">
                <a:solidFill>
                  <a:srgbClr val="AEBFD6"/>
                </a:solidFill>
                <a:latin typeface="Arial"/>
                <a:ea typeface="Arial"/>
                <a:cs typeface="Arial"/>
              </a:rPr>
              <a:t>BANK OF Z  /  MAINFRAME MODERNIZATION</a:t>
            </a:r>
          </a:p>
        </p:txBody>
      </p:sp>
      <p:sp>
        <p:nvSpPr>
          <p:cNvPr id="4" name="page">
            <a:extLst xmlns:a="http://schemas.openxmlformats.org/drawingml/2006/main">
              <a:ext uri="{FF2B5EF4-FFF2-40B4-BE49-F238E27FC236}">
                <a16:creationId xmlns:a16="http://schemas.microsoft.com/office/drawing/2014/main" id="{1336469D-2D78-4938-A611-2EA86815B361}"/>
              </a:ext>
            </a:extLst>
          </p:cNvPr>
          <p:cNvSpPr>
            <a:spLocks xmlns:a="http://schemas.openxmlformats.org/drawingml/2006/main" noGrp="1"/>
          </p:cNvSpPr>
          <p:nvPr/>
        </p:nvSpPr>
        <p:spPr>
          <a:xfrm xmlns:a="http://schemas.openxmlformats.org/drawingml/2006/main">
            <a:off x="13811250" y="804862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AEBFD6"/>
                </a:solidFill>
                <a:latin typeface="Arial"/>
                <a:ea typeface="Arial"/>
                <a:cs typeface="Arial"/>
              </a:defRPr>
            </a:pPr>
            <a:r>
              <a:rPr sz="1650" b="0">
                <a:solidFill>
                  <a:srgbClr val="AEBFD6"/>
                </a:solidFill>
                <a:latin typeface="Arial"/>
                <a:ea typeface="Arial"/>
                <a:cs typeface="Arial"/>
              </a:rPr>
              <a:t>03</a:t>
            </a:r>
          </a:p>
        </p:txBody>
      </p:sp>
      <p:sp>
        <p:nvSpPr>
          <p:cNvPr id="5" name="source-step-number">
            <a:extLst xmlns:a="http://schemas.openxmlformats.org/drawingml/2006/main">
              <a:ext uri="{FF2B5EF4-FFF2-40B4-BE49-F238E27FC236}">
                <a16:creationId xmlns:a16="http://schemas.microsoft.com/office/drawing/2014/main" id="{AE7F2163-395C-4C8C-A535-5ACA7A982F4D}"/>
              </a:ext>
            </a:extLst>
          </p:cNvPr>
          <p:cNvSpPr>
            <a:spLocks xmlns:a="http://schemas.openxmlformats.org/drawingml/2006/main" noGrp="1"/>
          </p:cNvSpPr>
          <p:nvPr/>
        </p:nvSpPr>
        <p:spPr>
          <a:xfrm xmlns:a="http://schemas.openxmlformats.org/drawingml/2006/main">
            <a:off x="685800" y="2133600"/>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54D8DC"/>
                </a:solidFill>
                <a:latin typeface="Arial"/>
                <a:ea typeface="Arial"/>
                <a:cs typeface="Arial"/>
              </a:defRPr>
            </a:pPr>
            <a:r>
              <a:rPr sz="1575" b="1">
                <a:solidFill>
                  <a:srgbClr val="54D8DC"/>
                </a:solidFill>
                <a:latin typeface="Arial"/>
                <a:ea typeface="Arial"/>
                <a:cs typeface="Arial"/>
              </a:rPr>
              <a:t>01</a:t>
            </a:r>
          </a:p>
        </p:txBody>
      </p:sp>
      <p:sp>
        <p:nvSpPr>
          <p:cNvPr id="6" name="source-step-title">
            <a:extLst xmlns:a="http://schemas.openxmlformats.org/drawingml/2006/main">
              <a:ext uri="{FF2B5EF4-FFF2-40B4-BE49-F238E27FC236}">
                <a16:creationId xmlns:a16="http://schemas.microsoft.com/office/drawing/2014/main" id="{2083B6EB-12FA-4DDA-8410-7503B1F09BA1}"/>
              </a:ext>
            </a:extLst>
          </p:cNvPr>
          <p:cNvSpPr>
            <a:spLocks xmlns:a="http://schemas.openxmlformats.org/drawingml/2006/main" noGrp="1"/>
          </p:cNvSpPr>
          <p:nvPr/>
        </p:nvSpPr>
        <p:spPr>
          <a:xfrm xmlns:a="http://schemas.openxmlformats.org/drawingml/2006/main">
            <a:off x="685800" y="2590800"/>
            <a:ext cx="257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Source code</a:t>
            </a:r>
          </a:p>
        </p:txBody>
      </p:sp>
      <p:sp>
        <p:nvSpPr>
          <p:cNvPr id="7" name="source-step-caption">
            <a:extLst xmlns:a="http://schemas.openxmlformats.org/drawingml/2006/main">
              <a:ext uri="{FF2B5EF4-FFF2-40B4-BE49-F238E27FC236}">
                <a16:creationId xmlns:a16="http://schemas.microsoft.com/office/drawing/2014/main" id="{B560FCA6-35B9-46CF-A682-E6351363D25C}"/>
              </a:ext>
            </a:extLst>
          </p:cNvPr>
          <p:cNvSpPr>
            <a:spLocks xmlns:a="http://schemas.openxmlformats.org/drawingml/2006/main" noGrp="1"/>
          </p:cNvSpPr>
          <p:nvPr/>
        </p:nvSpPr>
        <p:spPr>
          <a:xfrm xmlns:a="http://schemas.openxmlformats.org/drawingml/2006/main">
            <a:off x="685800" y="30670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React frontend</a:t>
            </a:r>
          </a:p>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Spring Boot backend</a:t>
            </a:r>
          </a:p>
        </p:txBody>
      </p:sp>
      <p:sp>
        <p:nvSpPr>
          <p:cNvPr id="8" name="chunk-step-number">
            <a:extLst xmlns:a="http://schemas.openxmlformats.org/drawingml/2006/main">
              <a:ext uri="{FF2B5EF4-FFF2-40B4-BE49-F238E27FC236}">
                <a16:creationId xmlns:a16="http://schemas.microsoft.com/office/drawing/2014/main" id="{A1BAE5B9-3C7E-41F5-8697-1A113E14C1B6}"/>
              </a:ext>
            </a:extLst>
          </p:cNvPr>
          <p:cNvSpPr>
            <a:spLocks xmlns:a="http://schemas.openxmlformats.org/drawingml/2006/main" noGrp="1"/>
          </p:cNvSpPr>
          <p:nvPr/>
        </p:nvSpPr>
        <p:spPr>
          <a:xfrm xmlns:a="http://schemas.openxmlformats.org/drawingml/2006/main">
            <a:off x="3800475" y="2133600"/>
            <a:ext cx="3286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54D8DC"/>
                </a:solidFill>
                <a:latin typeface="Arial"/>
                <a:ea typeface="Arial"/>
                <a:cs typeface="Arial"/>
              </a:defRPr>
            </a:pPr>
            <a:r>
              <a:rPr sz="1575" b="1">
                <a:solidFill>
                  <a:srgbClr val="54D8DC"/>
                </a:solidFill>
                <a:latin typeface="Arial"/>
                <a:ea typeface="Arial"/>
                <a:cs typeface="Arial"/>
              </a:rPr>
              <a:t>02</a:t>
            </a:r>
          </a:p>
        </p:txBody>
      </p:sp>
      <p:sp>
        <p:nvSpPr>
          <p:cNvPr id="9" name="chunk-step-title">
            <a:extLst xmlns:a="http://schemas.openxmlformats.org/drawingml/2006/main">
              <a:ext uri="{FF2B5EF4-FFF2-40B4-BE49-F238E27FC236}">
                <a16:creationId xmlns:a16="http://schemas.microsoft.com/office/drawing/2014/main" id="{09E29C34-73FB-4801-B8E2-F17CBDD89161}"/>
              </a:ext>
            </a:extLst>
          </p:cNvPr>
          <p:cNvSpPr>
            <a:spLocks xmlns:a="http://schemas.openxmlformats.org/drawingml/2006/main" noGrp="1"/>
          </p:cNvSpPr>
          <p:nvPr/>
        </p:nvSpPr>
        <p:spPr>
          <a:xfrm xmlns:a="http://schemas.openxmlformats.org/drawingml/2006/main">
            <a:off x="3800475" y="259080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Chunk + enrich</a:t>
            </a:r>
          </a:p>
        </p:txBody>
      </p:sp>
      <p:sp>
        <p:nvSpPr>
          <p:cNvPr id="10" name="chunk-step-caption">
            <a:extLst xmlns:a="http://schemas.openxmlformats.org/drawingml/2006/main">
              <a:ext uri="{FF2B5EF4-FFF2-40B4-BE49-F238E27FC236}">
                <a16:creationId xmlns:a16="http://schemas.microsoft.com/office/drawing/2014/main" id="{5604340F-3C83-4C4C-AC4E-822279DF64A2}"/>
              </a:ext>
            </a:extLst>
          </p:cNvPr>
          <p:cNvSpPr>
            <a:spLocks xmlns:a="http://schemas.openxmlformats.org/drawingml/2006/main" noGrp="1"/>
          </p:cNvSpPr>
          <p:nvPr/>
        </p:nvSpPr>
        <p:spPr>
          <a:xfrm xmlns:a="http://schemas.openxmlformats.org/drawingml/2006/main">
            <a:off x="3800475" y="3067050"/>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Tree-sitter parses code</a:t>
            </a:r>
          </a:p>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Groq adds summaries</a:t>
            </a:r>
          </a:p>
        </p:txBody>
      </p:sp>
      <p:sp>
        <p:nvSpPr>
          <p:cNvPr id="11" name="embed-step-number">
            <a:extLst xmlns:a="http://schemas.openxmlformats.org/drawingml/2006/main">
              <a:ext uri="{FF2B5EF4-FFF2-40B4-BE49-F238E27FC236}">
                <a16:creationId xmlns:a16="http://schemas.microsoft.com/office/drawing/2014/main" id="{7EC42D58-B187-4D9A-BFAF-4C917FAE2310}"/>
              </a:ext>
            </a:extLst>
          </p:cNvPr>
          <p:cNvSpPr>
            <a:spLocks xmlns:a="http://schemas.openxmlformats.org/drawingml/2006/main" noGrp="1"/>
          </p:cNvSpPr>
          <p:nvPr/>
        </p:nvSpPr>
        <p:spPr>
          <a:xfrm xmlns:a="http://schemas.openxmlformats.org/drawingml/2006/main">
            <a:off x="8162925" y="21336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54D8DC"/>
                </a:solidFill>
                <a:latin typeface="Arial"/>
                <a:ea typeface="Arial"/>
                <a:cs typeface="Arial"/>
              </a:defRPr>
            </a:pPr>
            <a:r>
              <a:rPr sz="1575" b="1">
                <a:solidFill>
                  <a:srgbClr val="54D8DC"/>
                </a:solidFill>
                <a:latin typeface="Arial"/>
                <a:ea typeface="Arial"/>
                <a:cs typeface="Arial"/>
              </a:rPr>
              <a:t>03</a:t>
            </a:r>
          </a:p>
        </p:txBody>
      </p:sp>
      <p:sp>
        <p:nvSpPr>
          <p:cNvPr id="12" name="embed-step-title">
            <a:extLst xmlns:a="http://schemas.openxmlformats.org/drawingml/2006/main">
              <a:ext uri="{FF2B5EF4-FFF2-40B4-BE49-F238E27FC236}">
                <a16:creationId xmlns:a16="http://schemas.microsoft.com/office/drawing/2014/main" id="{84057680-3CCA-4A08-B5E5-DC923C65BC63}"/>
              </a:ext>
            </a:extLst>
          </p:cNvPr>
          <p:cNvSpPr>
            <a:spLocks xmlns:a="http://schemas.openxmlformats.org/drawingml/2006/main" noGrp="1"/>
          </p:cNvSpPr>
          <p:nvPr/>
        </p:nvSpPr>
        <p:spPr>
          <a:xfrm xmlns:a="http://schemas.openxmlformats.org/drawingml/2006/main">
            <a:off x="8162925" y="259080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Create embeddings</a:t>
            </a:r>
          </a:p>
        </p:txBody>
      </p:sp>
      <p:sp>
        <p:nvSpPr>
          <p:cNvPr id="13" name="embed-step-caption">
            <a:extLst xmlns:a="http://schemas.openxmlformats.org/drawingml/2006/main">
              <a:ext uri="{FF2B5EF4-FFF2-40B4-BE49-F238E27FC236}">
                <a16:creationId xmlns:a16="http://schemas.microsoft.com/office/drawing/2014/main" id="{536CC72E-CE3A-45FC-B5A9-ED9A296B7CFA}"/>
              </a:ext>
            </a:extLst>
          </p:cNvPr>
          <p:cNvSpPr>
            <a:spLocks xmlns:a="http://schemas.openxmlformats.org/drawingml/2006/main" noGrp="1"/>
          </p:cNvSpPr>
          <p:nvPr/>
        </p:nvSpPr>
        <p:spPr>
          <a:xfrm xmlns:a="http://schemas.openxmlformats.org/drawingml/2006/main">
            <a:off x="8162925" y="3067050"/>
            <a:ext cx="285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Code meaning</a:t>
            </a:r>
          </a:p>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represented as numbers</a:t>
            </a:r>
          </a:p>
        </p:txBody>
      </p:sp>
      <p:sp>
        <p:nvSpPr>
          <p:cNvPr id="14" name="store-step-number">
            <a:extLst xmlns:a="http://schemas.openxmlformats.org/drawingml/2006/main">
              <a:ext uri="{FF2B5EF4-FFF2-40B4-BE49-F238E27FC236}">
                <a16:creationId xmlns:a16="http://schemas.microsoft.com/office/drawing/2014/main" id="{47D7F55A-C413-45D6-8765-FCA847453140}"/>
              </a:ext>
            </a:extLst>
          </p:cNvPr>
          <p:cNvSpPr>
            <a:spLocks xmlns:a="http://schemas.openxmlformats.org/drawingml/2006/main" noGrp="1"/>
          </p:cNvSpPr>
          <p:nvPr/>
        </p:nvSpPr>
        <p:spPr>
          <a:xfrm xmlns:a="http://schemas.openxmlformats.org/drawingml/2006/main">
            <a:off x="12096750" y="2133600"/>
            <a:ext cx="24574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54D8DC"/>
                </a:solidFill>
                <a:latin typeface="Arial"/>
                <a:ea typeface="Arial"/>
                <a:cs typeface="Arial"/>
              </a:defRPr>
            </a:pPr>
            <a:r>
              <a:rPr sz="1575" b="1">
                <a:solidFill>
                  <a:srgbClr val="54D8DC"/>
                </a:solidFill>
                <a:latin typeface="Arial"/>
                <a:ea typeface="Arial"/>
                <a:cs typeface="Arial"/>
              </a:rPr>
              <a:t>04</a:t>
            </a:r>
          </a:p>
        </p:txBody>
      </p:sp>
      <p:sp>
        <p:nvSpPr>
          <p:cNvPr id="15" name="store-step-title">
            <a:extLst xmlns:a="http://schemas.openxmlformats.org/drawingml/2006/main">
              <a:ext uri="{FF2B5EF4-FFF2-40B4-BE49-F238E27FC236}">
                <a16:creationId xmlns:a16="http://schemas.microsoft.com/office/drawing/2014/main" id="{C4FCF0BC-931F-4815-9A14-CE2CED42B48D}"/>
              </a:ext>
            </a:extLst>
          </p:cNvPr>
          <p:cNvSpPr>
            <a:spLocks xmlns:a="http://schemas.openxmlformats.org/drawingml/2006/main" noGrp="1"/>
          </p:cNvSpPr>
          <p:nvPr/>
        </p:nvSpPr>
        <p:spPr>
          <a:xfrm xmlns:a="http://schemas.openxmlformats.org/drawingml/2006/main">
            <a:off x="12096750" y="2590800"/>
            <a:ext cx="2457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Store in LanceDB</a:t>
            </a:r>
          </a:p>
        </p:txBody>
      </p:sp>
      <p:sp>
        <p:nvSpPr>
          <p:cNvPr id="16" name="store-step-caption">
            <a:extLst xmlns:a="http://schemas.openxmlformats.org/drawingml/2006/main">
              <a:ext uri="{FF2B5EF4-FFF2-40B4-BE49-F238E27FC236}">
                <a16:creationId xmlns:a16="http://schemas.microsoft.com/office/drawing/2014/main" id="{43FD4E76-A066-4720-A040-6639A2FEA00E}"/>
              </a:ext>
            </a:extLst>
          </p:cNvPr>
          <p:cNvSpPr>
            <a:spLocks xmlns:a="http://schemas.openxmlformats.org/drawingml/2006/main" noGrp="1"/>
          </p:cNvSpPr>
          <p:nvPr/>
        </p:nvSpPr>
        <p:spPr>
          <a:xfrm xmlns:a="http://schemas.openxmlformats.org/drawingml/2006/main">
            <a:off x="12096750" y="3067050"/>
            <a:ext cx="2457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Vectors, code and</a:t>
            </a:r>
          </a:p>
          <a:p xmlns:a="http://schemas.openxmlformats.org/drawingml/2006/main">
            <a:pPr algn="l">
              <a:defRPr sz="1800" b="0">
                <a:solidFill>
                  <a:srgbClr val="AEBFD6"/>
                </a:solidFill>
                <a:latin typeface="Arial"/>
                <a:ea typeface="Arial"/>
                <a:cs typeface="Arial"/>
              </a:defRPr>
            </a:pPr>
            <a:r>
              <a:rPr sz="1800" b="0">
                <a:solidFill>
                  <a:srgbClr val="AEBFD6"/>
                </a:solidFill>
                <a:latin typeface="Arial"/>
                <a:ea typeface="Arial"/>
                <a:cs typeface="Arial"/>
              </a:rPr>
              <a:t>source references</a:t>
            </a:r>
          </a:p>
        </p:txBody>
      </p:sp>
      <p:sp>
        <p:nvSpPr>
          <p:cNvPr id="17" name="source">
            <a:extLst xmlns:a="http://schemas.openxmlformats.org/drawingml/2006/main">
              <a:ext uri="{FF2B5EF4-FFF2-40B4-BE49-F238E27FC236}">
                <a16:creationId xmlns:a16="http://schemas.microsoft.com/office/drawing/2014/main" id="{B22AE19C-B461-44BC-B1F3-DE0D2B0EC42D}"/>
              </a:ext>
            </a:extLst>
          </p:cNvPr>
          <p:cNvSpPr>
            <a:spLocks xmlns:a="http://schemas.openxmlformats.org/drawingml/2006/main" noGrp="1"/>
          </p:cNvSpPr>
          <p:nvPr/>
        </p:nvSpPr>
        <p:spPr>
          <a:xfrm xmlns:a="http://schemas.openxmlformats.org/drawingml/2006/main">
            <a:off x="752475" y="4352925"/>
            <a:ext cx="2247900" cy="1866900"/>
          </a:xfrm>
          <a:prstGeom xmlns:a="http://schemas.openxmlformats.org/drawingml/2006/main" prst="foldedCorner">
            <a:avLst/>
          </a:prstGeom>
          <a:solidFill xmlns:a="http://schemas.openxmlformats.org/drawingml/2006/main">
            <a:srgbClr val="1A304D"/>
          </a:solidFill>
          <a:ln xmlns:a="http://schemas.openxmlformats.org/drawingml/2006/main" w="14288">
            <a:solidFill>
              <a:srgbClr val="385276"/>
            </a:solidFill>
            <a:prstDash val="solid"/>
          </a:ln>
        </p:spPr>
      </p:sp>
      <p:sp>
        <p:nvSpPr>
          <p:cNvPr id="18" name="source-frontend">
            <a:extLst xmlns:a="http://schemas.openxmlformats.org/drawingml/2006/main">
              <a:ext uri="{FF2B5EF4-FFF2-40B4-BE49-F238E27FC236}">
                <a16:creationId xmlns:a16="http://schemas.microsoft.com/office/drawing/2014/main" id="{29C07975-85DF-478E-ACD1-13A68C5314C5}"/>
              </a:ext>
            </a:extLst>
          </p:cNvPr>
          <p:cNvSpPr>
            <a:spLocks xmlns:a="http://schemas.openxmlformats.org/drawingml/2006/main" noGrp="1"/>
          </p:cNvSpPr>
          <p:nvPr/>
        </p:nvSpPr>
        <p:spPr>
          <a:xfrm xmlns:a="http://schemas.openxmlformats.org/drawingml/2006/main">
            <a:off x="952500" y="457200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Frontend</a:t>
            </a:r>
          </a:p>
        </p:txBody>
      </p:sp>
      <p:sp>
        <p:nvSpPr>
          <p:cNvPr id="19" name="source-backend">
            <a:extLst xmlns:a="http://schemas.openxmlformats.org/drawingml/2006/main">
              <a:ext uri="{FF2B5EF4-FFF2-40B4-BE49-F238E27FC236}">
                <a16:creationId xmlns:a16="http://schemas.microsoft.com/office/drawing/2014/main" id="{60005775-A310-4794-B238-AAEA0B8787AA}"/>
              </a:ext>
            </a:extLst>
          </p:cNvPr>
          <p:cNvSpPr>
            <a:spLocks xmlns:a="http://schemas.openxmlformats.org/drawingml/2006/main" noGrp="1"/>
          </p:cNvSpPr>
          <p:nvPr/>
        </p:nvSpPr>
        <p:spPr>
          <a:xfrm xmlns:a="http://schemas.openxmlformats.org/drawingml/2006/main">
            <a:off x="952500" y="5353050"/>
            <a:ext cx="1790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Backend</a:t>
            </a:r>
          </a:p>
        </p:txBody>
      </p:sp>
      <p:sp>
        <p:nvSpPr>
          <p:cNvPr id="20" name="source-divider">
            <a:extLst xmlns:a="http://schemas.openxmlformats.org/drawingml/2006/main">
              <a:ext uri="{FF2B5EF4-FFF2-40B4-BE49-F238E27FC236}">
                <a16:creationId xmlns:a16="http://schemas.microsoft.com/office/drawing/2014/main" id="{F649A715-B8EF-42D6-98FC-F7DA67D4F739}"/>
              </a:ext>
            </a:extLst>
          </p:cNvPr>
          <p:cNvSpPr>
            <a:spLocks xmlns:a="http://schemas.openxmlformats.org/drawingml/2006/main" noGrp="1"/>
          </p:cNvSpPr>
          <p:nvPr/>
        </p:nvSpPr>
        <p:spPr>
          <a:xfrm xmlns:a="http://schemas.openxmlformats.org/drawingml/2006/main">
            <a:off x="942975" y="5200650"/>
            <a:ext cx="1581150" cy="0"/>
          </a:xfrm>
          <a:prstGeom xmlns:a="http://schemas.openxmlformats.org/drawingml/2006/main" prst="line">
            <a:avLst/>
          </a:prstGeom>
          <a:noFill xmlns:a="http://schemas.openxmlformats.org/drawingml/2006/main"/>
          <a:ln xmlns:a="http://schemas.openxmlformats.org/drawingml/2006/main" w="11430">
            <a:solidFill>
              <a:srgbClr val="49607C"/>
            </a:solidFill>
            <a:prstDash val="solid"/>
          </a:ln>
        </p:spPr>
      </p:sp>
      <p:sp>
        <p:nvSpPr>
          <p:cNvPr id="21" name="chunk-back">
            <a:extLst xmlns:a="http://schemas.openxmlformats.org/drawingml/2006/main">
              <a:ext uri="{FF2B5EF4-FFF2-40B4-BE49-F238E27FC236}">
                <a16:creationId xmlns:a16="http://schemas.microsoft.com/office/drawing/2014/main" id="{5C78927E-C063-4392-ABF0-F166F1C90762}"/>
              </a:ext>
            </a:extLst>
          </p:cNvPr>
          <p:cNvSpPr>
            <a:spLocks xmlns:a="http://schemas.openxmlformats.org/drawingml/2006/main" noGrp="1"/>
          </p:cNvSpPr>
          <p:nvPr/>
        </p:nvSpPr>
        <p:spPr>
          <a:xfrm xmlns:a="http://schemas.openxmlformats.org/drawingml/2006/main">
            <a:off x="4114800" y="4181475"/>
            <a:ext cx="2695575" cy="476250"/>
          </a:xfrm>
          <a:prstGeom xmlns:a="http://schemas.openxmlformats.org/drawingml/2006/main" prst="roundRect">
            <a:avLst>
              <a:gd name="adj" fmla="val 16000"/>
            </a:avLst>
          </a:prstGeom>
          <a:solidFill xmlns:a="http://schemas.openxmlformats.org/drawingml/2006/main">
            <a:srgbClr val="15273F"/>
          </a:solidFill>
          <a:ln xmlns:a="http://schemas.openxmlformats.org/drawingml/2006/main" w="11430">
            <a:solidFill>
              <a:srgbClr val="3F587C"/>
            </a:solidFill>
            <a:prstDash val="solid"/>
          </a:ln>
        </p:spPr>
      </p:sp>
      <p:sp>
        <p:nvSpPr>
          <p:cNvPr id="22" name="chunk-one">
            <a:extLst xmlns:a="http://schemas.openxmlformats.org/drawingml/2006/main">
              <a:ext uri="{FF2B5EF4-FFF2-40B4-BE49-F238E27FC236}">
                <a16:creationId xmlns:a16="http://schemas.microsoft.com/office/drawing/2014/main" id="{218843F5-480F-4972-9059-1E0DCD053B70}"/>
              </a:ext>
            </a:extLst>
          </p:cNvPr>
          <p:cNvSpPr>
            <a:spLocks xmlns:a="http://schemas.openxmlformats.org/drawingml/2006/main" noGrp="1"/>
          </p:cNvSpPr>
          <p:nvPr/>
        </p:nvSpPr>
        <p:spPr>
          <a:xfrm xmlns:a="http://schemas.openxmlformats.org/drawingml/2006/main">
            <a:off x="3990975" y="4419600"/>
            <a:ext cx="2857500" cy="514350"/>
          </a:xfrm>
          <a:prstGeom xmlns:a="http://schemas.openxmlformats.org/drawingml/2006/main" prst="roundRect">
            <a:avLst>
              <a:gd name="adj" fmla="val 14815"/>
            </a:avLst>
          </a:prstGeom>
          <a:solidFill xmlns:a="http://schemas.openxmlformats.org/drawingml/2006/main">
            <a:srgbClr val="1B3250"/>
          </a:solidFill>
          <a:ln xmlns:a="http://schemas.openxmlformats.org/drawingml/2006/main" w="11430">
            <a:solidFill>
              <a:srgbClr val="506A8F"/>
            </a:solidFill>
            <a:prstDash val="solid"/>
          </a:ln>
        </p:spPr>
      </p:sp>
      <p:sp>
        <p:nvSpPr>
          <p:cNvPr id="23" name="chunk-two">
            <a:extLst xmlns:a="http://schemas.openxmlformats.org/drawingml/2006/main">
              <a:ext uri="{FF2B5EF4-FFF2-40B4-BE49-F238E27FC236}">
                <a16:creationId xmlns:a16="http://schemas.microsoft.com/office/drawing/2014/main" id="{A3B89826-D2C8-4FA1-ABDF-119D14B47B99}"/>
              </a:ext>
            </a:extLst>
          </p:cNvPr>
          <p:cNvSpPr>
            <a:spLocks xmlns:a="http://schemas.openxmlformats.org/drawingml/2006/main" noGrp="1"/>
          </p:cNvSpPr>
          <p:nvPr/>
        </p:nvSpPr>
        <p:spPr>
          <a:xfrm xmlns:a="http://schemas.openxmlformats.org/drawingml/2006/main">
            <a:off x="3876675" y="4695825"/>
            <a:ext cx="3057525" cy="600075"/>
          </a:xfrm>
          <a:prstGeom xmlns:a="http://schemas.openxmlformats.org/drawingml/2006/main" prst="roundRect">
            <a:avLst>
              <a:gd name="adj" fmla="val 12698"/>
            </a:avLst>
          </a:prstGeom>
          <a:solidFill xmlns:a="http://schemas.openxmlformats.org/drawingml/2006/main">
            <a:srgbClr val="223F60"/>
          </a:solidFill>
          <a:ln xmlns:a="http://schemas.openxmlformats.org/drawingml/2006/main" w="11430">
            <a:solidFill>
              <a:srgbClr val="5F7EA6"/>
            </a:solidFill>
            <a:prstDash val="solid"/>
          </a:ln>
        </p:spPr>
      </p:sp>
      <p:sp>
        <p:nvSpPr>
          <p:cNvPr id="24" name="chunk-front">
            <a:extLst xmlns:a="http://schemas.openxmlformats.org/drawingml/2006/main">
              <a:ext uri="{FF2B5EF4-FFF2-40B4-BE49-F238E27FC236}">
                <a16:creationId xmlns:a16="http://schemas.microsoft.com/office/drawing/2014/main" id="{351C1DF2-387A-4F6E-9BA1-F7FD6B996985}"/>
              </a:ext>
            </a:extLst>
          </p:cNvPr>
          <p:cNvSpPr>
            <a:spLocks xmlns:a="http://schemas.openxmlformats.org/drawingml/2006/main" noGrp="1"/>
          </p:cNvSpPr>
          <p:nvPr/>
        </p:nvSpPr>
        <p:spPr>
          <a:xfrm xmlns:a="http://schemas.openxmlformats.org/drawingml/2006/main">
            <a:off x="3781425" y="5057775"/>
            <a:ext cx="3286125" cy="1152525"/>
          </a:xfrm>
          <a:prstGeom xmlns:a="http://schemas.openxmlformats.org/drawingml/2006/main" prst="roundRect">
            <a:avLst>
              <a:gd name="adj" fmla="val 8264"/>
            </a:avLst>
          </a:prstGeom>
          <a:solidFill xmlns:a="http://schemas.openxmlformats.org/drawingml/2006/main">
            <a:srgbClr val="1A304D"/>
          </a:solidFill>
          <a:ln xmlns:a="http://schemas.openxmlformats.org/drawingml/2006/main" w="14288">
            <a:solidFill>
              <a:srgbClr val="6F8DB3"/>
            </a:solidFill>
            <a:prstDash val="solid"/>
          </a:ln>
        </p:spPr>
      </p:sp>
      <p:sp>
        <p:nvSpPr>
          <p:cNvPr id="25" name="chunk-content">
            <a:extLst xmlns:a="http://schemas.openxmlformats.org/drawingml/2006/main">
              <a:ext uri="{FF2B5EF4-FFF2-40B4-BE49-F238E27FC236}">
                <a16:creationId xmlns:a16="http://schemas.microsoft.com/office/drawing/2014/main" id="{225C55F8-F7E9-4005-8E38-98281370AB33}"/>
              </a:ext>
            </a:extLst>
          </p:cNvPr>
          <p:cNvSpPr>
            <a:spLocks xmlns:a="http://schemas.openxmlformats.org/drawingml/2006/main" noGrp="1"/>
          </p:cNvSpPr>
          <p:nvPr/>
        </p:nvSpPr>
        <p:spPr>
          <a:xfrm xmlns:a="http://schemas.openxmlformats.org/drawingml/2006/main">
            <a:off x="3981450" y="5210175"/>
            <a:ext cx="29051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Code chunk + AI context</a:t>
            </a:r>
          </a:p>
        </p:txBody>
      </p:sp>
      <p:sp>
        <p:nvSpPr>
          <p:cNvPr id="26" name="chunk-metadata">
            <a:extLst xmlns:a="http://schemas.openxmlformats.org/drawingml/2006/main">
              <a:ext uri="{FF2B5EF4-FFF2-40B4-BE49-F238E27FC236}">
                <a16:creationId xmlns:a16="http://schemas.microsoft.com/office/drawing/2014/main" id="{59E03C8E-7BE9-4226-9315-E82F92909F79}"/>
              </a:ext>
            </a:extLst>
          </p:cNvPr>
          <p:cNvSpPr>
            <a:spLocks xmlns:a="http://schemas.openxmlformats.org/drawingml/2006/main" noGrp="1"/>
          </p:cNvSpPr>
          <p:nvPr/>
        </p:nvSpPr>
        <p:spPr>
          <a:xfrm xmlns:a="http://schemas.openxmlformats.org/drawingml/2006/main">
            <a:off x="3981450" y="57340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AEBFD6"/>
                </a:solidFill>
                <a:latin typeface="Arial"/>
                <a:ea typeface="Arial"/>
                <a:cs typeface="Arial"/>
              </a:defRPr>
            </a:pPr>
            <a:r>
              <a:rPr sz="1575" b="0">
                <a:solidFill>
                  <a:srgbClr val="AEBFD6"/>
                </a:solidFill>
                <a:latin typeface="Arial"/>
                <a:ea typeface="Arial"/>
                <a:cs typeface="Arial"/>
              </a:rPr>
              <a:t>File and line references</a:t>
            </a:r>
          </a:p>
        </p:txBody>
      </p:sp>
      <p:sp>
        <p:nvSpPr>
          <p:cNvPr id="27" name="embedding-engine">
            <a:extLst xmlns:a="http://schemas.openxmlformats.org/drawingml/2006/main">
              <a:ext uri="{FF2B5EF4-FFF2-40B4-BE49-F238E27FC236}">
                <a16:creationId xmlns:a16="http://schemas.microsoft.com/office/drawing/2014/main" id="{9CE39A81-DED9-4984-BA6A-EDE9D2E53BF1}"/>
              </a:ext>
            </a:extLst>
          </p:cNvPr>
          <p:cNvSpPr>
            <a:spLocks xmlns:a="http://schemas.openxmlformats.org/drawingml/2006/main" noGrp="1"/>
          </p:cNvSpPr>
          <p:nvPr/>
        </p:nvSpPr>
        <p:spPr>
          <a:xfrm xmlns:a="http://schemas.openxmlformats.org/drawingml/2006/main">
            <a:off x="8229600" y="4276725"/>
            <a:ext cx="2609850" cy="1057275"/>
          </a:xfrm>
          <a:prstGeom xmlns:a="http://schemas.openxmlformats.org/drawingml/2006/main" prst="roundRect">
            <a:avLst>
              <a:gd name="adj" fmla="val 14414"/>
            </a:avLst>
          </a:prstGeom>
          <a:solidFill xmlns:a="http://schemas.openxmlformats.org/drawingml/2006/main">
            <a:srgbClr val="253568"/>
          </a:solidFill>
          <a:ln xmlns:a="http://schemas.openxmlformats.org/drawingml/2006/main" w="14288">
            <a:solidFill>
              <a:srgbClr val="8F9BFF"/>
            </a:solidFill>
            <a:prstDash val="solid"/>
          </a:ln>
        </p:spPr>
      </p:sp>
      <p:sp>
        <p:nvSpPr>
          <p:cNvPr id="28" name="encoder-name">
            <a:extLst xmlns:a="http://schemas.openxmlformats.org/drawingml/2006/main">
              <a:ext uri="{FF2B5EF4-FFF2-40B4-BE49-F238E27FC236}">
                <a16:creationId xmlns:a16="http://schemas.microsoft.com/office/drawing/2014/main" id="{8AF48B49-82C2-47C0-A5AB-1B0780DE5A47}"/>
              </a:ext>
            </a:extLst>
          </p:cNvPr>
          <p:cNvSpPr>
            <a:spLocks xmlns:a="http://schemas.openxmlformats.org/drawingml/2006/main" noGrp="1"/>
          </p:cNvSpPr>
          <p:nvPr/>
        </p:nvSpPr>
        <p:spPr>
          <a:xfrm xmlns:a="http://schemas.openxmlformats.org/drawingml/2006/main">
            <a:off x="8401050" y="4552950"/>
            <a:ext cx="22669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CodeRankEmbed</a:t>
            </a:r>
          </a:p>
        </p:txBody>
      </p:sp>
      <p:sp>
        <p:nvSpPr>
          <p:cNvPr id="29" name="vector">
            <a:extLst xmlns:a="http://schemas.openxmlformats.org/drawingml/2006/main">
              <a:ext uri="{FF2B5EF4-FFF2-40B4-BE49-F238E27FC236}">
                <a16:creationId xmlns:a16="http://schemas.microsoft.com/office/drawing/2014/main" id="{3F387945-9258-41DB-B6B2-BFB4900E6F2D}"/>
              </a:ext>
            </a:extLst>
          </p:cNvPr>
          <p:cNvSpPr>
            <a:spLocks xmlns:a="http://schemas.openxmlformats.org/drawingml/2006/main" noGrp="1"/>
          </p:cNvSpPr>
          <p:nvPr/>
        </p:nvSpPr>
        <p:spPr>
          <a:xfrm xmlns:a="http://schemas.openxmlformats.org/drawingml/2006/main">
            <a:off x="8115300" y="5657850"/>
            <a:ext cx="2857500" cy="561975"/>
          </a:xfrm>
          <a:prstGeom xmlns:a="http://schemas.openxmlformats.org/drawingml/2006/main" prst="roundRect">
            <a:avLst>
              <a:gd name="adj" fmla="val 16949"/>
            </a:avLst>
          </a:prstGeom>
          <a:solidFill xmlns:a="http://schemas.openxmlformats.org/drawingml/2006/main">
            <a:srgbClr val="1B294F"/>
          </a:solidFill>
          <a:ln xmlns:a="http://schemas.openxmlformats.org/drawingml/2006/main" w="14288">
            <a:solidFill>
              <a:srgbClr val="8F9BFF"/>
            </a:solidFill>
            <a:prstDash val="solid"/>
          </a:ln>
        </p:spPr>
      </p:sp>
      <p:sp>
        <p:nvSpPr>
          <p:cNvPr id="30" name="vector-elements">
            <a:extLst xmlns:a="http://schemas.openxmlformats.org/drawingml/2006/main">
              <a:ext uri="{FF2B5EF4-FFF2-40B4-BE49-F238E27FC236}">
                <a16:creationId xmlns:a16="http://schemas.microsoft.com/office/drawing/2014/main" id="{F2759072-3496-49F2-8A84-483B07DE1F28}"/>
              </a:ext>
            </a:extLst>
          </p:cNvPr>
          <p:cNvSpPr>
            <a:spLocks xmlns:a="http://schemas.openxmlformats.org/drawingml/2006/main" noGrp="1"/>
          </p:cNvSpPr>
          <p:nvPr/>
        </p:nvSpPr>
        <p:spPr>
          <a:xfrm xmlns:a="http://schemas.openxmlformats.org/drawingml/2006/main">
            <a:off x="8267700" y="5781675"/>
            <a:ext cx="25527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C9D0FF"/>
                </a:solidFill>
                <a:latin typeface="Arial"/>
                <a:ea typeface="Arial"/>
                <a:cs typeface="Arial"/>
              </a:defRPr>
            </a:pPr>
            <a:r>
              <a:rPr sz="1950" b="0">
                <a:solidFill>
                  <a:srgbClr val="C9D0FF"/>
                </a:solidFill>
                <a:latin typeface="Arial"/>
                <a:ea typeface="Arial"/>
                <a:cs typeface="Arial"/>
              </a:rPr>
              <a:t>[ v₁   v₂   …   v₇₆₈ ]</a:t>
            </a:r>
          </a:p>
        </p:txBody>
      </p:sp>
      <p:cxnSp>
        <p:nvCxnSpPr>
          <p:cNvPr id="91" name=""/>
          <p:cNvCxnSpPr>
            <a:stCxn xmlns:a="http://schemas.openxmlformats.org/drawingml/2006/main" id="27" idx="2"/>
            <a:endCxn xmlns:a="http://schemas.openxmlformats.org/drawingml/2006/main" id="29" idx="0"/>
          </p:cNvCxnSpPr>
          <p:nvPr/>
        </p:nvCxnSpPr>
        <p:spPr>
          <a:xfrm xmlns:a="http://schemas.openxmlformats.org/drawingml/2006/main">
            <a:off x="9534525" y="5334000"/>
            <a:ext cx="9525" cy="323850"/>
          </a:xfrm>
          <a:prstGeom xmlns:a="http://schemas.openxmlformats.org/drawingml/2006/main" prst="straightConnector1">
            <a:avLst/>
          </a:prstGeom>
          <a:ln xmlns:a="http://schemas.openxmlformats.org/drawingml/2006/main" w="28575">
            <a:solidFill>
              <a:srgbClr val="8F9BFF"/>
            </a:solidFill>
            <a:prstDash val="solid"/>
            <a:tailEnd type="triangle" w="sm" len="sm"/>
          </a:ln>
        </p:spPr>
      </p:cxnSp>
      <p:sp>
        <p:nvSpPr>
          <p:cNvPr id="32" name="lance-db">
            <a:extLst xmlns:a="http://schemas.openxmlformats.org/drawingml/2006/main">
              <a:ext uri="{FF2B5EF4-FFF2-40B4-BE49-F238E27FC236}">
                <a16:creationId xmlns:a16="http://schemas.microsoft.com/office/drawing/2014/main" id="{B50E066B-3162-4A5E-BD09-2A53E3742CE5}"/>
              </a:ext>
            </a:extLst>
          </p:cNvPr>
          <p:cNvSpPr>
            <a:spLocks xmlns:a="http://schemas.openxmlformats.org/drawingml/2006/main" noGrp="1"/>
          </p:cNvSpPr>
          <p:nvPr/>
        </p:nvSpPr>
        <p:spPr>
          <a:xfrm xmlns:a="http://schemas.openxmlformats.org/drawingml/2006/main">
            <a:off x="12087225" y="4238625"/>
            <a:ext cx="2476500" cy="2019300"/>
          </a:xfrm>
          <a:prstGeom xmlns:a="http://schemas.openxmlformats.org/drawingml/2006/main" prst="can">
            <a:avLst/>
          </a:prstGeom>
          <a:solidFill xmlns:a="http://schemas.openxmlformats.org/drawingml/2006/main">
            <a:srgbClr val="123B4E"/>
          </a:solidFill>
          <a:ln xmlns:a="http://schemas.openxmlformats.org/drawingml/2006/main" w="19050">
            <a:solidFill>
              <a:srgbClr val="54D8DC"/>
            </a:solidFill>
            <a:prstDash val="solid"/>
          </a:ln>
        </p:spPr>
      </p:sp>
      <p:sp>
        <p:nvSpPr>
          <p:cNvPr id="33" name="db-name">
            <a:extLst xmlns:a="http://schemas.openxmlformats.org/drawingml/2006/main">
              <a:ext uri="{FF2B5EF4-FFF2-40B4-BE49-F238E27FC236}">
                <a16:creationId xmlns:a16="http://schemas.microsoft.com/office/drawing/2014/main" id="{B53C8B78-D8ED-4547-8545-2C04FD70C0AD}"/>
              </a:ext>
            </a:extLst>
          </p:cNvPr>
          <p:cNvSpPr>
            <a:spLocks xmlns:a="http://schemas.openxmlformats.org/drawingml/2006/main" noGrp="1"/>
          </p:cNvSpPr>
          <p:nvPr/>
        </p:nvSpPr>
        <p:spPr>
          <a:xfrm xmlns:a="http://schemas.openxmlformats.org/drawingml/2006/main">
            <a:off x="12287250" y="48768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LanceDB</a:t>
            </a:r>
          </a:p>
        </p:txBody>
      </p:sp>
      <p:sp>
        <p:nvSpPr>
          <p:cNvPr id="34" name="db-description">
            <a:extLst xmlns:a="http://schemas.openxmlformats.org/drawingml/2006/main">
              <a:ext uri="{FF2B5EF4-FFF2-40B4-BE49-F238E27FC236}">
                <a16:creationId xmlns:a16="http://schemas.microsoft.com/office/drawing/2014/main" id="{BAD0958A-3B93-4D50-8563-DF884382CB32}"/>
              </a:ext>
            </a:extLst>
          </p:cNvPr>
          <p:cNvSpPr>
            <a:spLocks xmlns:a="http://schemas.openxmlformats.org/drawingml/2006/main" noGrp="1"/>
          </p:cNvSpPr>
          <p:nvPr/>
        </p:nvSpPr>
        <p:spPr>
          <a:xfrm xmlns:a="http://schemas.openxmlformats.org/drawingml/2006/main">
            <a:off x="12268200" y="544830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54D8DC"/>
                </a:solidFill>
                <a:latin typeface="Arial"/>
                <a:ea typeface="Arial"/>
                <a:cs typeface="Arial"/>
              </a:defRPr>
            </a:pPr>
            <a:r>
              <a:rPr sz="1725" b="0">
                <a:solidFill>
                  <a:srgbClr val="54D8DC"/>
                </a:solidFill>
                <a:latin typeface="Arial"/>
                <a:ea typeface="Arial"/>
                <a:cs typeface="Arial"/>
              </a:rPr>
              <a:t>Vector database</a:t>
            </a:r>
          </a:p>
        </p:txBody>
      </p:sp>
      <p:sp>
        <p:nvSpPr>
          <p:cNvPr id="35" name="source-chunk0">
            <a:extLst xmlns:a="http://schemas.openxmlformats.org/drawingml/2006/main">
              <a:ext uri="{FF2B5EF4-FFF2-40B4-BE49-F238E27FC236}">
                <a16:creationId xmlns:a16="http://schemas.microsoft.com/office/drawing/2014/main" id="{9601C67B-B3B2-42A6-A4FC-7BDEBCB88CB4}"/>
              </a:ext>
            </a:extLst>
          </p:cNvPr>
          <p:cNvSpPr>
            <a:spLocks xmlns:a="http://schemas.openxmlformats.org/drawingml/2006/main" noGrp="1"/>
          </p:cNvSpPr>
          <p:nvPr/>
        </p:nvSpPr>
        <p:spPr>
          <a:xfrm xmlns:a="http://schemas.openxmlformats.org/drawingml/2006/main">
            <a:off x="2990850" y="5267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6" name="source-chunk1">
            <a:extLst xmlns:a="http://schemas.openxmlformats.org/drawingml/2006/main">
              <a:ext uri="{FF2B5EF4-FFF2-40B4-BE49-F238E27FC236}">
                <a16:creationId xmlns:a16="http://schemas.microsoft.com/office/drawing/2014/main" id="{996AB95B-5F3A-4377-90CC-71564B3A2798}"/>
              </a:ext>
            </a:extLst>
          </p:cNvPr>
          <p:cNvSpPr>
            <a:spLocks xmlns:a="http://schemas.openxmlformats.org/drawingml/2006/main" noGrp="1"/>
          </p:cNvSpPr>
          <p:nvPr/>
        </p:nvSpPr>
        <p:spPr>
          <a:xfrm xmlns:a="http://schemas.openxmlformats.org/drawingml/2006/main">
            <a:off x="3771900" y="5267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7" name=""/>
          <p:cNvCxnSpPr>
            <a:stCxn xmlns:a="http://schemas.openxmlformats.org/drawingml/2006/main" id="35" idx="3"/>
            <a:endCxn xmlns:a="http://schemas.openxmlformats.org/drawingml/2006/main" id="36" idx="1"/>
          </p:cNvCxnSpPr>
          <p:nvPr/>
        </p:nvCxnSpPr>
        <p:spPr>
          <a:xfrm xmlns:a="http://schemas.openxmlformats.org/drawingml/2006/main">
            <a:off x="3009900" y="5276850"/>
            <a:ext cx="762000" cy="0"/>
          </a:xfrm>
          <a:prstGeom xmlns:a="http://schemas.openxmlformats.org/drawingml/2006/main" prst="straightConnector1">
            <a:avLst/>
          </a:prstGeom>
          <a:ln xmlns:a="http://schemas.openxmlformats.org/drawingml/2006/main" w="28575">
            <a:solidFill>
              <a:srgbClr val="54D8DC"/>
            </a:solidFill>
            <a:prstDash val="solid"/>
            <a:tailEnd type="triangle" w="sm" len="sm"/>
          </a:ln>
        </p:spPr>
      </p:cxnSp>
      <p:sp>
        <p:nvSpPr>
          <p:cNvPr id="38" name="chunk-embedding0">
            <a:extLst xmlns:a="http://schemas.openxmlformats.org/drawingml/2006/main">
              <a:ext uri="{FF2B5EF4-FFF2-40B4-BE49-F238E27FC236}">
                <a16:creationId xmlns:a16="http://schemas.microsoft.com/office/drawing/2014/main" id="{75F688D9-58E2-4FD6-B2C4-1A28F8353F42}"/>
              </a:ext>
            </a:extLst>
          </p:cNvPr>
          <p:cNvSpPr>
            <a:spLocks xmlns:a="http://schemas.openxmlformats.org/drawingml/2006/main" noGrp="1"/>
          </p:cNvSpPr>
          <p:nvPr/>
        </p:nvSpPr>
        <p:spPr>
          <a:xfrm xmlns:a="http://schemas.openxmlformats.org/drawingml/2006/main">
            <a:off x="7058025" y="5267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chunk-embedding1">
            <a:extLst xmlns:a="http://schemas.openxmlformats.org/drawingml/2006/main">
              <a:ext uri="{FF2B5EF4-FFF2-40B4-BE49-F238E27FC236}">
                <a16:creationId xmlns:a16="http://schemas.microsoft.com/office/drawing/2014/main" id="{D6061510-5221-4E78-91DE-8B532DABF31A}"/>
              </a:ext>
            </a:extLst>
          </p:cNvPr>
          <p:cNvSpPr>
            <a:spLocks xmlns:a="http://schemas.openxmlformats.org/drawingml/2006/main" noGrp="1"/>
          </p:cNvSpPr>
          <p:nvPr/>
        </p:nvSpPr>
        <p:spPr>
          <a:xfrm xmlns:a="http://schemas.openxmlformats.org/drawingml/2006/main">
            <a:off x="7629525" y="5267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0" name="chunk-embedding2">
            <a:extLst xmlns:a="http://schemas.openxmlformats.org/drawingml/2006/main">
              <a:ext uri="{FF2B5EF4-FFF2-40B4-BE49-F238E27FC236}">
                <a16:creationId xmlns:a16="http://schemas.microsoft.com/office/drawing/2014/main" id="{F2C105FB-BF58-442D-8172-EE3BAA6A52E0}"/>
              </a:ext>
            </a:extLst>
          </p:cNvPr>
          <p:cNvSpPr>
            <a:spLocks xmlns:a="http://schemas.openxmlformats.org/drawingml/2006/main" noGrp="1"/>
          </p:cNvSpPr>
          <p:nvPr/>
        </p:nvSpPr>
        <p:spPr>
          <a:xfrm xmlns:a="http://schemas.openxmlformats.org/drawingml/2006/main">
            <a:off x="7629525" y="4800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1" name="chunk-embedding3">
            <a:extLst xmlns:a="http://schemas.openxmlformats.org/drawingml/2006/main">
              <a:ext uri="{FF2B5EF4-FFF2-40B4-BE49-F238E27FC236}">
                <a16:creationId xmlns:a16="http://schemas.microsoft.com/office/drawing/2014/main" id="{1D29B0BC-4E34-436B-8D75-852E35B5C059}"/>
              </a:ext>
            </a:extLst>
          </p:cNvPr>
          <p:cNvSpPr>
            <a:spLocks xmlns:a="http://schemas.openxmlformats.org/drawingml/2006/main" noGrp="1"/>
          </p:cNvSpPr>
          <p:nvPr/>
        </p:nvSpPr>
        <p:spPr>
          <a:xfrm xmlns:a="http://schemas.openxmlformats.org/drawingml/2006/main">
            <a:off x="8220075" y="48006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2" name=""/>
          <p:cNvCxnSpPr>
            <a:stCxn xmlns:a="http://schemas.openxmlformats.org/drawingml/2006/main" id="38" idx="3"/>
            <a:endCxn xmlns:a="http://schemas.openxmlformats.org/drawingml/2006/main" id="39" idx="1"/>
          </p:cNvCxnSpPr>
          <p:nvPr/>
        </p:nvCxnSpPr>
        <p:spPr>
          <a:xfrm xmlns:a="http://schemas.openxmlformats.org/drawingml/2006/main">
            <a:off x="7077075" y="5276850"/>
            <a:ext cx="552450" cy="0"/>
          </a:xfrm>
          <a:prstGeom xmlns:a="http://schemas.openxmlformats.org/drawingml/2006/main" prst="straightConnector1">
            <a:avLst/>
          </a:prstGeom>
          <a:ln xmlns:a="http://schemas.openxmlformats.org/drawingml/2006/main" w="28575">
            <a:solidFill>
              <a:srgbClr val="54D8DC"/>
            </a:solidFill>
            <a:prstDash val="solid"/>
            <a:tailEnd type="none" w="sm" len="sm"/>
          </a:ln>
        </p:spPr>
      </p:cxnSp>
      <p:cxnSp>
        <p:nvCxnSpPr>
          <p:cNvPr id="103" name=""/>
          <p:cNvCxnSpPr>
            <a:stCxn xmlns:a="http://schemas.openxmlformats.org/drawingml/2006/main" id="39" idx="0"/>
            <a:endCxn xmlns:a="http://schemas.openxmlformats.org/drawingml/2006/main" id="40" idx="2"/>
          </p:cNvCxnSpPr>
          <p:nvPr/>
        </p:nvCxnSpPr>
        <p:spPr>
          <a:xfrm xmlns:a="http://schemas.openxmlformats.org/drawingml/2006/main" flipV="1">
            <a:off x="7639050" y="4819650"/>
            <a:ext cx="0" cy="447675"/>
          </a:xfrm>
          <a:prstGeom xmlns:a="http://schemas.openxmlformats.org/drawingml/2006/main" prst="straightConnector1">
            <a:avLst/>
          </a:prstGeom>
          <a:ln xmlns:a="http://schemas.openxmlformats.org/drawingml/2006/main" w="28575">
            <a:solidFill>
              <a:srgbClr val="54D8DC"/>
            </a:solidFill>
            <a:prstDash val="solid"/>
            <a:tailEnd type="none" w="sm" len="sm"/>
          </a:ln>
        </p:spPr>
      </p:cxnSp>
      <p:cxnSp>
        <p:nvCxnSpPr>
          <p:cNvPr id="104" name=""/>
          <p:cNvCxnSpPr>
            <a:stCxn xmlns:a="http://schemas.openxmlformats.org/drawingml/2006/main" id="40" idx="3"/>
            <a:endCxn xmlns:a="http://schemas.openxmlformats.org/drawingml/2006/main" id="41" idx="1"/>
          </p:cNvCxnSpPr>
          <p:nvPr/>
        </p:nvCxnSpPr>
        <p:spPr>
          <a:xfrm xmlns:a="http://schemas.openxmlformats.org/drawingml/2006/main">
            <a:off x="7648575" y="4810125"/>
            <a:ext cx="571500" cy="0"/>
          </a:xfrm>
          <a:prstGeom xmlns:a="http://schemas.openxmlformats.org/drawingml/2006/main" prst="straightConnector1">
            <a:avLst/>
          </a:prstGeom>
          <a:ln xmlns:a="http://schemas.openxmlformats.org/drawingml/2006/main" w="28575">
            <a:solidFill>
              <a:srgbClr val="54D8DC"/>
            </a:solidFill>
            <a:prstDash val="solid"/>
            <a:tailEnd type="triangle" w="sm" len="sm"/>
          </a:ln>
        </p:spPr>
      </p:cxnSp>
      <p:sp>
        <p:nvSpPr>
          <p:cNvPr id="45" name="vector-store0">
            <a:extLst xmlns:a="http://schemas.openxmlformats.org/drawingml/2006/main">
              <a:ext uri="{FF2B5EF4-FFF2-40B4-BE49-F238E27FC236}">
                <a16:creationId xmlns:a16="http://schemas.microsoft.com/office/drawing/2014/main" id="{ED01B472-E3EA-455A-9FCC-9563B2DDC5B4}"/>
              </a:ext>
            </a:extLst>
          </p:cNvPr>
          <p:cNvSpPr>
            <a:spLocks xmlns:a="http://schemas.openxmlformats.org/drawingml/2006/main" noGrp="1"/>
          </p:cNvSpPr>
          <p:nvPr/>
        </p:nvSpPr>
        <p:spPr>
          <a:xfrm xmlns:a="http://schemas.openxmlformats.org/drawingml/2006/main">
            <a:off x="10963275" y="59245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vector-store1">
            <a:extLst xmlns:a="http://schemas.openxmlformats.org/drawingml/2006/main">
              <a:ext uri="{FF2B5EF4-FFF2-40B4-BE49-F238E27FC236}">
                <a16:creationId xmlns:a16="http://schemas.microsoft.com/office/drawing/2014/main" id="{7EB58155-A4E6-4BE4-9E55-FC89CF1BB8B7}"/>
              </a:ext>
            </a:extLst>
          </p:cNvPr>
          <p:cNvSpPr>
            <a:spLocks xmlns:a="http://schemas.openxmlformats.org/drawingml/2006/main" noGrp="1"/>
          </p:cNvSpPr>
          <p:nvPr/>
        </p:nvSpPr>
        <p:spPr>
          <a:xfrm xmlns:a="http://schemas.openxmlformats.org/drawingml/2006/main">
            <a:off x="11496675" y="59245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7" name="vector-store2">
            <a:extLst xmlns:a="http://schemas.openxmlformats.org/drawingml/2006/main">
              <a:ext uri="{FF2B5EF4-FFF2-40B4-BE49-F238E27FC236}">
                <a16:creationId xmlns:a16="http://schemas.microsoft.com/office/drawing/2014/main" id="{541E04FF-A850-4C90-B1C9-4DBBEEC854D8}"/>
              </a:ext>
            </a:extLst>
          </p:cNvPr>
          <p:cNvSpPr>
            <a:spLocks xmlns:a="http://schemas.openxmlformats.org/drawingml/2006/main" noGrp="1"/>
          </p:cNvSpPr>
          <p:nvPr/>
        </p:nvSpPr>
        <p:spPr>
          <a:xfrm xmlns:a="http://schemas.openxmlformats.org/drawingml/2006/main">
            <a:off x="11496675" y="5238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8" name="vector-store3">
            <a:extLst xmlns:a="http://schemas.openxmlformats.org/drawingml/2006/main">
              <a:ext uri="{FF2B5EF4-FFF2-40B4-BE49-F238E27FC236}">
                <a16:creationId xmlns:a16="http://schemas.microsoft.com/office/drawing/2014/main" id="{259A96A9-CCAC-40AF-A6D5-C15A77F6AE78}"/>
              </a:ext>
            </a:extLst>
          </p:cNvPr>
          <p:cNvSpPr>
            <a:spLocks xmlns:a="http://schemas.openxmlformats.org/drawingml/2006/main" noGrp="1"/>
          </p:cNvSpPr>
          <p:nvPr/>
        </p:nvSpPr>
        <p:spPr>
          <a:xfrm xmlns:a="http://schemas.openxmlformats.org/drawingml/2006/main">
            <a:off x="12077700" y="52387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109" name=""/>
          <p:cNvCxnSpPr>
            <a:stCxn xmlns:a="http://schemas.openxmlformats.org/drawingml/2006/main" id="45" idx="3"/>
            <a:endCxn xmlns:a="http://schemas.openxmlformats.org/drawingml/2006/main" id="46" idx="1"/>
          </p:cNvCxnSpPr>
          <p:nvPr/>
        </p:nvCxnSpPr>
        <p:spPr>
          <a:xfrm xmlns:a="http://schemas.openxmlformats.org/drawingml/2006/main">
            <a:off x="10982325" y="5934075"/>
            <a:ext cx="514350" cy="0"/>
          </a:xfrm>
          <a:prstGeom xmlns:a="http://schemas.openxmlformats.org/drawingml/2006/main" prst="straightConnector1">
            <a:avLst/>
          </a:prstGeom>
          <a:ln xmlns:a="http://schemas.openxmlformats.org/drawingml/2006/main" w="28575">
            <a:solidFill>
              <a:srgbClr val="54D8DC"/>
            </a:solidFill>
            <a:prstDash val="solid"/>
            <a:tailEnd type="none" w="sm" len="sm"/>
          </a:ln>
        </p:spPr>
      </p:cxnSp>
      <p:cxnSp>
        <p:nvCxnSpPr>
          <p:cNvPr id="110" name=""/>
          <p:cNvCxnSpPr>
            <a:stCxn xmlns:a="http://schemas.openxmlformats.org/drawingml/2006/main" id="46" idx="0"/>
            <a:endCxn xmlns:a="http://schemas.openxmlformats.org/drawingml/2006/main" id="47" idx="2"/>
          </p:cNvCxnSpPr>
          <p:nvPr/>
        </p:nvCxnSpPr>
        <p:spPr>
          <a:xfrm xmlns:a="http://schemas.openxmlformats.org/drawingml/2006/main" flipV="1">
            <a:off x="11506200" y="5257800"/>
            <a:ext cx="0" cy="666750"/>
          </a:xfrm>
          <a:prstGeom xmlns:a="http://schemas.openxmlformats.org/drawingml/2006/main" prst="straightConnector1">
            <a:avLst/>
          </a:prstGeom>
          <a:ln xmlns:a="http://schemas.openxmlformats.org/drawingml/2006/main" w="28575">
            <a:solidFill>
              <a:srgbClr val="54D8DC"/>
            </a:solidFill>
            <a:prstDash val="solid"/>
            <a:tailEnd type="none" w="sm" len="sm"/>
          </a:ln>
        </p:spPr>
      </p:cxnSp>
      <p:cxnSp>
        <p:nvCxnSpPr>
          <p:cNvPr id="111" name=""/>
          <p:cNvCxnSpPr>
            <a:stCxn xmlns:a="http://schemas.openxmlformats.org/drawingml/2006/main" id="47" idx="3"/>
            <a:endCxn xmlns:a="http://schemas.openxmlformats.org/drawingml/2006/main" id="48" idx="1"/>
          </p:cNvCxnSpPr>
          <p:nvPr/>
        </p:nvCxnSpPr>
        <p:spPr>
          <a:xfrm xmlns:a="http://schemas.openxmlformats.org/drawingml/2006/main">
            <a:off x="11515725" y="5248275"/>
            <a:ext cx="561975" cy="0"/>
          </a:xfrm>
          <a:prstGeom xmlns:a="http://schemas.openxmlformats.org/drawingml/2006/main" prst="straightConnector1">
            <a:avLst/>
          </a:prstGeom>
          <a:ln xmlns:a="http://schemas.openxmlformats.org/drawingml/2006/main" w="28575">
            <a:solidFill>
              <a:srgbClr val="54D8DC"/>
            </a:solidFill>
            <a:prstDash val="solid"/>
            <a:tailEnd type="triangle" w="sm" len="sm"/>
          </a:ln>
        </p:spPr>
      </p:cxnSp>
      <p:sp>
        <p:nvSpPr>
          <p:cNvPr id="52" name="refresh-rule">
            <a:extLst xmlns:a="http://schemas.openxmlformats.org/drawingml/2006/main">
              <a:ext uri="{FF2B5EF4-FFF2-40B4-BE49-F238E27FC236}">
                <a16:creationId xmlns:a16="http://schemas.microsoft.com/office/drawing/2014/main" id="{BD4F282F-D0F8-4937-A501-D8B6D32918E1}"/>
              </a:ext>
            </a:extLst>
          </p:cNvPr>
          <p:cNvSpPr>
            <a:spLocks xmlns:a="http://schemas.openxmlformats.org/drawingml/2006/main" noGrp="1"/>
          </p:cNvSpPr>
          <p:nvPr/>
        </p:nvSpPr>
        <p:spPr>
          <a:xfrm xmlns:a="http://schemas.openxmlformats.org/drawingml/2006/main">
            <a:off x="685800" y="6829425"/>
            <a:ext cx="13868400" cy="0"/>
          </a:xfrm>
          <a:prstGeom xmlns:a="http://schemas.openxmlformats.org/drawingml/2006/main" prst="line">
            <a:avLst/>
          </a:prstGeom>
          <a:noFill xmlns:a="http://schemas.openxmlformats.org/drawingml/2006/main"/>
          <a:ln xmlns:a="http://schemas.openxmlformats.org/drawingml/2006/main" w="12383">
            <a:solidFill>
              <a:srgbClr val="37516F"/>
            </a:solidFill>
            <a:prstDash val="solid"/>
          </a:ln>
        </p:spPr>
      </p:sp>
      <p:sp>
        <p:nvSpPr>
          <p:cNvPr id="53" name="refresh-title">
            <a:extLst xmlns:a="http://schemas.openxmlformats.org/drawingml/2006/main">
              <a:ext uri="{FF2B5EF4-FFF2-40B4-BE49-F238E27FC236}">
                <a16:creationId xmlns:a16="http://schemas.microsoft.com/office/drawing/2014/main" id="{3D581EDF-ABA6-449F-9F2B-CF930D2E0AD6}"/>
              </a:ext>
            </a:extLst>
          </p:cNvPr>
          <p:cNvSpPr>
            <a:spLocks xmlns:a="http://schemas.openxmlformats.org/drawingml/2006/main" noGrp="1"/>
          </p:cNvSpPr>
          <p:nvPr/>
        </p:nvSpPr>
        <p:spPr>
          <a:xfrm xmlns:a="http://schemas.openxmlformats.org/drawingml/2006/main">
            <a:off x="685800" y="703897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54D8DC"/>
                </a:solidFill>
                <a:latin typeface="Arial"/>
                <a:ea typeface="Arial"/>
                <a:cs typeface="Arial"/>
              </a:defRPr>
            </a:pPr>
            <a:r>
              <a:rPr sz="1500" b="1">
                <a:solidFill>
                  <a:srgbClr val="54D8DC"/>
                </a:solidFill>
                <a:latin typeface="Arial"/>
                <a:ea typeface="Arial"/>
                <a:cs typeface="Arial"/>
              </a:rPr>
              <a:t>INCREMENTAL REFRESH</a:t>
            </a:r>
          </a:p>
        </p:txBody>
      </p:sp>
      <p:sp>
        <p:nvSpPr>
          <p:cNvPr id="54" name="refresh-note">
            <a:extLst xmlns:a="http://schemas.openxmlformats.org/drawingml/2006/main">
              <a:ext uri="{FF2B5EF4-FFF2-40B4-BE49-F238E27FC236}">
                <a16:creationId xmlns:a16="http://schemas.microsoft.com/office/drawing/2014/main" id="{0A8A80B9-A1D1-4541-889C-55ED87FECABD}"/>
              </a:ext>
            </a:extLst>
          </p:cNvPr>
          <p:cNvSpPr>
            <a:spLocks xmlns:a="http://schemas.openxmlformats.org/drawingml/2006/main" noGrp="1"/>
          </p:cNvSpPr>
          <p:nvPr/>
        </p:nvSpPr>
        <p:spPr>
          <a:xfrm xmlns:a="http://schemas.openxmlformats.org/drawingml/2006/main">
            <a:off x="685800" y="7419975"/>
            <a:ext cx="3476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CocoIndex detects changes</a:t>
            </a:r>
          </a:p>
        </p:txBody>
      </p:sp>
      <p:sp>
        <p:nvSpPr>
          <p:cNvPr id="55" name="refresh-new">
            <a:extLst xmlns:a="http://schemas.openxmlformats.org/drawingml/2006/main">
              <a:ext uri="{FF2B5EF4-FFF2-40B4-BE49-F238E27FC236}">
                <a16:creationId xmlns:a16="http://schemas.microsoft.com/office/drawing/2014/main" id="{482D0909-36B3-49AD-8C1A-7CC2D1842B6E}"/>
              </a:ext>
            </a:extLst>
          </p:cNvPr>
          <p:cNvSpPr>
            <a:spLocks xmlns:a="http://schemas.openxmlformats.org/drawingml/2006/main" noGrp="1"/>
          </p:cNvSpPr>
          <p:nvPr/>
        </p:nvSpPr>
        <p:spPr>
          <a:xfrm xmlns:a="http://schemas.openxmlformats.org/drawingml/2006/main">
            <a:off x="4848225" y="70389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New or edited</a:t>
            </a:r>
          </a:p>
        </p:txBody>
      </p:sp>
      <p:sp>
        <p:nvSpPr>
          <p:cNvPr id="56" name="refresh-new-detail">
            <a:extLst xmlns:a="http://schemas.openxmlformats.org/drawingml/2006/main">
              <a:ext uri="{FF2B5EF4-FFF2-40B4-BE49-F238E27FC236}">
                <a16:creationId xmlns:a16="http://schemas.microsoft.com/office/drawing/2014/main" id="{0EC89BBB-18B8-424D-BDB1-E5B5B529CCC8}"/>
              </a:ext>
            </a:extLst>
          </p:cNvPr>
          <p:cNvSpPr>
            <a:spLocks xmlns:a="http://schemas.openxmlformats.org/drawingml/2006/main" noGrp="1"/>
          </p:cNvSpPr>
          <p:nvPr/>
        </p:nvSpPr>
        <p:spPr>
          <a:xfrm xmlns:a="http://schemas.openxmlformats.org/drawingml/2006/main">
            <a:off x="4848225" y="7419975"/>
            <a:ext cx="3000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Re-embed affected chunks</a:t>
            </a:r>
          </a:p>
        </p:txBody>
      </p:sp>
      <p:sp>
        <p:nvSpPr>
          <p:cNvPr id="57" name="refresh-same">
            <a:extLst xmlns:a="http://schemas.openxmlformats.org/drawingml/2006/main">
              <a:ext uri="{FF2B5EF4-FFF2-40B4-BE49-F238E27FC236}">
                <a16:creationId xmlns:a16="http://schemas.microsoft.com/office/drawing/2014/main" id="{D945BE83-29D7-4BD2-9A8A-2B2659C9BCB5}"/>
              </a:ext>
            </a:extLst>
          </p:cNvPr>
          <p:cNvSpPr>
            <a:spLocks xmlns:a="http://schemas.openxmlformats.org/drawingml/2006/main" noGrp="1"/>
          </p:cNvSpPr>
          <p:nvPr/>
        </p:nvSpPr>
        <p:spPr>
          <a:xfrm xmlns:a="http://schemas.openxmlformats.org/drawingml/2006/main">
            <a:off x="8362950" y="70389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Unchanged</a:t>
            </a:r>
          </a:p>
        </p:txBody>
      </p:sp>
      <p:sp>
        <p:nvSpPr>
          <p:cNvPr id="58" name="refresh-same-detail">
            <a:extLst xmlns:a="http://schemas.openxmlformats.org/drawingml/2006/main">
              <a:ext uri="{FF2B5EF4-FFF2-40B4-BE49-F238E27FC236}">
                <a16:creationId xmlns:a16="http://schemas.microsoft.com/office/drawing/2014/main" id="{836BAA6D-1204-40AA-B4C2-425D49910DD0}"/>
              </a:ext>
            </a:extLst>
          </p:cNvPr>
          <p:cNvSpPr>
            <a:spLocks xmlns:a="http://schemas.openxmlformats.org/drawingml/2006/main" noGrp="1"/>
          </p:cNvSpPr>
          <p:nvPr/>
        </p:nvSpPr>
        <p:spPr>
          <a:xfrm xmlns:a="http://schemas.openxmlformats.org/drawingml/2006/main">
            <a:off x="8362950" y="74199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Reuse existing vectors</a:t>
            </a:r>
          </a:p>
        </p:txBody>
      </p:sp>
      <p:sp>
        <p:nvSpPr>
          <p:cNvPr id="59" name="refresh-delete">
            <a:extLst xmlns:a="http://schemas.openxmlformats.org/drawingml/2006/main">
              <a:ext uri="{FF2B5EF4-FFF2-40B4-BE49-F238E27FC236}">
                <a16:creationId xmlns:a16="http://schemas.microsoft.com/office/drawing/2014/main" id="{846EB288-E7CE-43D0-8B4F-A7E454309D9B}"/>
              </a:ext>
            </a:extLst>
          </p:cNvPr>
          <p:cNvSpPr>
            <a:spLocks xmlns:a="http://schemas.openxmlformats.org/drawingml/2006/main" noGrp="1"/>
          </p:cNvSpPr>
          <p:nvPr/>
        </p:nvSpPr>
        <p:spPr>
          <a:xfrm xmlns:a="http://schemas.openxmlformats.org/drawingml/2006/main">
            <a:off x="11934825" y="70389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Deleted</a:t>
            </a:r>
          </a:p>
        </p:txBody>
      </p:sp>
      <p:sp>
        <p:nvSpPr>
          <p:cNvPr id="60" name="refresh-delete-detail">
            <a:extLst xmlns:a="http://schemas.openxmlformats.org/drawingml/2006/main">
              <a:ext uri="{FF2B5EF4-FFF2-40B4-BE49-F238E27FC236}">
                <a16:creationId xmlns:a16="http://schemas.microsoft.com/office/drawing/2014/main" id="{787D3F66-D776-41E7-A1CE-87D5F8D794D7}"/>
              </a:ext>
            </a:extLst>
          </p:cNvPr>
          <p:cNvSpPr>
            <a:spLocks xmlns:a="http://schemas.openxmlformats.org/drawingml/2006/main" noGrp="1"/>
          </p:cNvSpPr>
          <p:nvPr/>
        </p:nvSpPr>
        <p:spPr>
          <a:xfrm xmlns:a="http://schemas.openxmlformats.org/drawingml/2006/main">
            <a:off x="11934825" y="7419975"/>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Remove stale chunks</a:t>
            </a:r>
          </a:p>
        </p:txBody>
      </p:sp>
    </p:spTree>
    <p:extLst>
      <p:ext uri="{BB962C8B-B14F-4D97-AF65-F5344CB8AC3E}">
        <p14:creationId xmlns:p14="http://schemas.microsoft.com/office/powerpoint/2010/main" val="642805475"/>
      </p:ext>
    </p:extLst>
  </p:cSld>
</p:sld>
</file>

<file path=ppt/slides/slide4.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F5C57BB3-A5B4-4E26-BA69-B759F48BB170}"/>
              </a:ext>
            </a:extLst>
          </p:cNvPr>
          <p:cNvSpPr>
            <a:spLocks xmlns:a="http://schemas.openxmlformats.org/drawingml/2006/main" noGrp="1"/>
          </p:cNvSpPr>
          <p:nvPr/>
        </p:nvSpPr>
        <p:spPr>
          <a:xfrm xmlns:a="http://schemas.openxmlformats.org/drawingml/2006/main">
            <a:off x="685800" y="495300"/>
            <a:ext cx="1386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101E35"/>
                </a:solidFill>
                <a:latin typeface="Arial"/>
                <a:ea typeface="Arial"/>
                <a:cs typeface="Arial"/>
              </a:defRPr>
            </a:pPr>
            <a:r>
              <a:rPr sz="4050" b="1">
                <a:solidFill>
                  <a:srgbClr val="101E35"/>
                </a:solidFill>
                <a:latin typeface="Arial"/>
                <a:ea typeface="Arial"/>
                <a:cs typeface="Arial"/>
              </a:rPr>
              <a:t>RAG answers: retrieve, generate, validate</a:t>
            </a:r>
          </a:p>
        </p:txBody>
      </p:sp>
      <p:sp>
        <p:nvSpPr>
          <p:cNvPr id="2" name="subtitle">
            <a:extLst xmlns:a="http://schemas.openxmlformats.org/drawingml/2006/main">
              <a:ext uri="{FF2B5EF4-FFF2-40B4-BE49-F238E27FC236}">
                <a16:creationId xmlns:a16="http://schemas.microsoft.com/office/drawing/2014/main" id="{0A395C03-98BC-49B6-B3E4-5CFE7C047882}"/>
              </a:ext>
            </a:extLst>
          </p:cNvPr>
          <p:cNvSpPr>
            <a:spLocks xmlns:a="http://schemas.openxmlformats.org/drawingml/2006/main" noGrp="1"/>
          </p:cNvSpPr>
          <p:nvPr/>
        </p:nvSpPr>
        <p:spPr>
          <a:xfrm xmlns:a="http://schemas.openxmlformats.org/drawingml/2006/main">
            <a:off x="704850" y="136207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62738A"/>
                </a:solidFill>
                <a:latin typeface="Arial"/>
                <a:ea typeface="Arial"/>
                <a:cs typeface="Arial"/>
              </a:defRPr>
            </a:pPr>
            <a:r>
              <a:rPr sz="2025" b="0">
                <a:solidFill>
                  <a:srgbClr val="62738A"/>
                </a:solidFill>
                <a:latin typeface="Arial"/>
                <a:ea typeface="Arial"/>
                <a:cs typeface="Arial"/>
              </a:rPr>
              <a:t>The question and code use the same embedding model</a:t>
            </a:r>
          </a:p>
        </p:txBody>
      </p:sp>
      <p:sp>
        <p:nvSpPr>
          <p:cNvPr id="3" name="footer">
            <a:extLst xmlns:a="http://schemas.openxmlformats.org/drawingml/2006/main">
              <a:ext uri="{FF2B5EF4-FFF2-40B4-BE49-F238E27FC236}">
                <a16:creationId xmlns:a16="http://schemas.microsoft.com/office/drawing/2014/main" id="{C637E43C-BA5A-43A2-96F8-5F3C7679DCBE}"/>
              </a:ext>
            </a:extLst>
          </p:cNvPr>
          <p:cNvSpPr>
            <a:spLocks xmlns:a="http://schemas.openxmlformats.org/drawingml/2006/main" noGrp="1"/>
          </p:cNvSpPr>
          <p:nvPr/>
        </p:nvSpPr>
        <p:spPr>
          <a:xfrm xmlns:a="http://schemas.openxmlformats.org/drawingml/2006/main">
            <a:off x="704850" y="81057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2738A"/>
                </a:solidFill>
                <a:latin typeface="Arial"/>
                <a:ea typeface="Arial"/>
                <a:cs typeface="Arial"/>
              </a:defRPr>
            </a:pPr>
            <a:r>
              <a:rPr sz="1275" b="0">
                <a:solidFill>
                  <a:srgbClr val="62738A"/>
                </a:solidFill>
                <a:latin typeface="Arial"/>
                <a:ea typeface="Arial"/>
                <a:cs typeface="Arial"/>
              </a:rPr>
              <a:t>BANK OF Z  /  MAINFRAME MODERNIZATION</a:t>
            </a:r>
          </a:p>
        </p:txBody>
      </p:sp>
      <p:sp>
        <p:nvSpPr>
          <p:cNvPr id="4" name="page">
            <a:extLst xmlns:a="http://schemas.openxmlformats.org/drawingml/2006/main">
              <a:ext uri="{FF2B5EF4-FFF2-40B4-BE49-F238E27FC236}">
                <a16:creationId xmlns:a16="http://schemas.microsoft.com/office/drawing/2014/main" id="{D1608E8E-406B-41CA-A7F4-2A37AFF6BFD1}"/>
              </a:ext>
            </a:extLst>
          </p:cNvPr>
          <p:cNvSpPr>
            <a:spLocks xmlns:a="http://schemas.openxmlformats.org/drawingml/2006/main" noGrp="1"/>
          </p:cNvSpPr>
          <p:nvPr/>
        </p:nvSpPr>
        <p:spPr>
          <a:xfrm xmlns:a="http://schemas.openxmlformats.org/drawingml/2006/main">
            <a:off x="13811250" y="804862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62738A"/>
                </a:solidFill>
                <a:latin typeface="Arial"/>
                <a:ea typeface="Arial"/>
                <a:cs typeface="Arial"/>
              </a:defRPr>
            </a:pPr>
            <a:r>
              <a:rPr sz="1650" b="0">
                <a:solidFill>
                  <a:srgbClr val="62738A"/>
                </a:solidFill>
                <a:latin typeface="Arial"/>
                <a:ea typeface="Arial"/>
                <a:cs typeface="Arial"/>
              </a:rPr>
              <a:t>04</a:t>
            </a:r>
          </a:p>
        </p:txBody>
      </p:sp>
      <p:sp>
        <p:nvSpPr>
          <p:cNvPr id="5" name="question">
            <a:extLst xmlns:a="http://schemas.openxmlformats.org/drawingml/2006/main">
              <a:ext uri="{FF2B5EF4-FFF2-40B4-BE49-F238E27FC236}">
                <a16:creationId xmlns:a16="http://schemas.microsoft.com/office/drawing/2014/main" id="{A180B3E6-47D0-404A-968B-2A8AEF487B7E}"/>
              </a:ext>
            </a:extLst>
          </p:cNvPr>
          <p:cNvSpPr>
            <a:spLocks xmlns:a="http://schemas.openxmlformats.org/drawingml/2006/main" noGrp="1"/>
          </p:cNvSpPr>
          <p:nvPr/>
        </p:nvSpPr>
        <p:spPr>
          <a:xfrm xmlns:a="http://schemas.openxmlformats.org/drawingml/2006/main">
            <a:off x="685800" y="2466975"/>
            <a:ext cx="2524125"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9D3E2"/>
            </a:solidFill>
            <a:prstDash val="solid"/>
          </a:ln>
        </p:spPr>
      </p:sp>
      <p:sp>
        <p:nvSpPr>
          <p:cNvPr id="6" name="question-name">
            <a:extLst xmlns:a="http://schemas.openxmlformats.org/drawingml/2006/main">
              <a:ext uri="{FF2B5EF4-FFF2-40B4-BE49-F238E27FC236}">
                <a16:creationId xmlns:a16="http://schemas.microsoft.com/office/drawing/2014/main" id="{B6702A2B-FFB2-4484-B7A6-14F41F17FC4B}"/>
              </a:ext>
            </a:extLst>
          </p:cNvPr>
          <p:cNvSpPr>
            <a:spLocks xmlns:a="http://schemas.openxmlformats.org/drawingml/2006/main" noGrp="1"/>
          </p:cNvSpPr>
          <p:nvPr/>
        </p:nvSpPr>
        <p:spPr>
          <a:xfrm xmlns:a="http://schemas.openxmlformats.org/drawingml/2006/main">
            <a:off x="895350" y="2638425"/>
            <a:ext cx="21050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Ask a question</a:t>
            </a:r>
          </a:p>
        </p:txBody>
      </p:sp>
      <p:sp>
        <p:nvSpPr>
          <p:cNvPr id="7" name="question-sub">
            <a:extLst xmlns:a="http://schemas.openxmlformats.org/drawingml/2006/main">
              <a:ext uri="{FF2B5EF4-FFF2-40B4-BE49-F238E27FC236}">
                <a16:creationId xmlns:a16="http://schemas.microsoft.com/office/drawing/2014/main" id="{AE367A05-A4A1-47D3-96F2-8F831C35302D}"/>
              </a:ext>
            </a:extLst>
          </p:cNvPr>
          <p:cNvSpPr>
            <a:spLocks xmlns:a="http://schemas.openxmlformats.org/drawingml/2006/main" noGrp="1"/>
          </p:cNvSpPr>
          <p:nvPr/>
        </p:nvSpPr>
        <p:spPr>
          <a:xfrm xmlns:a="http://schemas.openxmlformats.org/drawingml/2006/main">
            <a:off x="895350" y="3190875"/>
            <a:ext cx="21050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Natural language</a:t>
            </a:r>
          </a:p>
        </p:txBody>
      </p:sp>
      <p:sp>
        <p:nvSpPr>
          <p:cNvPr id="8" name="guardrail">
            <a:extLst xmlns:a="http://schemas.openxmlformats.org/drawingml/2006/main">
              <a:ext uri="{FF2B5EF4-FFF2-40B4-BE49-F238E27FC236}">
                <a16:creationId xmlns:a16="http://schemas.microsoft.com/office/drawing/2014/main" id="{E55E739B-85D9-4BAC-8BB1-3FA340585D2B}"/>
              </a:ext>
            </a:extLst>
          </p:cNvPr>
          <p:cNvSpPr>
            <a:spLocks xmlns:a="http://schemas.openxmlformats.org/drawingml/2006/main" noGrp="1"/>
          </p:cNvSpPr>
          <p:nvPr/>
        </p:nvSpPr>
        <p:spPr>
          <a:xfrm xmlns:a="http://schemas.openxmlformats.org/drawingml/2006/main">
            <a:off x="3876675" y="2466975"/>
            <a:ext cx="2324100" cy="1285875"/>
          </a:xfrm>
          <a:prstGeom xmlns:a="http://schemas.openxmlformats.org/drawingml/2006/main" prst="roundRect">
            <a:avLst>
              <a:gd name="adj" fmla="val 8889"/>
            </a:avLst>
          </a:prstGeom>
          <a:solidFill xmlns:a="http://schemas.openxmlformats.org/drawingml/2006/main">
            <a:srgbClr val="F1EDFF"/>
          </a:solidFill>
          <a:ln xmlns:a="http://schemas.openxmlformats.org/drawingml/2006/main" w="14288">
            <a:solidFill>
              <a:srgbClr val="D8CFF3"/>
            </a:solidFill>
            <a:prstDash val="solid"/>
          </a:ln>
        </p:spPr>
      </p:sp>
      <p:sp>
        <p:nvSpPr>
          <p:cNvPr id="9" name="guardrail-name">
            <a:extLst xmlns:a="http://schemas.openxmlformats.org/drawingml/2006/main">
              <a:ext uri="{FF2B5EF4-FFF2-40B4-BE49-F238E27FC236}">
                <a16:creationId xmlns:a16="http://schemas.microsoft.com/office/drawing/2014/main" id="{5683FB49-9871-480A-A7AB-752FCC2EF4B6}"/>
              </a:ext>
            </a:extLst>
          </p:cNvPr>
          <p:cNvSpPr>
            <a:spLocks xmlns:a="http://schemas.openxmlformats.org/drawingml/2006/main" noGrp="1"/>
          </p:cNvSpPr>
          <p:nvPr/>
        </p:nvSpPr>
        <p:spPr>
          <a:xfrm xmlns:a="http://schemas.openxmlformats.org/drawingml/2006/main">
            <a:off x="4086225" y="2638425"/>
            <a:ext cx="190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Screen request</a:t>
            </a:r>
          </a:p>
        </p:txBody>
      </p:sp>
      <p:sp>
        <p:nvSpPr>
          <p:cNvPr id="10" name="guardrail-sub">
            <a:extLst xmlns:a="http://schemas.openxmlformats.org/drawingml/2006/main">
              <a:ext uri="{FF2B5EF4-FFF2-40B4-BE49-F238E27FC236}">
                <a16:creationId xmlns:a16="http://schemas.microsoft.com/office/drawing/2014/main" id="{3C178877-3016-4320-B384-246473DC7755}"/>
              </a:ext>
            </a:extLst>
          </p:cNvPr>
          <p:cNvSpPr>
            <a:spLocks xmlns:a="http://schemas.openxmlformats.org/drawingml/2006/main" noGrp="1"/>
          </p:cNvSpPr>
          <p:nvPr/>
        </p:nvSpPr>
        <p:spPr>
          <a:xfrm xmlns:a="http://schemas.openxmlformats.org/drawingml/2006/main">
            <a:off x="4086225" y="3190875"/>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Gemini</a:t>
            </a:r>
          </a:p>
        </p:txBody>
      </p:sp>
      <p:sp>
        <p:nvSpPr>
          <p:cNvPr id="11" name="query-embed">
            <a:extLst xmlns:a="http://schemas.openxmlformats.org/drawingml/2006/main">
              <a:ext uri="{FF2B5EF4-FFF2-40B4-BE49-F238E27FC236}">
                <a16:creationId xmlns:a16="http://schemas.microsoft.com/office/drawing/2014/main" id="{BDA07CDE-52D7-48FA-BB81-0AA4FD4E9C87}"/>
              </a:ext>
            </a:extLst>
          </p:cNvPr>
          <p:cNvSpPr>
            <a:spLocks xmlns:a="http://schemas.openxmlformats.org/drawingml/2006/main" noGrp="1"/>
          </p:cNvSpPr>
          <p:nvPr/>
        </p:nvSpPr>
        <p:spPr>
          <a:xfrm xmlns:a="http://schemas.openxmlformats.org/drawingml/2006/main">
            <a:off x="6867525" y="2466975"/>
            <a:ext cx="2886075" cy="1285875"/>
          </a:xfrm>
          <a:prstGeom xmlns:a="http://schemas.openxmlformats.org/drawingml/2006/main" prst="roundRect">
            <a:avLst>
              <a:gd name="adj" fmla="val 8889"/>
            </a:avLst>
          </a:prstGeom>
          <a:solidFill xmlns:a="http://schemas.openxmlformats.org/drawingml/2006/main">
            <a:srgbClr val="EAF0FD"/>
          </a:solidFill>
          <a:ln xmlns:a="http://schemas.openxmlformats.org/drawingml/2006/main" w="14288">
            <a:solidFill>
              <a:srgbClr val="B8C9F1"/>
            </a:solidFill>
            <a:prstDash val="solid"/>
          </a:ln>
        </p:spPr>
      </p:sp>
      <p:sp>
        <p:nvSpPr>
          <p:cNvPr id="12" name="query-embed-name">
            <a:extLst xmlns:a="http://schemas.openxmlformats.org/drawingml/2006/main">
              <a:ext uri="{FF2B5EF4-FFF2-40B4-BE49-F238E27FC236}">
                <a16:creationId xmlns:a16="http://schemas.microsoft.com/office/drawing/2014/main" id="{72441055-E86D-4C57-BC0B-993CCC017E51}"/>
              </a:ext>
            </a:extLst>
          </p:cNvPr>
          <p:cNvSpPr>
            <a:spLocks xmlns:a="http://schemas.openxmlformats.org/drawingml/2006/main" noGrp="1"/>
          </p:cNvSpPr>
          <p:nvPr/>
        </p:nvSpPr>
        <p:spPr>
          <a:xfrm xmlns:a="http://schemas.openxmlformats.org/drawingml/2006/main">
            <a:off x="7077075" y="26384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Embed question</a:t>
            </a:r>
          </a:p>
        </p:txBody>
      </p:sp>
      <p:sp>
        <p:nvSpPr>
          <p:cNvPr id="13" name="query-embed-sub">
            <a:extLst xmlns:a="http://schemas.openxmlformats.org/drawingml/2006/main">
              <a:ext uri="{FF2B5EF4-FFF2-40B4-BE49-F238E27FC236}">
                <a16:creationId xmlns:a16="http://schemas.microsoft.com/office/drawing/2014/main" id="{0B8197A3-F40F-4854-95BB-58E62E0043C1}"/>
              </a:ext>
            </a:extLst>
          </p:cNvPr>
          <p:cNvSpPr>
            <a:spLocks xmlns:a="http://schemas.openxmlformats.org/drawingml/2006/main" noGrp="1"/>
          </p:cNvSpPr>
          <p:nvPr/>
        </p:nvSpPr>
        <p:spPr>
          <a:xfrm xmlns:a="http://schemas.openxmlformats.org/drawingml/2006/main">
            <a:off x="7077075" y="3190875"/>
            <a:ext cx="2466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CodeRankEmbed</a:t>
            </a:r>
          </a:p>
        </p:txBody>
      </p:sp>
      <p:sp>
        <p:nvSpPr>
          <p:cNvPr id="14" name="vector-search">
            <a:extLst xmlns:a="http://schemas.openxmlformats.org/drawingml/2006/main">
              <a:ext uri="{FF2B5EF4-FFF2-40B4-BE49-F238E27FC236}">
                <a16:creationId xmlns:a16="http://schemas.microsoft.com/office/drawing/2014/main" id="{BC255701-D597-4589-A718-1C2EDB7AC812}"/>
              </a:ext>
            </a:extLst>
          </p:cNvPr>
          <p:cNvSpPr>
            <a:spLocks xmlns:a="http://schemas.openxmlformats.org/drawingml/2006/main" noGrp="1"/>
          </p:cNvSpPr>
          <p:nvPr/>
        </p:nvSpPr>
        <p:spPr>
          <a:xfrm xmlns:a="http://schemas.openxmlformats.org/drawingml/2006/main">
            <a:off x="10944225" y="2466975"/>
            <a:ext cx="3609975" cy="1285875"/>
          </a:xfrm>
          <a:prstGeom xmlns:a="http://schemas.openxmlformats.org/drawingml/2006/main" prst="roundRect">
            <a:avLst>
              <a:gd name="adj" fmla="val 8889"/>
            </a:avLst>
          </a:prstGeom>
          <a:solidFill xmlns:a="http://schemas.openxmlformats.org/drawingml/2006/main">
            <a:srgbClr val="E2F4F4"/>
          </a:solidFill>
          <a:ln xmlns:a="http://schemas.openxmlformats.org/drawingml/2006/main" w="14288">
            <a:solidFill>
              <a:srgbClr val="A4DADC"/>
            </a:solidFill>
            <a:prstDash val="solid"/>
          </a:ln>
        </p:spPr>
      </p:sp>
      <p:sp>
        <p:nvSpPr>
          <p:cNvPr id="15" name="vector-search-name">
            <a:extLst xmlns:a="http://schemas.openxmlformats.org/drawingml/2006/main">
              <a:ext uri="{FF2B5EF4-FFF2-40B4-BE49-F238E27FC236}">
                <a16:creationId xmlns:a16="http://schemas.microsoft.com/office/drawing/2014/main" id="{4D945A56-C152-4B7D-A601-2F884265AA5D}"/>
              </a:ext>
            </a:extLst>
          </p:cNvPr>
          <p:cNvSpPr>
            <a:spLocks xmlns:a="http://schemas.openxmlformats.org/drawingml/2006/main" noGrp="1"/>
          </p:cNvSpPr>
          <p:nvPr/>
        </p:nvSpPr>
        <p:spPr>
          <a:xfrm xmlns:a="http://schemas.openxmlformats.org/drawingml/2006/main">
            <a:off x="11153775" y="2638425"/>
            <a:ext cx="3190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62943"/>
                </a:solidFill>
                <a:latin typeface="Arial"/>
                <a:ea typeface="Arial"/>
                <a:cs typeface="Arial"/>
              </a:defRPr>
            </a:pPr>
            <a:r>
              <a:rPr sz="2175" b="1">
                <a:solidFill>
                  <a:srgbClr val="162943"/>
                </a:solidFill>
                <a:latin typeface="Arial"/>
                <a:ea typeface="Arial"/>
                <a:cs typeface="Arial"/>
              </a:rPr>
              <a:t>Similarity search</a:t>
            </a:r>
          </a:p>
        </p:txBody>
      </p:sp>
      <p:sp>
        <p:nvSpPr>
          <p:cNvPr id="16" name="vector-search-sub">
            <a:extLst xmlns:a="http://schemas.openxmlformats.org/drawingml/2006/main">
              <a:ext uri="{FF2B5EF4-FFF2-40B4-BE49-F238E27FC236}">
                <a16:creationId xmlns:a16="http://schemas.microsoft.com/office/drawing/2014/main" id="{1EB063BD-7553-429B-AEF8-F39D9C4BAD7D}"/>
              </a:ext>
            </a:extLst>
          </p:cNvPr>
          <p:cNvSpPr>
            <a:spLocks xmlns:a="http://schemas.openxmlformats.org/drawingml/2006/main" noGrp="1"/>
          </p:cNvSpPr>
          <p:nvPr/>
        </p:nvSpPr>
        <p:spPr>
          <a:xfrm xmlns:a="http://schemas.openxmlformats.org/drawingml/2006/main">
            <a:off x="11153775" y="3190875"/>
            <a:ext cx="3190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LanceDB vectors</a:t>
            </a:r>
          </a:p>
        </p:txBody>
      </p:sp>
      <p:cxnSp>
        <p:nvCxnSpPr>
          <p:cNvPr id="65" name=""/>
          <p:cNvCxnSpPr>
            <a:stCxn xmlns:a="http://schemas.openxmlformats.org/drawingml/2006/main" id="5" idx="3"/>
            <a:endCxn xmlns:a="http://schemas.openxmlformats.org/drawingml/2006/main" id="8" idx="1"/>
          </p:cNvCxnSpPr>
          <p:nvPr/>
        </p:nvCxnSpPr>
        <p:spPr>
          <a:xfrm xmlns:a="http://schemas.openxmlformats.org/drawingml/2006/main">
            <a:off x="3209925" y="3109913"/>
            <a:ext cx="666750"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cxnSp>
        <p:nvCxnSpPr>
          <p:cNvPr id="66" name=""/>
          <p:cNvCxnSpPr>
            <a:stCxn xmlns:a="http://schemas.openxmlformats.org/drawingml/2006/main" id="8" idx="3"/>
            <a:endCxn xmlns:a="http://schemas.openxmlformats.org/drawingml/2006/main" id="11" idx="1"/>
          </p:cNvCxnSpPr>
          <p:nvPr/>
        </p:nvCxnSpPr>
        <p:spPr>
          <a:xfrm xmlns:a="http://schemas.openxmlformats.org/drawingml/2006/main">
            <a:off x="6200775" y="3109913"/>
            <a:ext cx="666750"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cxnSp>
        <p:nvCxnSpPr>
          <p:cNvPr id="67" name=""/>
          <p:cNvCxnSpPr>
            <a:stCxn xmlns:a="http://schemas.openxmlformats.org/drawingml/2006/main" id="11" idx="3"/>
            <a:endCxn xmlns:a="http://schemas.openxmlformats.org/drawingml/2006/main" id="14" idx="1"/>
          </p:cNvCxnSpPr>
          <p:nvPr/>
        </p:nvCxnSpPr>
        <p:spPr>
          <a:xfrm xmlns:a="http://schemas.openxmlformats.org/drawingml/2006/main">
            <a:off x="9753600" y="3109913"/>
            <a:ext cx="1190625"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20" name="clarify">
            <a:extLst xmlns:a="http://schemas.openxmlformats.org/drawingml/2006/main">
              <a:ext uri="{FF2B5EF4-FFF2-40B4-BE49-F238E27FC236}">
                <a16:creationId xmlns:a16="http://schemas.microsoft.com/office/drawing/2014/main" id="{8BBE30F9-2A0E-4815-9201-7720ABC79D6C}"/>
              </a:ext>
            </a:extLst>
          </p:cNvPr>
          <p:cNvSpPr>
            <a:spLocks xmlns:a="http://schemas.openxmlformats.org/drawingml/2006/main" noGrp="1"/>
          </p:cNvSpPr>
          <p:nvPr/>
        </p:nvSpPr>
        <p:spPr>
          <a:xfrm xmlns:a="http://schemas.openxmlformats.org/drawingml/2006/main">
            <a:off x="3733800" y="4010025"/>
            <a:ext cx="2905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62738A"/>
                </a:solidFill>
                <a:latin typeface="Arial"/>
                <a:ea typeface="Arial"/>
                <a:cs typeface="Arial"/>
              </a:defRPr>
            </a:pPr>
            <a:r>
              <a:rPr sz="1425" b="0">
                <a:solidFill>
                  <a:srgbClr val="62738A"/>
                </a:solidFill>
                <a:latin typeface="Arial"/>
                <a:ea typeface="Arial"/>
                <a:cs typeface="Arial"/>
              </a:rPr>
              <a:t>Clarify or decline if needed</a:t>
            </a:r>
          </a:p>
        </p:txBody>
      </p:sp>
      <p:sp>
        <p:nvSpPr>
          <p:cNvPr id="21" name="match-label">
            <a:extLst xmlns:a="http://schemas.openxmlformats.org/drawingml/2006/main">
              <a:ext uri="{FF2B5EF4-FFF2-40B4-BE49-F238E27FC236}">
                <a16:creationId xmlns:a16="http://schemas.microsoft.com/office/drawing/2014/main" id="{C3221DF7-FAFF-46E2-A2D8-9E89E2A08020}"/>
              </a:ext>
            </a:extLst>
          </p:cNvPr>
          <p:cNvSpPr>
            <a:spLocks xmlns:a="http://schemas.openxmlformats.org/drawingml/2006/main" noGrp="1"/>
          </p:cNvSpPr>
          <p:nvPr/>
        </p:nvSpPr>
        <p:spPr>
          <a:xfrm xmlns:a="http://schemas.openxmlformats.org/drawingml/2006/main">
            <a:off x="9744075" y="2028825"/>
            <a:ext cx="2466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1D8D83"/>
                </a:solidFill>
                <a:latin typeface="Arial"/>
                <a:ea typeface="Arial"/>
                <a:cs typeface="Arial"/>
              </a:defRPr>
            </a:pPr>
            <a:r>
              <a:rPr sz="1500" b="0">
                <a:solidFill>
                  <a:srgbClr val="1D8D83"/>
                </a:solidFill>
                <a:latin typeface="Arial"/>
                <a:ea typeface="Arial"/>
                <a:cs typeface="Arial"/>
              </a:rPr>
              <a:t>Match by meaning</a:t>
            </a:r>
          </a:p>
        </p:txBody>
      </p:sp>
      <p:sp>
        <p:nvSpPr>
          <p:cNvPr id="22" name="retrieved-evidence">
            <a:extLst xmlns:a="http://schemas.openxmlformats.org/drawingml/2006/main">
              <a:ext uri="{FF2B5EF4-FFF2-40B4-BE49-F238E27FC236}">
                <a16:creationId xmlns:a16="http://schemas.microsoft.com/office/drawing/2014/main" id="{F7752DEB-30E1-49DD-AE48-8FDD4A6047E1}"/>
              </a:ext>
            </a:extLst>
          </p:cNvPr>
          <p:cNvSpPr>
            <a:spLocks xmlns:a="http://schemas.openxmlformats.org/drawingml/2006/main" noGrp="1"/>
          </p:cNvSpPr>
          <p:nvPr/>
        </p:nvSpPr>
        <p:spPr>
          <a:xfrm xmlns:a="http://schemas.openxmlformats.org/drawingml/2006/main">
            <a:off x="11449050" y="5038725"/>
            <a:ext cx="3105150" cy="1323975"/>
          </a:xfrm>
          <a:prstGeom xmlns:a="http://schemas.openxmlformats.org/drawingml/2006/main" prst="roundRect">
            <a:avLst>
              <a:gd name="adj" fmla="val 8633"/>
            </a:avLst>
          </a:prstGeom>
          <a:solidFill xmlns:a="http://schemas.openxmlformats.org/drawingml/2006/main">
            <a:srgbClr val="E2F4F4"/>
          </a:solidFill>
          <a:ln xmlns:a="http://schemas.openxmlformats.org/drawingml/2006/main" w="14288">
            <a:solidFill>
              <a:srgbClr val="A4DADC"/>
            </a:solidFill>
            <a:prstDash val="solid"/>
          </a:ln>
        </p:spPr>
      </p:sp>
      <p:sp>
        <p:nvSpPr>
          <p:cNvPr id="23" name="retrieved-evidence-name">
            <a:extLst xmlns:a="http://schemas.openxmlformats.org/drawingml/2006/main">
              <a:ext uri="{FF2B5EF4-FFF2-40B4-BE49-F238E27FC236}">
                <a16:creationId xmlns:a16="http://schemas.microsoft.com/office/drawing/2014/main" id="{C2B3E1F6-8E3B-4544-9501-EC3A9298777B}"/>
              </a:ext>
            </a:extLst>
          </p:cNvPr>
          <p:cNvSpPr>
            <a:spLocks xmlns:a="http://schemas.openxmlformats.org/drawingml/2006/main" noGrp="1"/>
          </p:cNvSpPr>
          <p:nvPr/>
        </p:nvSpPr>
        <p:spPr>
          <a:xfrm xmlns:a="http://schemas.openxmlformats.org/drawingml/2006/main">
            <a:off x="11658600" y="5210175"/>
            <a:ext cx="2686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62943"/>
                </a:solidFill>
                <a:latin typeface="Arial"/>
                <a:ea typeface="Arial"/>
                <a:cs typeface="Arial"/>
              </a:defRPr>
            </a:pPr>
            <a:r>
              <a:rPr sz="2175" b="1">
                <a:solidFill>
                  <a:srgbClr val="162943"/>
                </a:solidFill>
                <a:latin typeface="Arial"/>
                <a:ea typeface="Arial"/>
                <a:cs typeface="Arial"/>
              </a:rPr>
              <a:t>Top 10 chunks</a:t>
            </a:r>
          </a:p>
        </p:txBody>
      </p:sp>
      <p:sp>
        <p:nvSpPr>
          <p:cNvPr id="24" name="retrieved-evidence-sub">
            <a:extLst xmlns:a="http://schemas.openxmlformats.org/drawingml/2006/main">
              <a:ext uri="{FF2B5EF4-FFF2-40B4-BE49-F238E27FC236}">
                <a16:creationId xmlns:a16="http://schemas.microsoft.com/office/drawing/2014/main" id="{70F13AEF-0C35-4EC8-9E9B-F97D13C51FF1}"/>
              </a:ext>
            </a:extLst>
          </p:cNvPr>
          <p:cNvSpPr>
            <a:spLocks xmlns:a="http://schemas.openxmlformats.org/drawingml/2006/main" noGrp="1"/>
          </p:cNvSpPr>
          <p:nvPr/>
        </p:nvSpPr>
        <p:spPr>
          <a:xfrm xmlns:a="http://schemas.openxmlformats.org/drawingml/2006/main">
            <a:off x="11658600" y="5762625"/>
            <a:ext cx="2686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Code + summaries</a:t>
            </a:r>
          </a:p>
        </p:txBody>
      </p:sp>
      <p:sp>
        <p:nvSpPr>
          <p:cNvPr id="25" name="generate">
            <a:extLst xmlns:a="http://schemas.openxmlformats.org/drawingml/2006/main">
              <a:ext uri="{FF2B5EF4-FFF2-40B4-BE49-F238E27FC236}">
                <a16:creationId xmlns:a16="http://schemas.microsoft.com/office/drawing/2014/main" id="{0C514A45-B35D-4BB4-9694-3125F54AFC98}"/>
              </a:ext>
            </a:extLst>
          </p:cNvPr>
          <p:cNvSpPr>
            <a:spLocks xmlns:a="http://schemas.openxmlformats.org/drawingml/2006/main" noGrp="1"/>
          </p:cNvSpPr>
          <p:nvPr/>
        </p:nvSpPr>
        <p:spPr>
          <a:xfrm xmlns:a="http://schemas.openxmlformats.org/drawingml/2006/main">
            <a:off x="8001000" y="5038725"/>
            <a:ext cx="2743200" cy="1323975"/>
          </a:xfrm>
          <a:prstGeom xmlns:a="http://schemas.openxmlformats.org/drawingml/2006/main" prst="roundRect">
            <a:avLst>
              <a:gd name="adj" fmla="val 8633"/>
            </a:avLst>
          </a:prstGeom>
          <a:solidFill xmlns:a="http://schemas.openxmlformats.org/drawingml/2006/main">
            <a:srgbClr val="101E35"/>
          </a:solidFill>
          <a:ln xmlns:a="http://schemas.openxmlformats.org/drawingml/2006/main" w="14288">
            <a:solidFill>
              <a:srgbClr val="101E35"/>
            </a:solidFill>
            <a:prstDash val="solid"/>
          </a:ln>
        </p:spPr>
      </p:sp>
      <p:sp>
        <p:nvSpPr>
          <p:cNvPr id="26" name="generate-name">
            <a:extLst xmlns:a="http://schemas.openxmlformats.org/drawingml/2006/main">
              <a:ext uri="{FF2B5EF4-FFF2-40B4-BE49-F238E27FC236}">
                <a16:creationId xmlns:a16="http://schemas.microsoft.com/office/drawing/2014/main" id="{0B57233B-CB3B-4F73-8504-6427772DC068}"/>
              </a:ext>
            </a:extLst>
          </p:cNvPr>
          <p:cNvSpPr>
            <a:spLocks xmlns:a="http://schemas.openxmlformats.org/drawingml/2006/main" noGrp="1"/>
          </p:cNvSpPr>
          <p:nvPr/>
        </p:nvSpPr>
        <p:spPr>
          <a:xfrm xmlns:a="http://schemas.openxmlformats.org/drawingml/2006/main">
            <a:off x="8210550" y="5210175"/>
            <a:ext cx="2324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Generate answer</a:t>
            </a:r>
          </a:p>
        </p:txBody>
      </p:sp>
      <p:sp>
        <p:nvSpPr>
          <p:cNvPr id="27" name="generate-sub">
            <a:extLst xmlns:a="http://schemas.openxmlformats.org/drawingml/2006/main">
              <a:ext uri="{FF2B5EF4-FFF2-40B4-BE49-F238E27FC236}">
                <a16:creationId xmlns:a16="http://schemas.microsoft.com/office/drawing/2014/main" id="{60C26A3C-8999-4A4A-B312-969FD37D7116}"/>
              </a:ext>
            </a:extLst>
          </p:cNvPr>
          <p:cNvSpPr>
            <a:spLocks xmlns:a="http://schemas.openxmlformats.org/drawingml/2006/main" noGrp="1"/>
          </p:cNvSpPr>
          <p:nvPr/>
        </p:nvSpPr>
        <p:spPr>
          <a:xfrm xmlns:a="http://schemas.openxmlformats.org/drawingml/2006/main">
            <a:off x="8210550" y="5762625"/>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AEBFD6"/>
                </a:solidFill>
                <a:latin typeface="Arial"/>
                <a:ea typeface="Arial"/>
                <a:cs typeface="Arial"/>
              </a:defRPr>
            </a:pPr>
            <a:r>
              <a:rPr sz="1725" b="0">
                <a:solidFill>
                  <a:srgbClr val="AEBFD6"/>
                </a:solidFill>
                <a:latin typeface="Arial"/>
                <a:ea typeface="Arial"/>
                <a:cs typeface="Arial"/>
              </a:rPr>
              <a:t>Groq</a:t>
            </a:r>
          </a:p>
        </p:txBody>
      </p:sp>
      <p:sp>
        <p:nvSpPr>
          <p:cNvPr id="28" name="validate">
            <a:extLst xmlns:a="http://schemas.openxmlformats.org/drawingml/2006/main">
              <a:ext uri="{FF2B5EF4-FFF2-40B4-BE49-F238E27FC236}">
                <a16:creationId xmlns:a16="http://schemas.microsoft.com/office/drawing/2014/main" id="{D36FDDC7-68CB-4810-A747-AD998B64EBC5}"/>
              </a:ext>
            </a:extLst>
          </p:cNvPr>
          <p:cNvSpPr>
            <a:spLocks xmlns:a="http://schemas.openxmlformats.org/drawingml/2006/main" noGrp="1"/>
          </p:cNvSpPr>
          <p:nvPr/>
        </p:nvSpPr>
        <p:spPr>
          <a:xfrm xmlns:a="http://schemas.openxmlformats.org/drawingml/2006/main">
            <a:off x="4143375" y="5038725"/>
            <a:ext cx="3152775" cy="1323975"/>
          </a:xfrm>
          <a:prstGeom xmlns:a="http://schemas.openxmlformats.org/drawingml/2006/main" prst="roundRect">
            <a:avLst>
              <a:gd name="adj" fmla="val 8633"/>
            </a:avLst>
          </a:prstGeom>
          <a:solidFill xmlns:a="http://schemas.openxmlformats.org/drawingml/2006/main">
            <a:srgbClr val="F1EDFF"/>
          </a:solidFill>
          <a:ln xmlns:a="http://schemas.openxmlformats.org/drawingml/2006/main" w="14288">
            <a:solidFill>
              <a:srgbClr val="D8CFF3"/>
            </a:solidFill>
            <a:prstDash val="solid"/>
          </a:ln>
        </p:spPr>
      </p:sp>
      <p:sp>
        <p:nvSpPr>
          <p:cNvPr id="29" name="validate-name">
            <a:extLst xmlns:a="http://schemas.openxmlformats.org/drawingml/2006/main">
              <a:ext uri="{FF2B5EF4-FFF2-40B4-BE49-F238E27FC236}">
                <a16:creationId xmlns:a16="http://schemas.microsoft.com/office/drawing/2014/main" id="{8DE50053-7250-41B8-B774-0915CEEA52E3}"/>
              </a:ext>
            </a:extLst>
          </p:cNvPr>
          <p:cNvSpPr>
            <a:spLocks xmlns:a="http://schemas.openxmlformats.org/drawingml/2006/main" noGrp="1"/>
          </p:cNvSpPr>
          <p:nvPr/>
        </p:nvSpPr>
        <p:spPr>
          <a:xfrm xmlns:a="http://schemas.openxmlformats.org/drawingml/2006/main">
            <a:off x="4352925" y="5210175"/>
            <a:ext cx="27336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62943"/>
                </a:solidFill>
                <a:latin typeface="Arial"/>
                <a:ea typeface="Arial"/>
                <a:cs typeface="Arial"/>
              </a:defRPr>
            </a:pPr>
            <a:r>
              <a:rPr sz="2175" b="1">
                <a:solidFill>
                  <a:srgbClr val="162943"/>
                </a:solidFill>
                <a:latin typeface="Arial"/>
                <a:ea typeface="Arial"/>
                <a:cs typeface="Arial"/>
              </a:rPr>
              <a:t>Validate answer</a:t>
            </a:r>
          </a:p>
        </p:txBody>
      </p:sp>
      <p:sp>
        <p:nvSpPr>
          <p:cNvPr id="30" name="validate-sub">
            <a:extLst xmlns:a="http://schemas.openxmlformats.org/drawingml/2006/main">
              <a:ext uri="{FF2B5EF4-FFF2-40B4-BE49-F238E27FC236}">
                <a16:creationId xmlns:a16="http://schemas.microsoft.com/office/drawing/2014/main" id="{6D92B5D8-F8CC-4F2E-B704-D89C61FA304B}"/>
              </a:ext>
            </a:extLst>
          </p:cNvPr>
          <p:cNvSpPr>
            <a:spLocks xmlns:a="http://schemas.openxmlformats.org/drawingml/2006/main" noGrp="1"/>
          </p:cNvSpPr>
          <p:nvPr/>
        </p:nvSpPr>
        <p:spPr>
          <a:xfrm xmlns:a="http://schemas.openxmlformats.org/drawingml/2006/main">
            <a:off x="4352925" y="5762625"/>
            <a:ext cx="27336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Gemini checks evidence</a:t>
            </a:r>
          </a:p>
        </p:txBody>
      </p:sp>
      <p:sp>
        <p:nvSpPr>
          <p:cNvPr id="31" name="answer">
            <a:extLst xmlns:a="http://schemas.openxmlformats.org/drawingml/2006/main">
              <a:ext uri="{FF2B5EF4-FFF2-40B4-BE49-F238E27FC236}">
                <a16:creationId xmlns:a16="http://schemas.microsoft.com/office/drawing/2014/main" id="{B1FB9733-0774-45FA-972E-0AACD1951ECB}"/>
              </a:ext>
            </a:extLst>
          </p:cNvPr>
          <p:cNvSpPr>
            <a:spLocks xmlns:a="http://schemas.openxmlformats.org/drawingml/2006/main" noGrp="1"/>
          </p:cNvSpPr>
          <p:nvPr/>
        </p:nvSpPr>
        <p:spPr>
          <a:xfrm xmlns:a="http://schemas.openxmlformats.org/drawingml/2006/main">
            <a:off x="685800" y="5038725"/>
            <a:ext cx="2752725" cy="1323975"/>
          </a:xfrm>
          <a:prstGeom xmlns:a="http://schemas.openxmlformats.org/drawingml/2006/main" prst="roundRect">
            <a:avLst>
              <a:gd name="adj" fmla="val 8633"/>
            </a:avLst>
          </a:prstGeom>
          <a:solidFill xmlns:a="http://schemas.openxmlformats.org/drawingml/2006/main">
            <a:srgbClr val="3567E8"/>
          </a:solidFill>
          <a:ln xmlns:a="http://schemas.openxmlformats.org/drawingml/2006/main" w="14288">
            <a:solidFill>
              <a:srgbClr val="3567E8"/>
            </a:solidFill>
            <a:prstDash val="solid"/>
          </a:ln>
        </p:spPr>
      </p:sp>
      <p:sp>
        <p:nvSpPr>
          <p:cNvPr id="32" name="answer-name">
            <a:extLst xmlns:a="http://schemas.openxmlformats.org/drawingml/2006/main">
              <a:ext uri="{FF2B5EF4-FFF2-40B4-BE49-F238E27FC236}">
                <a16:creationId xmlns:a16="http://schemas.microsoft.com/office/drawing/2014/main" id="{F60C9405-91E8-4950-81D9-4F25C1B714DE}"/>
              </a:ext>
            </a:extLst>
          </p:cNvPr>
          <p:cNvSpPr>
            <a:spLocks xmlns:a="http://schemas.openxmlformats.org/drawingml/2006/main" noGrp="1"/>
          </p:cNvSpPr>
          <p:nvPr/>
        </p:nvSpPr>
        <p:spPr>
          <a:xfrm xmlns:a="http://schemas.openxmlformats.org/drawingml/2006/main">
            <a:off x="895350" y="5210175"/>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Grounded answer</a:t>
            </a:r>
          </a:p>
        </p:txBody>
      </p:sp>
      <p:sp>
        <p:nvSpPr>
          <p:cNvPr id="33" name="answer-sub">
            <a:extLst xmlns:a="http://schemas.openxmlformats.org/drawingml/2006/main">
              <a:ext uri="{FF2B5EF4-FFF2-40B4-BE49-F238E27FC236}">
                <a16:creationId xmlns:a16="http://schemas.microsoft.com/office/drawing/2014/main" id="{7E6D983A-CE0E-41BA-BA47-4C532E3194EF}"/>
              </a:ext>
            </a:extLst>
          </p:cNvPr>
          <p:cNvSpPr>
            <a:spLocks xmlns:a="http://schemas.openxmlformats.org/drawingml/2006/main" noGrp="1"/>
          </p:cNvSpPr>
          <p:nvPr/>
        </p:nvSpPr>
        <p:spPr>
          <a:xfrm xmlns:a="http://schemas.openxmlformats.org/drawingml/2006/main">
            <a:off x="895350" y="5762625"/>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DDE7FF"/>
                </a:solidFill>
                <a:latin typeface="Arial"/>
                <a:ea typeface="Arial"/>
                <a:cs typeface="Arial"/>
              </a:defRPr>
            </a:pPr>
            <a:r>
              <a:rPr sz="1725" b="0">
                <a:solidFill>
                  <a:srgbClr val="DDE7FF"/>
                </a:solidFill>
                <a:latin typeface="Arial"/>
                <a:ea typeface="Arial"/>
                <a:cs typeface="Arial"/>
              </a:rPr>
              <a:t>Code + source files</a:t>
            </a:r>
          </a:p>
        </p:txBody>
      </p:sp>
      <p:cxnSp>
        <p:nvCxnSpPr>
          <p:cNvPr id="82" name=""/>
          <p:cNvCxnSpPr>
            <a:stCxn xmlns:a="http://schemas.openxmlformats.org/drawingml/2006/main" id="14" idx="2"/>
            <a:endCxn xmlns:a="http://schemas.openxmlformats.org/drawingml/2006/main" id="22" idx="0"/>
          </p:cNvCxnSpPr>
          <p:nvPr/>
        </p:nvCxnSpPr>
        <p:spPr>
          <a:xfrm xmlns:a="http://schemas.openxmlformats.org/drawingml/2006/main">
            <a:off x="12749213" y="3752850"/>
            <a:ext cx="252413" cy="1285875"/>
          </a:xfrm>
          <a:prstGeom xmlns:a="http://schemas.openxmlformats.org/drawingml/2006/main" prst="bentConnector4">
            <a:avLst>
              <a:gd name="adj1" fmla="val 0"/>
              <a:gd name="adj2" fmla="val 50000"/>
            </a:avLst>
          </a:prstGeom>
          <a:ln xmlns:a="http://schemas.openxmlformats.org/drawingml/2006/main" w="28575">
            <a:solidFill>
              <a:srgbClr val="1D8D83"/>
            </a:solidFill>
            <a:prstDash val="solid"/>
            <a:tailEnd type="triangle" w="sm" len="sm"/>
          </a:ln>
        </p:spPr>
      </p:cxnSp>
      <p:cxnSp>
        <p:nvCxnSpPr>
          <p:cNvPr id="83" name=""/>
          <p:cNvCxnSpPr>
            <a:stCxn xmlns:a="http://schemas.openxmlformats.org/drawingml/2006/main" id="22" idx="1"/>
            <a:endCxn xmlns:a="http://schemas.openxmlformats.org/drawingml/2006/main" id="25" idx="3"/>
          </p:cNvCxnSpPr>
          <p:nvPr/>
        </p:nvCxnSpPr>
        <p:spPr>
          <a:xfrm xmlns:a="http://schemas.openxmlformats.org/drawingml/2006/main" flipH="1">
            <a:off x="10744200" y="5700713"/>
            <a:ext cx="704850" cy="0"/>
          </a:xfrm>
          <a:prstGeom xmlns:a="http://schemas.openxmlformats.org/drawingml/2006/main" prst="straightConnector1">
            <a:avLst/>
          </a:prstGeom>
          <a:ln xmlns:a="http://schemas.openxmlformats.org/drawingml/2006/main" w="28575">
            <a:solidFill>
              <a:srgbClr val="1D8D83"/>
            </a:solidFill>
            <a:prstDash val="solid"/>
            <a:tailEnd type="triangle" w="sm" len="sm"/>
          </a:ln>
        </p:spPr>
      </p:cxnSp>
      <p:cxnSp>
        <p:nvCxnSpPr>
          <p:cNvPr id="84" name=""/>
          <p:cNvCxnSpPr>
            <a:stCxn xmlns:a="http://schemas.openxmlformats.org/drawingml/2006/main" id="25" idx="1"/>
            <a:endCxn xmlns:a="http://schemas.openxmlformats.org/drawingml/2006/main" id="28" idx="3"/>
          </p:cNvCxnSpPr>
          <p:nvPr/>
        </p:nvCxnSpPr>
        <p:spPr>
          <a:xfrm xmlns:a="http://schemas.openxmlformats.org/drawingml/2006/main" flipH="1">
            <a:off x="7296150" y="5700713"/>
            <a:ext cx="704850"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cxnSp>
        <p:nvCxnSpPr>
          <p:cNvPr id="85" name=""/>
          <p:cNvCxnSpPr>
            <a:stCxn xmlns:a="http://schemas.openxmlformats.org/drawingml/2006/main" id="28" idx="1"/>
            <a:endCxn xmlns:a="http://schemas.openxmlformats.org/drawingml/2006/main" id="31" idx="3"/>
          </p:cNvCxnSpPr>
          <p:nvPr/>
        </p:nvCxnSpPr>
        <p:spPr>
          <a:xfrm xmlns:a="http://schemas.openxmlformats.org/drawingml/2006/main" flipH="1">
            <a:off x="3438525" y="5700713"/>
            <a:ext cx="704850" cy="0"/>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38" name="pass-label">
            <a:extLst xmlns:a="http://schemas.openxmlformats.org/drawingml/2006/main">
              <a:ext uri="{FF2B5EF4-FFF2-40B4-BE49-F238E27FC236}">
                <a16:creationId xmlns:a16="http://schemas.microsoft.com/office/drawing/2014/main" id="{6FCC4D16-6375-419C-93D4-162C41F8E7D9}"/>
              </a:ext>
            </a:extLst>
          </p:cNvPr>
          <p:cNvSpPr>
            <a:spLocks xmlns:a="http://schemas.openxmlformats.org/drawingml/2006/main" noGrp="1"/>
          </p:cNvSpPr>
          <p:nvPr/>
        </p:nvSpPr>
        <p:spPr>
          <a:xfrm xmlns:a="http://schemas.openxmlformats.org/drawingml/2006/main">
            <a:off x="3476625" y="5353050"/>
            <a:ext cx="619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3567E8"/>
                </a:solidFill>
                <a:latin typeface="Arial"/>
                <a:ea typeface="Arial"/>
                <a:cs typeface="Arial"/>
              </a:defRPr>
            </a:pPr>
            <a:r>
              <a:rPr sz="1500" b="0">
                <a:solidFill>
                  <a:srgbClr val="3567E8"/>
                </a:solidFill>
                <a:latin typeface="Arial"/>
                <a:ea typeface="Arial"/>
                <a:cs typeface="Arial"/>
              </a:rPr>
              <a:t>Pass</a:t>
            </a:r>
          </a:p>
        </p:txBody>
      </p:sp>
      <p:sp>
        <p:nvSpPr>
          <p:cNvPr id="39" name="revise-cycle0">
            <a:extLst xmlns:a="http://schemas.openxmlformats.org/drawingml/2006/main">
              <a:ext uri="{FF2B5EF4-FFF2-40B4-BE49-F238E27FC236}">
                <a16:creationId xmlns:a16="http://schemas.microsoft.com/office/drawing/2014/main" id="{2D060029-B13E-4B8A-A9AB-2C4DA378DC20}"/>
              </a:ext>
            </a:extLst>
          </p:cNvPr>
          <p:cNvSpPr>
            <a:spLocks xmlns:a="http://schemas.openxmlformats.org/drawingml/2006/main" noGrp="1"/>
          </p:cNvSpPr>
          <p:nvPr/>
        </p:nvSpPr>
        <p:spPr>
          <a:xfrm xmlns:a="http://schemas.openxmlformats.org/drawingml/2006/main">
            <a:off x="5705475" y="6353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0" name="revise-cycle1">
            <a:extLst xmlns:a="http://schemas.openxmlformats.org/drawingml/2006/main">
              <a:ext uri="{FF2B5EF4-FFF2-40B4-BE49-F238E27FC236}">
                <a16:creationId xmlns:a16="http://schemas.microsoft.com/office/drawing/2014/main" id="{B791785F-BFC2-4715-8D64-172C84F38239}"/>
              </a:ext>
            </a:extLst>
          </p:cNvPr>
          <p:cNvSpPr>
            <a:spLocks xmlns:a="http://schemas.openxmlformats.org/drawingml/2006/main" noGrp="1"/>
          </p:cNvSpPr>
          <p:nvPr/>
        </p:nvSpPr>
        <p:spPr>
          <a:xfrm xmlns:a="http://schemas.openxmlformats.org/drawingml/2006/main">
            <a:off x="5705475" y="70008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1" name="revise-cycle2">
            <a:extLst xmlns:a="http://schemas.openxmlformats.org/drawingml/2006/main">
              <a:ext uri="{FF2B5EF4-FFF2-40B4-BE49-F238E27FC236}">
                <a16:creationId xmlns:a16="http://schemas.microsoft.com/office/drawing/2014/main" id="{3F3CF60D-CEA3-49B5-8935-369EDE8BEDE6}"/>
              </a:ext>
            </a:extLst>
          </p:cNvPr>
          <p:cNvSpPr>
            <a:spLocks xmlns:a="http://schemas.openxmlformats.org/drawingml/2006/main" noGrp="1"/>
          </p:cNvSpPr>
          <p:nvPr/>
        </p:nvSpPr>
        <p:spPr>
          <a:xfrm xmlns:a="http://schemas.openxmlformats.org/drawingml/2006/main">
            <a:off x="9363075" y="70008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revise-cycle3">
            <a:extLst xmlns:a="http://schemas.openxmlformats.org/drawingml/2006/main">
              <a:ext uri="{FF2B5EF4-FFF2-40B4-BE49-F238E27FC236}">
                <a16:creationId xmlns:a16="http://schemas.microsoft.com/office/drawing/2014/main" id="{AFBC91C2-6AA0-472E-9885-A44F0472920F}"/>
              </a:ext>
            </a:extLst>
          </p:cNvPr>
          <p:cNvSpPr>
            <a:spLocks xmlns:a="http://schemas.openxmlformats.org/drawingml/2006/main" noGrp="1"/>
          </p:cNvSpPr>
          <p:nvPr/>
        </p:nvSpPr>
        <p:spPr>
          <a:xfrm xmlns:a="http://schemas.openxmlformats.org/drawingml/2006/main">
            <a:off x="9363075" y="6353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1" name=""/>
          <p:cNvCxnSpPr>
            <a:stCxn xmlns:a="http://schemas.openxmlformats.org/drawingml/2006/main" id="39" idx="2"/>
            <a:endCxn xmlns:a="http://schemas.openxmlformats.org/drawingml/2006/main" id="40" idx="0"/>
          </p:cNvCxnSpPr>
          <p:nvPr/>
        </p:nvCxnSpPr>
        <p:spPr>
          <a:xfrm xmlns:a="http://schemas.openxmlformats.org/drawingml/2006/main">
            <a:off x="5715000" y="6372225"/>
            <a:ext cx="0" cy="628650"/>
          </a:xfrm>
          <a:prstGeom xmlns:a="http://schemas.openxmlformats.org/drawingml/2006/main" prst="straightConnector1">
            <a:avLst/>
          </a:prstGeom>
          <a:ln xmlns:a="http://schemas.openxmlformats.org/drawingml/2006/main" w="28575">
            <a:solidFill>
              <a:srgbClr val="9C681F"/>
            </a:solidFill>
            <a:prstDash val="solid"/>
            <a:tailEnd type="none" w="sm" len="sm"/>
          </a:ln>
        </p:spPr>
      </p:cxnSp>
      <p:cxnSp>
        <p:nvCxnSpPr>
          <p:cNvPr id="92" name=""/>
          <p:cNvCxnSpPr>
            <a:stCxn xmlns:a="http://schemas.openxmlformats.org/drawingml/2006/main" id="40" idx="3"/>
            <a:endCxn xmlns:a="http://schemas.openxmlformats.org/drawingml/2006/main" id="41" idx="1"/>
          </p:cNvCxnSpPr>
          <p:nvPr/>
        </p:nvCxnSpPr>
        <p:spPr>
          <a:xfrm xmlns:a="http://schemas.openxmlformats.org/drawingml/2006/main">
            <a:off x="5724525" y="7010400"/>
            <a:ext cx="3638550" cy="0"/>
          </a:xfrm>
          <a:prstGeom xmlns:a="http://schemas.openxmlformats.org/drawingml/2006/main" prst="straightConnector1">
            <a:avLst/>
          </a:prstGeom>
          <a:ln xmlns:a="http://schemas.openxmlformats.org/drawingml/2006/main" w="28575">
            <a:solidFill>
              <a:srgbClr val="9C681F"/>
            </a:solidFill>
            <a:prstDash val="solid"/>
            <a:tailEnd type="none" w="sm" len="sm"/>
          </a:ln>
        </p:spPr>
      </p:cxnSp>
      <p:cxnSp>
        <p:nvCxnSpPr>
          <p:cNvPr id="93" name=""/>
          <p:cNvCxnSpPr>
            <a:stCxn xmlns:a="http://schemas.openxmlformats.org/drawingml/2006/main" id="41" idx="0"/>
            <a:endCxn xmlns:a="http://schemas.openxmlformats.org/drawingml/2006/main" id="42" idx="2"/>
          </p:cNvCxnSpPr>
          <p:nvPr/>
        </p:nvCxnSpPr>
        <p:spPr>
          <a:xfrm xmlns:a="http://schemas.openxmlformats.org/drawingml/2006/main" flipV="1">
            <a:off x="9372600" y="6372225"/>
            <a:ext cx="0" cy="628650"/>
          </a:xfrm>
          <a:prstGeom xmlns:a="http://schemas.openxmlformats.org/drawingml/2006/main" prst="straightConnector1">
            <a:avLst/>
          </a:prstGeom>
          <a:ln xmlns:a="http://schemas.openxmlformats.org/drawingml/2006/main" w="28575">
            <a:solidFill>
              <a:srgbClr val="9C681F"/>
            </a:solidFill>
            <a:prstDash val="solid"/>
            <a:tailEnd type="triangle" w="sm" len="sm"/>
          </a:ln>
        </p:spPr>
      </p:cxnSp>
      <p:sp>
        <p:nvSpPr>
          <p:cNvPr id="46" name="revise-label">
            <a:extLst xmlns:a="http://schemas.openxmlformats.org/drawingml/2006/main">
              <a:ext uri="{FF2B5EF4-FFF2-40B4-BE49-F238E27FC236}">
                <a16:creationId xmlns:a16="http://schemas.microsoft.com/office/drawing/2014/main" id="{71A63E9B-CE9F-4D0D-B88E-D41267A9C97C}"/>
              </a:ext>
            </a:extLst>
          </p:cNvPr>
          <p:cNvSpPr>
            <a:spLocks xmlns:a="http://schemas.openxmlformats.org/drawingml/2006/main" noGrp="1"/>
          </p:cNvSpPr>
          <p:nvPr/>
        </p:nvSpPr>
        <p:spPr>
          <a:xfrm xmlns:a="http://schemas.openxmlformats.org/drawingml/2006/main">
            <a:off x="6029325" y="7143750"/>
            <a:ext cx="3905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9C681F"/>
                </a:solidFill>
                <a:latin typeface="Arial"/>
                <a:ea typeface="Arial"/>
                <a:cs typeface="Arial"/>
              </a:defRPr>
            </a:pPr>
            <a:r>
              <a:rPr sz="1725" b="1">
                <a:solidFill>
                  <a:srgbClr val="9C681F"/>
                </a:solidFill>
                <a:latin typeface="Arial"/>
                <a:ea typeface="Arial"/>
                <a:cs typeface="Arial"/>
              </a:rPr>
              <a:t>Revise once, then recheck</a:t>
            </a:r>
          </a:p>
        </p:txBody>
      </p:sp>
      <p:sp>
        <p:nvSpPr>
          <p:cNvPr id="47" name="block-label">
            <a:extLst xmlns:a="http://schemas.openxmlformats.org/drawingml/2006/main">
              <a:ext uri="{FF2B5EF4-FFF2-40B4-BE49-F238E27FC236}">
                <a16:creationId xmlns:a16="http://schemas.microsoft.com/office/drawing/2014/main" id="{83B1B888-3E14-455F-B024-F8E689F8426F}"/>
              </a:ext>
            </a:extLst>
          </p:cNvPr>
          <p:cNvSpPr>
            <a:spLocks xmlns:a="http://schemas.openxmlformats.org/drawingml/2006/main" noGrp="1"/>
          </p:cNvSpPr>
          <p:nvPr/>
        </p:nvSpPr>
        <p:spPr>
          <a:xfrm xmlns:a="http://schemas.openxmlformats.org/drawingml/2006/main">
            <a:off x="714375" y="7562850"/>
            <a:ext cx="8858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Unverified answer: stop or ask for clarification</a:t>
            </a:r>
          </a:p>
        </p:txBody>
      </p:sp>
      <p:sp>
        <p:nvSpPr>
          <p:cNvPr id="48" name="eval-label">
            <a:extLst xmlns:a="http://schemas.openxmlformats.org/drawingml/2006/main">
              <a:ext uri="{FF2B5EF4-FFF2-40B4-BE49-F238E27FC236}">
                <a16:creationId xmlns:a16="http://schemas.microsoft.com/office/drawing/2014/main" id="{594CFBAF-86D2-4A2A-B063-67778154C223}"/>
              </a:ext>
            </a:extLst>
          </p:cNvPr>
          <p:cNvSpPr>
            <a:spLocks xmlns:a="http://schemas.openxmlformats.org/drawingml/2006/main" noGrp="1"/>
          </p:cNvSpPr>
          <p:nvPr/>
        </p:nvSpPr>
        <p:spPr>
          <a:xfrm xmlns:a="http://schemas.openxmlformats.org/drawingml/2006/main">
            <a:off x="8382000" y="7572375"/>
            <a:ext cx="6172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62738A"/>
                </a:solidFill>
                <a:latin typeface="Arial"/>
                <a:ea typeface="Arial"/>
                <a:cs typeface="Arial"/>
              </a:defRPr>
            </a:pPr>
            <a:r>
              <a:rPr sz="1650" b="0">
                <a:solidFill>
                  <a:srgbClr val="62738A"/>
                </a:solidFill>
                <a:latin typeface="Arial"/>
                <a:ea typeface="Arial"/>
                <a:cs typeface="Arial"/>
              </a:rPr>
              <a:t>Offline testing: Promptfoo + 100 grounded questions</a:t>
            </a:r>
          </a:p>
        </p:txBody>
      </p:sp>
    </p:spTree>
    <p:extLst>
      <p:ext uri="{BB962C8B-B14F-4D97-AF65-F5344CB8AC3E}">
        <p14:creationId xmlns:p14="http://schemas.microsoft.com/office/powerpoint/2010/main" val="474268423"/>
      </p:ext>
    </p:extLst>
  </p:cSld>
</p:sld>
</file>

<file path=ppt/slides/slide5.xml><?xml version="1.0" encoding="utf-8"?>
<p:sld xmlns:p="http://schemas.openxmlformats.org/presentationml/2006/main">
  <p:cSld>
    <p:bg>
      <p:bgPr>
        <a:solidFill xmlns:a="http://schemas.openxmlformats.org/drawingml/2006/main">
          <a:srgbClr val="F7F9FD"/>
        </a:solidFill>
      </p:bgPr>
    </p:bg>
    <p:spTree>
      <p:nvGrpSpPr>
        <p:cNvPr id="1" name=""/>
        <p:cNvGrpSpPr/>
        <p:nvPr/>
      </p:nvGrpSpPr>
      <p:grpSpPr>
        <a:xfrm xmlns:a="http://schemas.openxmlformats.org/drawingml/2006/main"/>
      </p:grpSpPr>
      <p:sp>
        <p:nvSpPr>
          <p:cNvPr id="42" name="title">
            <a:extLst xmlns:a="http://schemas.openxmlformats.org/drawingml/2006/main">
              <a:ext uri="{FF2B5EF4-FFF2-40B4-BE49-F238E27FC236}">
                <a16:creationId xmlns:a16="http://schemas.microsoft.com/office/drawing/2014/main" id="{A2A6FC01-5B70-4B98-A3DD-C88A826FBAD6}"/>
              </a:ext>
            </a:extLst>
          </p:cNvPr>
          <p:cNvSpPr>
            <a:spLocks xmlns:a="http://schemas.openxmlformats.org/drawingml/2006/main" noGrp="1"/>
          </p:cNvSpPr>
          <p:nvPr/>
        </p:nvSpPr>
        <p:spPr>
          <a:xfrm xmlns:a="http://schemas.openxmlformats.org/drawingml/2006/main">
            <a:off x="685800" y="495300"/>
            <a:ext cx="1386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050" b="1">
                <a:solidFill>
                  <a:srgbClr val="101E35"/>
                </a:solidFill>
                <a:latin typeface="Arial"/>
                <a:ea typeface="Arial"/>
                <a:cs typeface="Arial"/>
              </a:defRPr>
            </a:pPr>
            <a:r>
              <a:rPr sz="4050" b="1">
                <a:solidFill>
                  <a:srgbClr val="101E35"/>
                </a:solidFill>
                <a:latin typeface="Arial"/>
                <a:ea typeface="Arial"/>
                <a:cs typeface="Arial"/>
              </a:rPr>
              <a:t>Anomaly detection and customer notifications</a:t>
            </a:r>
          </a:p>
        </p:txBody>
      </p:sp>
      <p:sp>
        <p:nvSpPr>
          <p:cNvPr id="2" name="subtitle">
            <a:extLst xmlns:a="http://schemas.openxmlformats.org/drawingml/2006/main">
              <a:ext uri="{FF2B5EF4-FFF2-40B4-BE49-F238E27FC236}">
                <a16:creationId xmlns:a16="http://schemas.microsoft.com/office/drawing/2014/main" id="{F3176BCB-E198-47FC-883E-3B23ED34013B}"/>
              </a:ext>
            </a:extLst>
          </p:cNvPr>
          <p:cNvSpPr>
            <a:spLocks xmlns:a="http://schemas.openxmlformats.org/drawingml/2006/main" noGrp="1"/>
          </p:cNvSpPr>
          <p:nvPr/>
        </p:nvSpPr>
        <p:spPr>
          <a:xfrm xmlns:a="http://schemas.openxmlformats.org/drawingml/2006/main">
            <a:off x="704850" y="1362075"/>
            <a:ext cx="1381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62738A"/>
                </a:solidFill>
                <a:latin typeface="Arial"/>
                <a:ea typeface="Arial"/>
                <a:cs typeface="Arial"/>
              </a:defRPr>
            </a:pPr>
            <a:r>
              <a:rPr sz="2025" b="0">
                <a:solidFill>
                  <a:srgbClr val="62738A"/>
                </a:solidFill>
                <a:latin typeface="Arial"/>
                <a:ea typeface="Arial"/>
                <a:cs typeface="Arial"/>
              </a:rPr>
              <a:t>Live transaction simulation with explainable detection on each scan</a:t>
            </a:r>
          </a:p>
        </p:txBody>
      </p:sp>
      <p:sp>
        <p:nvSpPr>
          <p:cNvPr id="3" name="footer">
            <a:extLst xmlns:a="http://schemas.openxmlformats.org/drawingml/2006/main">
              <a:ext uri="{FF2B5EF4-FFF2-40B4-BE49-F238E27FC236}">
                <a16:creationId xmlns:a16="http://schemas.microsoft.com/office/drawing/2014/main" id="{25864DCE-880B-46D0-B887-97CF4274915A}"/>
              </a:ext>
            </a:extLst>
          </p:cNvPr>
          <p:cNvSpPr>
            <a:spLocks xmlns:a="http://schemas.openxmlformats.org/drawingml/2006/main" noGrp="1"/>
          </p:cNvSpPr>
          <p:nvPr/>
        </p:nvSpPr>
        <p:spPr>
          <a:xfrm xmlns:a="http://schemas.openxmlformats.org/drawingml/2006/main">
            <a:off x="704850" y="81057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75" b="0">
                <a:solidFill>
                  <a:srgbClr val="62738A"/>
                </a:solidFill>
                <a:latin typeface="Arial"/>
                <a:ea typeface="Arial"/>
                <a:cs typeface="Arial"/>
              </a:defRPr>
            </a:pPr>
            <a:r>
              <a:rPr sz="1275" b="0">
                <a:solidFill>
                  <a:srgbClr val="62738A"/>
                </a:solidFill>
                <a:latin typeface="Arial"/>
                <a:ea typeface="Arial"/>
                <a:cs typeface="Arial"/>
              </a:rPr>
              <a:t>BANK OF Z  /  MAINFRAME MODERNIZATION</a:t>
            </a:r>
          </a:p>
        </p:txBody>
      </p:sp>
      <p:sp>
        <p:nvSpPr>
          <p:cNvPr id="4" name="page">
            <a:extLst xmlns:a="http://schemas.openxmlformats.org/drawingml/2006/main">
              <a:ext uri="{FF2B5EF4-FFF2-40B4-BE49-F238E27FC236}">
                <a16:creationId xmlns:a16="http://schemas.microsoft.com/office/drawing/2014/main" id="{0DFF1AE8-5084-41D4-B5ED-1D61E7231F36}"/>
              </a:ext>
            </a:extLst>
          </p:cNvPr>
          <p:cNvSpPr>
            <a:spLocks xmlns:a="http://schemas.openxmlformats.org/drawingml/2006/main" noGrp="1"/>
          </p:cNvSpPr>
          <p:nvPr/>
        </p:nvSpPr>
        <p:spPr>
          <a:xfrm xmlns:a="http://schemas.openxmlformats.org/drawingml/2006/main">
            <a:off x="13811250" y="8048625"/>
            <a:ext cx="742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650" b="0">
                <a:solidFill>
                  <a:srgbClr val="62738A"/>
                </a:solidFill>
                <a:latin typeface="Arial"/>
                <a:ea typeface="Arial"/>
                <a:cs typeface="Arial"/>
              </a:defRPr>
            </a:pPr>
            <a:r>
              <a:rPr sz="1650" b="0">
                <a:solidFill>
                  <a:srgbClr val="62738A"/>
                </a:solidFill>
                <a:latin typeface="Arial"/>
                <a:ea typeface="Arial"/>
                <a:cs typeface="Arial"/>
              </a:rPr>
              <a:t>05</a:t>
            </a:r>
          </a:p>
        </p:txBody>
      </p:sp>
      <p:sp>
        <p:nvSpPr>
          <p:cNvPr id="5" name="simulation">
            <a:extLst xmlns:a="http://schemas.openxmlformats.org/drawingml/2006/main">
              <a:ext uri="{FF2B5EF4-FFF2-40B4-BE49-F238E27FC236}">
                <a16:creationId xmlns:a16="http://schemas.microsoft.com/office/drawing/2014/main" id="{33745970-B229-4DBF-A035-B8D1667DDAE9}"/>
              </a:ext>
            </a:extLst>
          </p:cNvPr>
          <p:cNvSpPr>
            <a:spLocks xmlns:a="http://schemas.openxmlformats.org/drawingml/2006/main" noGrp="1"/>
          </p:cNvSpPr>
          <p:nvPr/>
        </p:nvSpPr>
        <p:spPr>
          <a:xfrm xmlns:a="http://schemas.openxmlformats.org/drawingml/2006/main">
            <a:off x="685800" y="2800350"/>
            <a:ext cx="3143250" cy="1400175"/>
          </a:xfrm>
          <a:prstGeom xmlns:a="http://schemas.openxmlformats.org/drawingml/2006/main" prst="roundRect">
            <a:avLst>
              <a:gd name="adj" fmla="val 8163"/>
            </a:avLst>
          </a:prstGeom>
          <a:solidFill xmlns:a="http://schemas.openxmlformats.org/drawingml/2006/main">
            <a:srgbClr val="EAF0FD"/>
          </a:solidFill>
          <a:ln xmlns:a="http://schemas.openxmlformats.org/drawingml/2006/main" w="14288">
            <a:solidFill>
              <a:srgbClr val="EAF0FD"/>
            </a:solidFill>
            <a:prstDash val="solid"/>
          </a:ln>
        </p:spPr>
      </p:sp>
      <p:sp>
        <p:nvSpPr>
          <p:cNvPr id="6" name="simulation-name">
            <a:extLst xmlns:a="http://schemas.openxmlformats.org/drawingml/2006/main">
              <a:ext uri="{FF2B5EF4-FFF2-40B4-BE49-F238E27FC236}">
                <a16:creationId xmlns:a16="http://schemas.microsoft.com/office/drawing/2014/main" id="{66F6F7E0-FC50-4CA4-9D83-8C5D9F3E2EC3}"/>
              </a:ext>
            </a:extLst>
          </p:cNvPr>
          <p:cNvSpPr>
            <a:spLocks xmlns:a="http://schemas.openxmlformats.org/drawingml/2006/main" noGrp="1"/>
          </p:cNvSpPr>
          <p:nvPr/>
        </p:nvSpPr>
        <p:spPr>
          <a:xfrm xmlns:a="http://schemas.openxmlformats.org/drawingml/2006/main">
            <a:off x="895350" y="29718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Simulated transactions</a:t>
            </a:r>
          </a:p>
        </p:txBody>
      </p:sp>
      <p:sp>
        <p:nvSpPr>
          <p:cNvPr id="7" name="simulation-sub">
            <a:extLst xmlns:a="http://schemas.openxmlformats.org/drawingml/2006/main">
              <a:ext uri="{FF2B5EF4-FFF2-40B4-BE49-F238E27FC236}">
                <a16:creationId xmlns:a16="http://schemas.microsoft.com/office/drawing/2014/main" id="{643F4939-7112-4268-8D4A-2F2575966F21}"/>
              </a:ext>
            </a:extLst>
          </p:cNvPr>
          <p:cNvSpPr>
            <a:spLocks xmlns:a="http://schemas.openxmlformats.org/drawingml/2006/main" noGrp="1"/>
          </p:cNvSpPr>
          <p:nvPr/>
        </p:nvSpPr>
        <p:spPr>
          <a:xfrm xmlns:a="http://schemas.openxmlformats.org/drawingml/2006/main">
            <a:off x="895350" y="3524250"/>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Normal activity + anomalies</a:t>
            </a:r>
          </a:p>
        </p:txBody>
      </p:sp>
      <p:sp>
        <p:nvSpPr>
          <p:cNvPr id="8" name="bank-api">
            <a:extLst xmlns:a="http://schemas.openxmlformats.org/drawingml/2006/main">
              <a:ext uri="{FF2B5EF4-FFF2-40B4-BE49-F238E27FC236}">
                <a16:creationId xmlns:a16="http://schemas.microsoft.com/office/drawing/2014/main" id="{AEFA4513-D61B-47F8-BC86-E1B15FA1DEFF}"/>
              </a:ext>
            </a:extLst>
          </p:cNvPr>
          <p:cNvSpPr>
            <a:spLocks xmlns:a="http://schemas.openxmlformats.org/drawingml/2006/main" noGrp="1"/>
          </p:cNvSpPr>
          <p:nvPr/>
        </p:nvSpPr>
        <p:spPr>
          <a:xfrm xmlns:a="http://schemas.openxmlformats.org/drawingml/2006/main">
            <a:off x="685800" y="5086350"/>
            <a:ext cx="3143250" cy="1323975"/>
          </a:xfrm>
          <a:prstGeom xmlns:a="http://schemas.openxmlformats.org/drawingml/2006/main" prst="roundRect">
            <a:avLst>
              <a:gd name="adj" fmla="val 8633"/>
            </a:avLst>
          </a:prstGeom>
          <a:solidFill xmlns:a="http://schemas.openxmlformats.org/drawingml/2006/main">
            <a:srgbClr val="FFFFFF"/>
          </a:solidFill>
          <a:ln xmlns:a="http://schemas.openxmlformats.org/drawingml/2006/main" w="14288">
            <a:solidFill>
              <a:srgbClr val="C9D3E2"/>
            </a:solidFill>
            <a:prstDash val="solid"/>
          </a:ln>
        </p:spPr>
      </p:sp>
      <p:sp>
        <p:nvSpPr>
          <p:cNvPr id="9" name="bank-api-name">
            <a:extLst xmlns:a="http://schemas.openxmlformats.org/drawingml/2006/main">
              <a:ext uri="{FF2B5EF4-FFF2-40B4-BE49-F238E27FC236}">
                <a16:creationId xmlns:a16="http://schemas.microsoft.com/office/drawing/2014/main" id="{B533696E-D4D1-4673-B958-B61EF0308681}"/>
              </a:ext>
            </a:extLst>
          </p:cNvPr>
          <p:cNvSpPr>
            <a:spLocks xmlns:a="http://schemas.openxmlformats.org/drawingml/2006/main" noGrp="1"/>
          </p:cNvSpPr>
          <p:nvPr/>
        </p:nvSpPr>
        <p:spPr>
          <a:xfrm xmlns:a="http://schemas.openxmlformats.org/drawingml/2006/main">
            <a:off x="895350" y="52578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62943"/>
                </a:solidFill>
                <a:latin typeface="Arial"/>
                <a:ea typeface="Arial"/>
                <a:cs typeface="Arial"/>
              </a:defRPr>
            </a:pPr>
            <a:r>
              <a:rPr sz="2100" b="1">
                <a:solidFill>
                  <a:srgbClr val="162943"/>
                </a:solidFill>
                <a:latin typeface="Arial"/>
                <a:ea typeface="Arial"/>
                <a:cs typeface="Arial"/>
              </a:rPr>
              <a:t>Bank of Z API</a:t>
            </a:r>
          </a:p>
        </p:txBody>
      </p:sp>
      <p:sp>
        <p:nvSpPr>
          <p:cNvPr id="10" name="bank-api-sub">
            <a:extLst xmlns:a="http://schemas.openxmlformats.org/drawingml/2006/main">
              <a:ext uri="{FF2B5EF4-FFF2-40B4-BE49-F238E27FC236}">
                <a16:creationId xmlns:a16="http://schemas.microsoft.com/office/drawing/2014/main" id="{77DFE47B-33E8-4F6D-A4BB-41FDB39630EF}"/>
              </a:ext>
            </a:extLst>
          </p:cNvPr>
          <p:cNvSpPr>
            <a:spLocks xmlns:a="http://schemas.openxmlformats.org/drawingml/2006/main" noGrp="1"/>
          </p:cNvSpPr>
          <p:nvPr/>
        </p:nvSpPr>
        <p:spPr>
          <a:xfrm xmlns:a="http://schemas.openxmlformats.org/drawingml/2006/main">
            <a:off x="895350" y="5810250"/>
            <a:ext cx="2724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Spring Boot + H2</a:t>
            </a:r>
          </a:p>
        </p:txBody>
      </p:sp>
      <p:cxnSp>
        <p:nvCxnSpPr>
          <p:cNvPr id="52" name=""/>
          <p:cNvCxnSpPr>
            <a:stCxn xmlns:a="http://schemas.openxmlformats.org/drawingml/2006/main" id="5" idx="2"/>
            <a:endCxn xmlns:a="http://schemas.openxmlformats.org/drawingml/2006/main" id="8" idx="0"/>
          </p:cNvCxnSpPr>
          <p:nvPr/>
        </p:nvCxnSpPr>
        <p:spPr>
          <a:xfrm xmlns:a="http://schemas.openxmlformats.org/drawingml/2006/main">
            <a:off x="2257425" y="4200525"/>
            <a:ext cx="0" cy="885825"/>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12" name="rule-engine">
            <a:extLst xmlns:a="http://schemas.openxmlformats.org/drawingml/2006/main">
              <a:ext uri="{FF2B5EF4-FFF2-40B4-BE49-F238E27FC236}">
                <a16:creationId xmlns:a16="http://schemas.microsoft.com/office/drawing/2014/main" id="{B8690CFB-0EF1-4189-8E12-037995AB67F2}"/>
              </a:ext>
            </a:extLst>
          </p:cNvPr>
          <p:cNvSpPr>
            <a:spLocks xmlns:a="http://schemas.openxmlformats.org/drawingml/2006/main" noGrp="1"/>
          </p:cNvSpPr>
          <p:nvPr/>
        </p:nvSpPr>
        <p:spPr>
          <a:xfrm xmlns:a="http://schemas.openxmlformats.org/drawingml/2006/main">
            <a:off x="4695825" y="3333750"/>
            <a:ext cx="3524250" cy="2905125"/>
          </a:xfrm>
          <a:prstGeom xmlns:a="http://schemas.openxmlformats.org/drawingml/2006/main" prst="roundRect">
            <a:avLst>
              <a:gd name="adj" fmla="val 5246"/>
            </a:avLst>
          </a:prstGeom>
          <a:solidFill xmlns:a="http://schemas.openxmlformats.org/drawingml/2006/main">
            <a:srgbClr val="101E35"/>
          </a:solidFill>
          <a:ln xmlns:a="http://schemas.openxmlformats.org/drawingml/2006/main" w="0">
            <a:solidFill>
              <a:srgbClr val="101E35"/>
            </a:solidFill>
            <a:prstDash val="solid"/>
          </a:ln>
        </p:spPr>
      </p:sp>
      <p:sp>
        <p:nvSpPr>
          <p:cNvPr id="13" name="rules-title">
            <a:extLst xmlns:a="http://schemas.openxmlformats.org/drawingml/2006/main">
              <a:ext uri="{FF2B5EF4-FFF2-40B4-BE49-F238E27FC236}">
                <a16:creationId xmlns:a16="http://schemas.microsoft.com/office/drawing/2014/main" id="{964F7B7A-9CF0-4C8C-A940-C53AB1EB1EE9}"/>
              </a:ext>
            </a:extLst>
          </p:cNvPr>
          <p:cNvSpPr>
            <a:spLocks xmlns:a="http://schemas.openxmlformats.org/drawingml/2006/main" noGrp="1"/>
          </p:cNvSpPr>
          <p:nvPr/>
        </p:nvSpPr>
        <p:spPr>
          <a:xfrm xmlns:a="http://schemas.openxmlformats.org/drawingml/2006/main">
            <a:off x="4962525" y="3571875"/>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Rule-based detection</a:t>
            </a:r>
          </a:p>
        </p:txBody>
      </p:sp>
      <p:sp>
        <p:nvSpPr>
          <p:cNvPr id="14" name="rules-amount">
            <a:extLst xmlns:a="http://schemas.openxmlformats.org/drawingml/2006/main">
              <a:ext uri="{FF2B5EF4-FFF2-40B4-BE49-F238E27FC236}">
                <a16:creationId xmlns:a16="http://schemas.microsoft.com/office/drawing/2014/main" id="{1CAAF8E1-A1C2-4B6C-B4DF-4BE2BB6FA20B}"/>
              </a:ext>
            </a:extLst>
          </p:cNvPr>
          <p:cNvSpPr>
            <a:spLocks xmlns:a="http://schemas.openxmlformats.org/drawingml/2006/main" noGrp="1"/>
          </p:cNvSpPr>
          <p:nvPr/>
        </p:nvSpPr>
        <p:spPr>
          <a:xfrm xmlns:a="http://schemas.openxmlformats.org/drawingml/2006/main">
            <a:off x="4962525" y="4333875"/>
            <a:ext cx="295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Unusual amount</a:t>
            </a:r>
          </a:p>
        </p:txBody>
      </p:sp>
      <p:sp>
        <p:nvSpPr>
          <p:cNvPr id="15" name="rules-time">
            <a:extLst xmlns:a="http://schemas.openxmlformats.org/drawingml/2006/main">
              <a:ext uri="{FF2B5EF4-FFF2-40B4-BE49-F238E27FC236}">
                <a16:creationId xmlns:a16="http://schemas.microsoft.com/office/drawing/2014/main" id="{A328163A-3782-46ED-88CE-31E8C6CD1662}"/>
              </a:ext>
            </a:extLst>
          </p:cNvPr>
          <p:cNvSpPr>
            <a:spLocks xmlns:a="http://schemas.openxmlformats.org/drawingml/2006/main" noGrp="1"/>
          </p:cNvSpPr>
          <p:nvPr/>
        </p:nvSpPr>
        <p:spPr>
          <a:xfrm xmlns:a="http://schemas.openxmlformats.org/drawingml/2006/main">
            <a:off x="4962525" y="4867275"/>
            <a:ext cx="295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Unusual time</a:t>
            </a:r>
          </a:p>
        </p:txBody>
      </p:sp>
      <p:sp>
        <p:nvSpPr>
          <p:cNvPr id="16" name="rules-burst">
            <a:extLst xmlns:a="http://schemas.openxmlformats.org/drawingml/2006/main">
              <a:ext uri="{FF2B5EF4-FFF2-40B4-BE49-F238E27FC236}">
                <a16:creationId xmlns:a16="http://schemas.microsoft.com/office/drawing/2014/main" id="{A9391639-F179-496A-9FFB-D4014A4E04B3}"/>
              </a:ext>
            </a:extLst>
          </p:cNvPr>
          <p:cNvSpPr>
            <a:spLocks xmlns:a="http://schemas.openxmlformats.org/drawingml/2006/main" noGrp="1"/>
          </p:cNvSpPr>
          <p:nvPr/>
        </p:nvSpPr>
        <p:spPr>
          <a:xfrm xmlns:a="http://schemas.openxmlformats.org/drawingml/2006/main">
            <a:off x="4962525" y="5400675"/>
            <a:ext cx="295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FFFFFF"/>
                </a:solidFill>
                <a:latin typeface="Arial"/>
                <a:ea typeface="Arial"/>
                <a:cs typeface="Arial"/>
              </a:defRPr>
            </a:pPr>
            <a:r>
              <a:rPr sz="2100" b="0">
                <a:solidFill>
                  <a:srgbClr val="FFFFFF"/>
                </a:solidFill>
                <a:latin typeface="Arial"/>
                <a:ea typeface="Arial"/>
                <a:cs typeface="Arial"/>
              </a:rPr>
              <a:t>Rapid activity</a:t>
            </a:r>
          </a:p>
        </p:txBody>
      </p:sp>
      <p:cxnSp>
        <p:nvCxnSpPr>
          <p:cNvPr id="58" name=""/>
          <p:cNvCxnSpPr>
            <a:stCxn xmlns:a="http://schemas.openxmlformats.org/drawingml/2006/main" id="8" idx="3"/>
            <a:endCxn xmlns:a="http://schemas.openxmlformats.org/drawingml/2006/main" id="12" idx="1"/>
          </p:cNvCxnSpPr>
          <p:nvPr/>
        </p:nvCxnSpPr>
        <p:spPr>
          <a:xfrm xmlns:a="http://schemas.openxmlformats.org/drawingml/2006/main" flipV="1">
            <a:off x="3829050" y="4786313"/>
            <a:ext cx="866775" cy="962025"/>
          </a:xfrm>
          <a:prstGeom xmlns:a="http://schemas.openxmlformats.org/drawingml/2006/main" prst="bentConnector3">
            <a:avLst>
              <a:gd name="adj1" fmla="val 50000"/>
            </a:avLst>
          </a:prstGeom>
          <a:ln xmlns:a="http://schemas.openxmlformats.org/drawingml/2006/main" w="28575">
            <a:solidFill>
              <a:srgbClr val="3567E8"/>
            </a:solidFill>
            <a:prstDash val="solid"/>
            <a:tailEnd type="triangle" w="sm" len="sm"/>
          </a:ln>
        </p:spPr>
      </p:cxnSp>
      <p:sp>
        <p:nvSpPr>
          <p:cNvPr id="18" name="registry">
            <a:extLst xmlns:a="http://schemas.openxmlformats.org/drawingml/2006/main">
              <a:ext uri="{FF2B5EF4-FFF2-40B4-BE49-F238E27FC236}">
                <a16:creationId xmlns:a16="http://schemas.microsoft.com/office/drawing/2014/main" id="{F7724154-6D2C-475C-8A00-30F0CBFB4DFA}"/>
              </a:ext>
            </a:extLst>
          </p:cNvPr>
          <p:cNvSpPr>
            <a:spLocks xmlns:a="http://schemas.openxmlformats.org/drawingml/2006/main" noGrp="1"/>
          </p:cNvSpPr>
          <p:nvPr/>
        </p:nvSpPr>
        <p:spPr>
          <a:xfrm xmlns:a="http://schemas.openxmlformats.org/drawingml/2006/main">
            <a:off x="9201150" y="4152900"/>
            <a:ext cx="2390775" cy="1285875"/>
          </a:xfrm>
          <a:prstGeom xmlns:a="http://schemas.openxmlformats.org/drawingml/2006/main" prst="roundRect">
            <a:avLst>
              <a:gd name="adj" fmla="val 8889"/>
            </a:avLst>
          </a:prstGeom>
          <a:solidFill xmlns:a="http://schemas.openxmlformats.org/drawingml/2006/main">
            <a:srgbClr val="FFF0DB"/>
          </a:solidFill>
          <a:ln xmlns:a="http://schemas.openxmlformats.org/drawingml/2006/main" w="14288">
            <a:solidFill>
              <a:srgbClr val="F4C58A"/>
            </a:solidFill>
            <a:prstDash val="solid"/>
          </a:ln>
        </p:spPr>
      </p:sp>
      <p:sp>
        <p:nvSpPr>
          <p:cNvPr id="19" name="registry-name">
            <a:extLst xmlns:a="http://schemas.openxmlformats.org/drawingml/2006/main">
              <a:ext uri="{FF2B5EF4-FFF2-40B4-BE49-F238E27FC236}">
                <a16:creationId xmlns:a16="http://schemas.microsoft.com/office/drawing/2014/main" id="{4F23A100-EC35-4A12-9386-4A0496B557A3}"/>
              </a:ext>
            </a:extLst>
          </p:cNvPr>
          <p:cNvSpPr>
            <a:spLocks xmlns:a="http://schemas.openxmlformats.org/drawingml/2006/main" noGrp="1"/>
          </p:cNvSpPr>
          <p:nvPr/>
        </p:nvSpPr>
        <p:spPr>
          <a:xfrm xmlns:a="http://schemas.openxmlformats.org/drawingml/2006/main">
            <a:off x="9410700" y="4324350"/>
            <a:ext cx="19716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62943"/>
                </a:solidFill>
                <a:latin typeface="Arial"/>
                <a:ea typeface="Arial"/>
                <a:cs typeface="Arial"/>
              </a:defRPr>
            </a:pPr>
            <a:r>
              <a:rPr sz="2175" b="1">
                <a:solidFill>
                  <a:srgbClr val="162943"/>
                </a:solidFill>
                <a:latin typeface="Arial"/>
                <a:ea typeface="Arial"/>
                <a:cs typeface="Arial"/>
              </a:rPr>
              <a:t>New alert</a:t>
            </a:r>
          </a:p>
        </p:txBody>
      </p:sp>
      <p:sp>
        <p:nvSpPr>
          <p:cNvPr id="20" name="registry-sub">
            <a:extLst xmlns:a="http://schemas.openxmlformats.org/drawingml/2006/main">
              <a:ext uri="{FF2B5EF4-FFF2-40B4-BE49-F238E27FC236}">
                <a16:creationId xmlns:a16="http://schemas.microsoft.com/office/drawing/2014/main" id="{7023306C-A986-4A54-8774-8AA8A4D2DFBD}"/>
              </a:ext>
            </a:extLst>
          </p:cNvPr>
          <p:cNvSpPr>
            <a:spLocks xmlns:a="http://schemas.openxmlformats.org/drawingml/2006/main" noGrp="1"/>
          </p:cNvSpPr>
          <p:nvPr/>
        </p:nvSpPr>
        <p:spPr>
          <a:xfrm xmlns:a="http://schemas.openxmlformats.org/drawingml/2006/main">
            <a:off x="9410700" y="4876800"/>
            <a:ext cx="197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SQLite registry</a:t>
            </a:r>
          </a:p>
        </p:txBody>
      </p:sp>
      <p:cxnSp>
        <p:nvCxnSpPr>
          <p:cNvPr id="62" name=""/>
          <p:cNvCxnSpPr>
            <a:stCxn xmlns:a="http://schemas.openxmlformats.org/drawingml/2006/main" id="12" idx="3"/>
            <a:endCxn xmlns:a="http://schemas.openxmlformats.org/drawingml/2006/main" id="18" idx="1"/>
          </p:cNvCxnSpPr>
          <p:nvPr/>
        </p:nvCxnSpPr>
        <p:spPr>
          <a:xfrm xmlns:a="http://schemas.openxmlformats.org/drawingml/2006/main">
            <a:off x="8220075" y="4786313"/>
            <a:ext cx="981075" cy="9525"/>
          </a:xfrm>
          <a:prstGeom xmlns:a="http://schemas.openxmlformats.org/drawingml/2006/main" prst="straightConnector1">
            <a:avLst/>
          </a:prstGeom>
          <a:ln xmlns:a="http://schemas.openxmlformats.org/drawingml/2006/main" w="28575">
            <a:solidFill>
              <a:srgbClr val="B77A25"/>
            </a:solidFill>
            <a:prstDash val="solid"/>
            <a:tailEnd type="triangle" w="sm" len="sm"/>
          </a:ln>
        </p:spPr>
      </p:cxnSp>
      <p:sp>
        <p:nvSpPr>
          <p:cNvPr id="22" name="bank-review">
            <a:extLst xmlns:a="http://schemas.openxmlformats.org/drawingml/2006/main">
              <a:ext uri="{FF2B5EF4-FFF2-40B4-BE49-F238E27FC236}">
                <a16:creationId xmlns:a16="http://schemas.microsoft.com/office/drawing/2014/main" id="{910F354C-7D9A-4CA4-9410-F7F7DDC38587}"/>
              </a:ext>
            </a:extLst>
          </p:cNvPr>
          <p:cNvSpPr>
            <a:spLocks xmlns:a="http://schemas.openxmlformats.org/drawingml/2006/main" noGrp="1"/>
          </p:cNvSpPr>
          <p:nvPr/>
        </p:nvSpPr>
        <p:spPr>
          <a:xfrm xmlns:a="http://schemas.openxmlformats.org/drawingml/2006/main">
            <a:off x="12068175" y="2362200"/>
            <a:ext cx="2486025" cy="1152525"/>
          </a:xfrm>
          <a:prstGeom xmlns:a="http://schemas.openxmlformats.org/drawingml/2006/main" prst="roundRect">
            <a:avLst>
              <a:gd name="adj" fmla="val 9917"/>
            </a:avLst>
          </a:prstGeom>
          <a:solidFill xmlns:a="http://schemas.openxmlformats.org/drawingml/2006/main">
            <a:srgbClr val="FFFFFF"/>
          </a:solidFill>
          <a:ln xmlns:a="http://schemas.openxmlformats.org/drawingml/2006/main" w="14288">
            <a:solidFill>
              <a:srgbClr val="C9D3E2"/>
            </a:solidFill>
            <a:prstDash val="solid"/>
          </a:ln>
        </p:spPr>
      </p:sp>
      <p:sp>
        <p:nvSpPr>
          <p:cNvPr id="23" name="bank-review-name">
            <a:extLst xmlns:a="http://schemas.openxmlformats.org/drawingml/2006/main">
              <a:ext uri="{FF2B5EF4-FFF2-40B4-BE49-F238E27FC236}">
                <a16:creationId xmlns:a16="http://schemas.microsoft.com/office/drawing/2014/main" id="{B98A1676-99A6-4AF3-BF84-2035AA9B743A}"/>
              </a:ext>
            </a:extLst>
          </p:cNvPr>
          <p:cNvSpPr>
            <a:spLocks xmlns:a="http://schemas.openxmlformats.org/drawingml/2006/main" noGrp="1"/>
          </p:cNvSpPr>
          <p:nvPr/>
        </p:nvSpPr>
        <p:spPr>
          <a:xfrm xmlns:a="http://schemas.openxmlformats.org/drawingml/2006/main">
            <a:off x="12277725" y="2533650"/>
            <a:ext cx="2066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Bank review</a:t>
            </a:r>
          </a:p>
        </p:txBody>
      </p:sp>
      <p:sp>
        <p:nvSpPr>
          <p:cNvPr id="24" name="bank-review-sub">
            <a:extLst xmlns:a="http://schemas.openxmlformats.org/drawingml/2006/main">
              <a:ext uri="{FF2B5EF4-FFF2-40B4-BE49-F238E27FC236}">
                <a16:creationId xmlns:a16="http://schemas.microsoft.com/office/drawing/2014/main" id="{608B40C8-6456-49AD-893D-16367644E061}"/>
              </a:ext>
            </a:extLst>
          </p:cNvPr>
          <p:cNvSpPr>
            <a:spLocks xmlns:a="http://schemas.openxmlformats.org/drawingml/2006/main" noGrp="1"/>
          </p:cNvSpPr>
          <p:nvPr/>
        </p:nvSpPr>
        <p:spPr>
          <a:xfrm xmlns:a="http://schemas.openxmlformats.org/drawingml/2006/main">
            <a:off x="12277725" y="3086100"/>
            <a:ext cx="20669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Large credits retained</a:t>
            </a:r>
          </a:p>
        </p:txBody>
      </p:sp>
      <p:sp>
        <p:nvSpPr>
          <p:cNvPr id="25" name="bank-branch0">
            <a:extLst xmlns:a="http://schemas.openxmlformats.org/drawingml/2006/main">
              <a:ext uri="{FF2B5EF4-FFF2-40B4-BE49-F238E27FC236}">
                <a16:creationId xmlns:a16="http://schemas.microsoft.com/office/drawing/2014/main" id="{FA389BD1-95C0-46A7-B897-071BC516775D}"/>
              </a:ext>
            </a:extLst>
          </p:cNvPr>
          <p:cNvSpPr>
            <a:spLocks xmlns:a="http://schemas.openxmlformats.org/drawingml/2006/main" noGrp="1"/>
          </p:cNvSpPr>
          <p:nvPr/>
        </p:nvSpPr>
        <p:spPr>
          <a:xfrm xmlns:a="http://schemas.openxmlformats.org/drawingml/2006/main">
            <a:off x="10391775" y="41433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6" name="bank-branch1">
            <a:extLst xmlns:a="http://schemas.openxmlformats.org/drawingml/2006/main">
              <a:ext uri="{FF2B5EF4-FFF2-40B4-BE49-F238E27FC236}">
                <a16:creationId xmlns:a16="http://schemas.microsoft.com/office/drawing/2014/main" id="{5B235301-9111-478A-879F-7D33858175AD}"/>
              </a:ext>
            </a:extLst>
          </p:cNvPr>
          <p:cNvSpPr>
            <a:spLocks xmlns:a="http://schemas.openxmlformats.org/drawingml/2006/main" noGrp="1"/>
          </p:cNvSpPr>
          <p:nvPr/>
        </p:nvSpPr>
        <p:spPr>
          <a:xfrm xmlns:a="http://schemas.openxmlformats.org/drawingml/2006/main">
            <a:off x="10391775" y="29337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bank-branch2">
            <a:extLst xmlns:a="http://schemas.openxmlformats.org/drawingml/2006/main">
              <a:ext uri="{FF2B5EF4-FFF2-40B4-BE49-F238E27FC236}">
                <a16:creationId xmlns:a16="http://schemas.microsoft.com/office/drawing/2014/main" id="{49E0CEFD-699D-485B-9EBF-14F919B0BF98}"/>
              </a:ext>
            </a:extLst>
          </p:cNvPr>
          <p:cNvSpPr>
            <a:spLocks xmlns:a="http://schemas.openxmlformats.org/drawingml/2006/main" noGrp="1"/>
          </p:cNvSpPr>
          <p:nvPr/>
        </p:nvSpPr>
        <p:spPr>
          <a:xfrm xmlns:a="http://schemas.openxmlformats.org/drawingml/2006/main">
            <a:off x="12058650" y="29337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69" name=""/>
          <p:cNvCxnSpPr>
            <a:stCxn xmlns:a="http://schemas.openxmlformats.org/drawingml/2006/main" id="25" idx="0"/>
            <a:endCxn xmlns:a="http://schemas.openxmlformats.org/drawingml/2006/main" id="26" idx="2"/>
          </p:cNvCxnSpPr>
          <p:nvPr/>
        </p:nvCxnSpPr>
        <p:spPr>
          <a:xfrm xmlns:a="http://schemas.openxmlformats.org/drawingml/2006/main" flipV="1">
            <a:off x="10401300" y="2952750"/>
            <a:ext cx="0" cy="1190625"/>
          </a:xfrm>
          <a:prstGeom xmlns:a="http://schemas.openxmlformats.org/drawingml/2006/main" prst="straightConnector1">
            <a:avLst/>
          </a:prstGeom>
          <a:ln xmlns:a="http://schemas.openxmlformats.org/drawingml/2006/main" w="28575">
            <a:solidFill>
              <a:srgbClr val="62738A"/>
            </a:solidFill>
            <a:prstDash val="solid"/>
            <a:tailEnd type="none" w="sm" len="sm"/>
          </a:ln>
        </p:spPr>
      </p:cxnSp>
      <p:cxnSp>
        <p:nvCxnSpPr>
          <p:cNvPr id="70" name=""/>
          <p:cNvCxnSpPr>
            <a:stCxn xmlns:a="http://schemas.openxmlformats.org/drawingml/2006/main" id="26" idx="3"/>
            <a:endCxn xmlns:a="http://schemas.openxmlformats.org/drawingml/2006/main" id="27" idx="1"/>
          </p:cNvCxnSpPr>
          <p:nvPr/>
        </p:nvCxnSpPr>
        <p:spPr>
          <a:xfrm xmlns:a="http://schemas.openxmlformats.org/drawingml/2006/main">
            <a:off x="10410825" y="2943225"/>
            <a:ext cx="1647825" cy="0"/>
          </a:xfrm>
          <a:prstGeom xmlns:a="http://schemas.openxmlformats.org/drawingml/2006/main" prst="straightConnector1">
            <a:avLst/>
          </a:prstGeom>
          <a:ln xmlns:a="http://schemas.openxmlformats.org/drawingml/2006/main" w="28575">
            <a:solidFill>
              <a:srgbClr val="62738A"/>
            </a:solidFill>
            <a:prstDash val="solid"/>
            <a:tailEnd type="triangle" w="sm" len="sm"/>
          </a:ln>
        </p:spPr>
      </p:cxnSp>
      <p:sp>
        <p:nvSpPr>
          <p:cNvPr id="30" name="draft">
            <a:extLst xmlns:a="http://schemas.openxmlformats.org/drawingml/2006/main">
              <a:ext uri="{FF2B5EF4-FFF2-40B4-BE49-F238E27FC236}">
                <a16:creationId xmlns:a16="http://schemas.microsoft.com/office/drawing/2014/main" id="{CADF3AFF-8500-4968-B29A-EB761C993BEB}"/>
              </a:ext>
            </a:extLst>
          </p:cNvPr>
          <p:cNvSpPr>
            <a:spLocks xmlns:a="http://schemas.openxmlformats.org/drawingml/2006/main" noGrp="1"/>
          </p:cNvSpPr>
          <p:nvPr/>
        </p:nvSpPr>
        <p:spPr>
          <a:xfrm xmlns:a="http://schemas.openxmlformats.org/drawingml/2006/main">
            <a:off x="12068175" y="4152900"/>
            <a:ext cx="2486025" cy="1285875"/>
          </a:xfrm>
          <a:prstGeom xmlns:a="http://schemas.openxmlformats.org/drawingml/2006/main" prst="roundRect">
            <a:avLst>
              <a:gd name="adj" fmla="val 8889"/>
            </a:avLst>
          </a:prstGeom>
          <a:solidFill xmlns:a="http://schemas.openxmlformats.org/drawingml/2006/main">
            <a:srgbClr val="FFF0DB"/>
          </a:solidFill>
          <a:ln xmlns:a="http://schemas.openxmlformats.org/drawingml/2006/main" w="14288">
            <a:solidFill>
              <a:srgbClr val="F4C58A"/>
            </a:solidFill>
            <a:prstDash val="solid"/>
          </a:ln>
        </p:spPr>
      </p:sp>
      <p:sp>
        <p:nvSpPr>
          <p:cNvPr id="31" name="draft-name">
            <a:extLst xmlns:a="http://schemas.openxmlformats.org/drawingml/2006/main">
              <a:ext uri="{FF2B5EF4-FFF2-40B4-BE49-F238E27FC236}">
                <a16:creationId xmlns:a16="http://schemas.microsoft.com/office/drawing/2014/main" id="{8EB0CE5F-4F01-4CDF-9A00-1FEC03A9661C}"/>
              </a:ext>
            </a:extLst>
          </p:cNvPr>
          <p:cNvSpPr>
            <a:spLocks xmlns:a="http://schemas.openxmlformats.org/drawingml/2006/main" noGrp="1"/>
          </p:cNvSpPr>
          <p:nvPr/>
        </p:nvSpPr>
        <p:spPr>
          <a:xfrm xmlns:a="http://schemas.openxmlformats.org/drawingml/2006/main">
            <a:off x="12277725" y="4324350"/>
            <a:ext cx="2066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162943"/>
                </a:solidFill>
                <a:latin typeface="Arial"/>
                <a:ea typeface="Arial"/>
                <a:cs typeface="Arial"/>
              </a:defRPr>
            </a:pPr>
            <a:r>
              <a:rPr sz="2025" b="1">
                <a:solidFill>
                  <a:srgbClr val="162943"/>
                </a:solidFill>
                <a:latin typeface="Arial"/>
                <a:ea typeface="Arial"/>
                <a:cs typeface="Arial"/>
              </a:rPr>
              <a:t>Customer email</a:t>
            </a:r>
          </a:p>
        </p:txBody>
      </p:sp>
      <p:sp>
        <p:nvSpPr>
          <p:cNvPr id="32" name="draft-sub">
            <a:extLst xmlns:a="http://schemas.openxmlformats.org/drawingml/2006/main">
              <a:ext uri="{FF2B5EF4-FFF2-40B4-BE49-F238E27FC236}">
                <a16:creationId xmlns:a16="http://schemas.microsoft.com/office/drawing/2014/main" id="{9A8B415D-DE09-4AB7-BC01-232CE9A716AC}"/>
              </a:ext>
            </a:extLst>
          </p:cNvPr>
          <p:cNvSpPr>
            <a:spLocks xmlns:a="http://schemas.openxmlformats.org/drawingml/2006/main" noGrp="1"/>
          </p:cNvSpPr>
          <p:nvPr/>
        </p:nvSpPr>
        <p:spPr>
          <a:xfrm xmlns:a="http://schemas.openxmlformats.org/drawingml/2006/main">
            <a:off x="12277725" y="4876800"/>
            <a:ext cx="20669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Groq draft</a:t>
            </a:r>
          </a:p>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Python fact checks</a:t>
            </a:r>
          </a:p>
        </p:txBody>
      </p:sp>
      <p:cxnSp>
        <p:nvCxnSpPr>
          <p:cNvPr id="74" name=""/>
          <p:cNvCxnSpPr>
            <a:stCxn xmlns:a="http://schemas.openxmlformats.org/drawingml/2006/main" id="18" idx="3"/>
            <a:endCxn xmlns:a="http://schemas.openxmlformats.org/drawingml/2006/main" id="30" idx="1"/>
          </p:cNvCxnSpPr>
          <p:nvPr/>
        </p:nvCxnSpPr>
        <p:spPr>
          <a:xfrm xmlns:a="http://schemas.openxmlformats.org/drawingml/2006/main">
            <a:off x="11591925" y="4795838"/>
            <a:ext cx="476250" cy="0"/>
          </a:xfrm>
          <a:prstGeom xmlns:a="http://schemas.openxmlformats.org/drawingml/2006/main" prst="straightConnector1">
            <a:avLst/>
          </a:prstGeom>
          <a:ln xmlns:a="http://schemas.openxmlformats.org/drawingml/2006/main" w="28575">
            <a:solidFill>
              <a:srgbClr val="B77A25"/>
            </a:solidFill>
            <a:prstDash val="solid"/>
            <a:tailEnd type="triangle" w="sm" len="sm"/>
          </a:ln>
        </p:spPr>
      </p:cxnSp>
      <p:sp>
        <p:nvSpPr>
          <p:cNvPr id="34" name="mailpit">
            <a:extLst xmlns:a="http://schemas.openxmlformats.org/drawingml/2006/main">
              <a:ext uri="{FF2B5EF4-FFF2-40B4-BE49-F238E27FC236}">
                <a16:creationId xmlns:a16="http://schemas.microsoft.com/office/drawing/2014/main" id="{63F09FD8-B251-4D76-A01A-C268EA1F12AD}"/>
              </a:ext>
            </a:extLst>
          </p:cNvPr>
          <p:cNvSpPr>
            <a:spLocks xmlns:a="http://schemas.openxmlformats.org/drawingml/2006/main" noGrp="1"/>
          </p:cNvSpPr>
          <p:nvPr/>
        </p:nvSpPr>
        <p:spPr>
          <a:xfrm xmlns:a="http://schemas.openxmlformats.org/drawingml/2006/main">
            <a:off x="12068175" y="6210300"/>
            <a:ext cx="2486025" cy="1238250"/>
          </a:xfrm>
          <a:prstGeom xmlns:a="http://schemas.openxmlformats.org/drawingml/2006/main" prst="roundRect">
            <a:avLst>
              <a:gd name="adj" fmla="val 9231"/>
            </a:avLst>
          </a:prstGeom>
          <a:solidFill xmlns:a="http://schemas.openxmlformats.org/drawingml/2006/main">
            <a:srgbClr val="3567E8"/>
          </a:solidFill>
          <a:ln xmlns:a="http://schemas.openxmlformats.org/drawingml/2006/main" w="14288">
            <a:solidFill>
              <a:srgbClr val="3567E8"/>
            </a:solidFill>
            <a:prstDash val="solid"/>
          </a:ln>
        </p:spPr>
      </p:sp>
      <p:sp>
        <p:nvSpPr>
          <p:cNvPr id="35" name="mailpit-name">
            <a:extLst xmlns:a="http://schemas.openxmlformats.org/drawingml/2006/main">
              <a:ext uri="{FF2B5EF4-FFF2-40B4-BE49-F238E27FC236}">
                <a16:creationId xmlns:a16="http://schemas.microsoft.com/office/drawing/2014/main" id="{CB1890F1-8404-42C0-9BF5-E7354925C465}"/>
              </a:ext>
            </a:extLst>
          </p:cNvPr>
          <p:cNvSpPr>
            <a:spLocks xmlns:a="http://schemas.openxmlformats.org/drawingml/2006/main" noGrp="1"/>
          </p:cNvSpPr>
          <p:nvPr/>
        </p:nvSpPr>
        <p:spPr>
          <a:xfrm xmlns:a="http://schemas.openxmlformats.org/drawingml/2006/main">
            <a:off x="12277725" y="6381750"/>
            <a:ext cx="2066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Mailpit inbox</a:t>
            </a:r>
          </a:p>
        </p:txBody>
      </p:sp>
      <p:sp>
        <p:nvSpPr>
          <p:cNvPr id="36" name="mailpit-sub">
            <a:extLst xmlns:a="http://schemas.openxmlformats.org/drawingml/2006/main">
              <a:ext uri="{FF2B5EF4-FFF2-40B4-BE49-F238E27FC236}">
                <a16:creationId xmlns:a16="http://schemas.microsoft.com/office/drawing/2014/main" id="{C83ABFDE-8782-4F88-B39D-AED3D99BB638}"/>
              </a:ext>
            </a:extLst>
          </p:cNvPr>
          <p:cNvSpPr>
            <a:spLocks xmlns:a="http://schemas.openxmlformats.org/drawingml/2006/main" noGrp="1"/>
          </p:cNvSpPr>
          <p:nvPr/>
        </p:nvSpPr>
        <p:spPr>
          <a:xfrm xmlns:a="http://schemas.openxmlformats.org/drawingml/2006/main">
            <a:off x="12277725" y="6934200"/>
            <a:ext cx="20669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DDE7FF"/>
                </a:solidFill>
                <a:latin typeface="Arial"/>
                <a:ea typeface="Arial"/>
                <a:cs typeface="Arial"/>
              </a:defRPr>
            </a:pPr>
            <a:r>
              <a:rPr sz="1725" b="0">
                <a:solidFill>
                  <a:srgbClr val="DDE7FF"/>
                </a:solidFill>
                <a:latin typeface="Arial"/>
                <a:ea typeface="Arial"/>
                <a:cs typeface="Arial"/>
              </a:rPr>
              <a:t>Local test delivery</a:t>
            </a:r>
          </a:p>
        </p:txBody>
      </p:sp>
      <p:cxnSp>
        <p:nvCxnSpPr>
          <p:cNvPr id="78" name=""/>
          <p:cNvCxnSpPr>
            <a:stCxn xmlns:a="http://schemas.openxmlformats.org/drawingml/2006/main" id="30" idx="2"/>
            <a:endCxn xmlns:a="http://schemas.openxmlformats.org/drawingml/2006/main" id="34" idx="0"/>
          </p:cNvCxnSpPr>
          <p:nvPr/>
        </p:nvCxnSpPr>
        <p:spPr>
          <a:xfrm xmlns:a="http://schemas.openxmlformats.org/drawingml/2006/main">
            <a:off x="13311188" y="5438775"/>
            <a:ext cx="0" cy="771525"/>
          </a:xfrm>
          <a:prstGeom xmlns:a="http://schemas.openxmlformats.org/drawingml/2006/main" prst="straightConnector1">
            <a:avLst/>
          </a:prstGeom>
          <a:ln xmlns:a="http://schemas.openxmlformats.org/drawingml/2006/main" w="28575">
            <a:solidFill>
              <a:srgbClr val="3567E8"/>
            </a:solidFill>
            <a:prstDash val="solid"/>
            <a:tailEnd type="triangle" w="sm" len="sm"/>
          </a:ln>
        </p:spPr>
      </p:cxnSp>
      <p:sp>
        <p:nvSpPr>
          <p:cNvPr id="38" name="duplicate">
            <a:extLst xmlns:a="http://schemas.openxmlformats.org/drawingml/2006/main">
              <a:ext uri="{FF2B5EF4-FFF2-40B4-BE49-F238E27FC236}">
                <a16:creationId xmlns:a16="http://schemas.microsoft.com/office/drawing/2014/main" id="{8893D478-3039-4571-B4E3-FD6E564DFCA6}"/>
              </a:ext>
            </a:extLst>
          </p:cNvPr>
          <p:cNvSpPr>
            <a:spLocks xmlns:a="http://schemas.openxmlformats.org/drawingml/2006/main" noGrp="1"/>
          </p:cNvSpPr>
          <p:nvPr/>
        </p:nvSpPr>
        <p:spPr>
          <a:xfrm xmlns:a="http://schemas.openxmlformats.org/drawingml/2006/main">
            <a:off x="4695825" y="6781800"/>
            <a:ext cx="6457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101E35"/>
                </a:solidFill>
                <a:latin typeface="Arial"/>
                <a:ea typeface="Arial"/>
                <a:cs typeface="Arial"/>
              </a:defRPr>
            </a:pPr>
            <a:r>
              <a:rPr sz="2400" b="1">
                <a:solidFill>
                  <a:srgbClr val="101E35"/>
                </a:solidFill>
                <a:latin typeface="Arial"/>
                <a:ea typeface="Arial"/>
                <a:cs typeface="Arial"/>
              </a:rPr>
              <a:t>One alert per transaction</a:t>
            </a:r>
          </a:p>
        </p:txBody>
      </p:sp>
      <p:sp>
        <p:nvSpPr>
          <p:cNvPr id="39" name="status">
            <a:extLst xmlns:a="http://schemas.openxmlformats.org/drawingml/2006/main">
              <a:ext uri="{FF2B5EF4-FFF2-40B4-BE49-F238E27FC236}">
                <a16:creationId xmlns:a16="http://schemas.microsoft.com/office/drawing/2014/main" id="{A6732318-2780-4999-B328-9603BEDBEEFB}"/>
              </a:ext>
            </a:extLst>
          </p:cNvPr>
          <p:cNvSpPr>
            <a:spLocks xmlns:a="http://schemas.openxmlformats.org/drawingml/2006/main" noGrp="1"/>
          </p:cNvSpPr>
          <p:nvPr/>
        </p:nvSpPr>
        <p:spPr>
          <a:xfrm xmlns:a="http://schemas.openxmlformats.org/drawingml/2006/main">
            <a:off x="4695825" y="7267575"/>
            <a:ext cx="645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62738A"/>
                </a:solidFill>
                <a:latin typeface="Arial"/>
                <a:ea typeface="Arial"/>
                <a:cs typeface="Arial"/>
              </a:defRPr>
            </a:pPr>
            <a:r>
              <a:rPr sz="1800" b="0">
                <a:solidFill>
                  <a:srgbClr val="62738A"/>
                </a:solidFill>
                <a:latin typeface="Arial"/>
                <a:ea typeface="Arial"/>
                <a:cs typeface="Arial"/>
              </a:rPr>
              <a:t>Track delivery status and prevent repeat notifications</a:t>
            </a:r>
          </a:p>
        </p:txBody>
      </p:sp>
      <p:sp>
        <p:nvSpPr>
          <p:cNvPr id="40" name="sim-note">
            <a:extLst xmlns:a="http://schemas.openxmlformats.org/drawingml/2006/main">
              <a:ext uri="{FF2B5EF4-FFF2-40B4-BE49-F238E27FC236}">
                <a16:creationId xmlns:a16="http://schemas.microsoft.com/office/drawing/2014/main" id="{659D6157-F3E3-42DB-B6EB-9341F4AF1713}"/>
              </a:ext>
            </a:extLst>
          </p:cNvPr>
          <p:cNvSpPr>
            <a:spLocks xmlns:a="http://schemas.openxmlformats.org/drawingml/2006/main" noGrp="1"/>
          </p:cNvSpPr>
          <p:nvPr/>
        </p:nvSpPr>
        <p:spPr>
          <a:xfrm xmlns:a="http://schemas.openxmlformats.org/drawingml/2006/main">
            <a:off x="685800" y="68294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62738A"/>
                </a:solidFill>
                <a:latin typeface="Arial"/>
                <a:ea typeface="Arial"/>
                <a:cs typeface="Arial"/>
              </a:defRPr>
            </a:pPr>
            <a:r>
              <a:rPr sz="1725" b="0">
                <a:solidFill>
                  <a:srgbClr val="62738A"/>
                </a:solidFill>
                <a:latin typeface="Arial"/>
                <a:ea typeface="Arial"/>
                <a:cs typeface="Arial"/>
              </a:rPr>
              <a:t>Synthetic data</a:t>
            </a:r>
          </a:p>
        </p:txBody>
      </p:sp>
      <p:sp>
        <p:nvSpPr>
          <p:cNvPr id="41" name="scan-note">
            <a:extLst xmlns:a="http://schemas.openxmlformats.org/drawingml/2006/main">
              <a:ext uri="{FF2B5EF4-FFF2-40B4-BE49-F238E27FC236}">
                <a16:creationId xmlns:a16="http://schemas.microsoft.com/office/drawing/2014/main" id="{4E5344A2-507E-42F8-8F58-E24D681EDEB1}"/>
              </a:ext>
            </a:extLst>
          </p:cNvPr>
          <p:cNvSpPr>
            <a:spLocks xmlns:a="http://schemas.openxmlformats.org/drawingml/2006/main" noGrp="1"/>
          </p:cNvSpPr>
          <p:nvPr/>
        </p:nvSpPr>
        <p:spPr>
          <a:xfrm xmlns:a="http://schemas.openxmlformats.org/drawingml/2006/main">
            <a:off x="9201150" y="5686425"/>
            <a:ext cx="23907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2738A"/>
                </a:solidFill>
                <a:latin typeface="Arial"/>
                <a:ea typeface="Arial"/>
                <a:cs typeface="Arial"/>
              </a:defRPr>
            </a:pPr>
            <a:r>
              <a:rPr sz="1650" b="0">
                <a:solidFill>
                  <a:srgbClr val="62738A"/>
                </a:solidFill>
                <a:latin typeface="Arial"/>
                <a:ea typeface="Arial"/>
                <a:cs typeface="Arial"/>
              </a:rPr>
              <a:t>Detection runs per scan</a:t>
            </a:r>
          </a:p>
        </p:txBody>
      </p:sp>
    </p:spTree>
    <p:extLst>
      <p:ext uri="{BB962C8B-B14F-4D97-AF65-F5344CB8AC3E}">
        <p14:creationId xmlns:p14="http://schemas.microsoft.com/office/powerpoint/2010/main" val="13350018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2026-09-29T15:29:41.3670000Z</dcterms:created>
  <dcterms:modified xsi:type="dcterms:W3CDTF">2026-09-29T15:29:41.3670000Z</dcterms:modified>
</coreProperties>
</file>