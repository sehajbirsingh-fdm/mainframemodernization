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bf219797b84942" /><Relationship Type="http://schemas.openxmlformats.org/officeDocument/2006/relationships/extended-properties" Target="/docProps/app.xml" Id="Rf128b7e1814b4a9d" /><Relationship Type="http://schemas.openxmlformats.org/officeDocument/2006/relationships/officeDocument" Target="/ppt/presentation.xml" Id="Rd9bd09c0df5741db" /></Relationships>
</file>

<file path=ppt/presentation.xml><?xml version="1.0" encoding="utf-8"?>
<p:presentation xmlns:p="http://schemas.openxmlformats.org/presentationml/2006/main">
  <p:sldMasterIdLst>
    <p:sldMasterId xmlns:r="http://schemas.openxmlformats.org/officeDocument/2006/relationships" id="2147483648" r:id="R2332961725284414"/>
  </p:sldMasterIdLst>
  <p:notesMasterIdLst>
    <p:notesMasterId xmlns:r="http://schemas.openxmlformats.org/officeDocument/2006/relationships" r:id="R8782cc3ea18c4efe"/>
  </p:notesMasterIdLst>
  <p:sldIdLst>
    <p:sldId xmlns:r="http://schemas.openxmlformats.org/officeDocument/2006/relationships" id="256" r:id="R3472b2bebf614e64"/>
    <p:sldId xmlns:r="http://schemas.openxmlformats.org/officeDocument/2006/relationships" id="257" r:id="R30cf13a97e24414c"/>
    <p:sldId xmlns:r="http://schemas.openxmlformats.org/officeDocument/2006/relationships" id="258" r:id="R6b79e048f75b4ee6"/>
    <p:sldId xmlns:r="http://schemas.openxmlformats.org/officeDocument/2006/relationships" id="259" r:id="R6ce75435fce346d9"/>
    <p:sldId xmlns:r="http://schemas.openxmlformats.org/officeDocument/2006/relationships" id="260" r:id="Rc6c131ce13c249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3510b8e02643db" /><Relationship Type="http://schemas.openxmlformats.org/officeDocument/2006/relationships/slideMaster" Target="/ppt/slideMasters/slideMaster1.xml" Id="R2332961725284414" /><Relationship Type="http://schemas.openxmlformats.org/officeDocument/2006/relationships/notesMaster" Target="/ppt/notesMasters/notesMaster1.xml" Id="R8782cc3ea18c4efe" /><Relationship Type="http://schemas.openxmlformats.org/officeDocument/2006/relationships/presProps" Target="/ppt/presProps.xml" Id="Raf38886ff2a448c3" /><Relationship Type="http://schemas.openxmlformats.org/officeDocument/2006/relationships/tableStyles" Target="/ppt/tableStyles.xml" Id="R18ee8211e80d4cf0" /><Relationship Type="http://schemas.openxmlformats.org/officeDocument/2006/relationships/slide" Target="/ppt/slides/slide1.xml" Id="R3472b2bebf614e64" /><Relationship Type="http://schemas.openxmlformats.org/officeDocument/2006/relationships/slide" Target="/ppt/slides/slide2.xml" Id="R30cf13a97e24414c" /><Relationship Type="http://schemas.openxmlformats.org/officeDocument/2006/relationships/slide" Target="/ppt/slides/slide3.xml" Id="R6b79e048f75b4ee6" /><Relationship Type="http://schemas.openxmlformats.org/officeDocument/2006/relationships/slide" Target="/ppt/slides/slide4.xml" Id="R6ce75435fce346d9" /><Relationship Type="http://schemas.openxmlformats.org/officeDocument/2006/relationships/slide" Target="/ppt/slides/slide5.xml" Id="Rc6c131ce13c249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f13711be1447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220289ad3d4efd" /><Relationship Type="http://schemas.openxmlformats.org/officeDocument/2006/relationships/notesMaster" Target="/ppt/notesMasters/notesMaster1.xml" Id="R280bc0808e9e49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ef8a88406546ba" /><Relationship Type="http://schemas.openxmlformats.org/officeDocument/2006/relationships/notesMaster" Target="/ppt/notesMasters/notesMaster1.xml" Id="Rbe1318d5b03543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a08754fa394196" /><Relationship Type="http://schemas.openxmlformats.org/officeDocument/2006/relationships/notesMaster" Target="/ppt/notesMasters/notesMaster1.xml" Id="Rd8bf5b5800ba47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4a1c2b29f34a4a" /><Relationship Type="http://schemas.openxmlformats.org/officeDocument/2006/relationships/notesMaster" Target="/ppt/notesMasters/notesMaster1.xml" Id="R92c64af1cd3d40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f1465e5ebf47e3" /><Relationship Type="http://schemas.openxmlformats.org/officeDocument/2006/relationships/notesMaster" Target="/ppt/notesMasters/notesMaster1.xml" Id="R598f57e24f8b4c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pod established the modernization foundation before my additions. It used AI-assisted analysis and a modernization agent framework to interpret COBOL programs and copybooks, recover business rules and mappings, and produce reviewable specifications. Specification-driven development then guided the Spring Boot services and React frontend, with reviews and tests tied to the requirements. This is a working proof of concept with local and mock integration boundaries. The objective is to preserve legacy behaviour while moving implementation to a modern application. We are not presenting a completed production migration or verified cost savings.</a:t>
            </a:r>
          </a:p>
          <a:p xmlns:a="http://schemas.openxmlformats.org/drawingml/2006/main">
            <a:r>
              <a:t/>
            </a:r>
          </a:p>
          <a:p xmlns:a="http://schemas.openxmlformats.org/drawingml/2006/main">
            <a:r>
              <a:t>Sources</a:t>
            </a:r>
          </a:p>
          <a:p xmlns:a="http://schemas.openxmlformats.org/drawingml/2006/main">
            <a:r>
              <a:t>/Users/temp/Downloads/Mainframe Modernization Powered by AI‑Enabled SDLC.pptx, slides 3, 7, 9, 11 and 18</a:t>
            </a:r>
          </a:p>
          <a:p xmlns:a="http://schemas.openxmlformats.org/drawingml/2006/main">
            <a:r>
              <a:t>/Users/temp/Documents/pod/MainframeModernization/PROJECT_ONBOARDING_GUIDE.md, sections 1–5 and 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work adds two capabilities to the application the pod already built. The Code Assistant helps new developers and colleagues working on unfamiliar features ask natural-language questions about the frontend, backend, APIs and end-to-end workflows. Its explanations include code snippets and supporting file references. The second capability demonstrates transaction anomaly detection, persistent alert tracking and customer email notifications. The transaction data is synthetic, and Mailpit captures test emails locally. These are capability demonstrations, without a measured onboarding-time reduction or production fraud-detection claim.</a:t>
            </a:r>
          </a:p>
          <a:p xmlns:a="http://schemas.openxmlformats.org/drawingml/2006/main">
            <a:r>
              <a:t/>
            </a:r>
          </a:p>
          <a:p xmlns:a="http://schemas.openxmlformats.org/drawingml/2006/main">
            <a:r>
              <a:t>Sources</a:t>
            </a:r>
          </a:p>
          <a:p xmlns:a="http://schemas.openxmlformats.org/drawingml/2006/main">
            <a:r>
              <a:t>/Users/temp/Documents/pod/MainframeModernization/rag/README.md</a:t>
            </a:r>
          </a:p>
          <a:p xmlns:a="http://schemas.openxmlformats.org/drawingml/2006/main">
            <a:r>
              <a:t>/Users/temp/Documents/pod/MainframeModernization/rag/api.py</a:t>
            </a:r>
          </a:p>
          <a:p xmlns:a="http://schemas.openxmlformats.org/drawingml/2006/main">
            <a:r>
              <a:t>/Users/temp/Documents/pod/MainframeModernization/anomaly_detection/README.md</a:t>
            </a:r>
          </a:p>
          <a:p xmlns:a="http://schemas.openxmlformats.org/drawingml/2006/main">
            <a:r>
              <a:t>Codex task: Recall RAG implementation work, 01a0a5a7-67d3-75a0-b53b-b2b54de438d2</a:t>
            </a:r>
          </a:p>
          <a:p xmlns:a="http://schemas.openxmlformats.org/drawingml/2006/main">
            <a:r>
              <a:t>Codex task: Investigate anomaly monitoring, 01a0a15a-49ab-7cb2-b5b7-36aef8a526af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means retrieval-augmented generation: the assistant first finds project evidence before generating an explanation. This slide covers knowledge preparation. CocoIndex detects additions, edits and deletions. Tree-sitter identifies code structure, and chunks retain links to their files and callable nodes. Groq creates file and function summaries, which enrich the chunks. CodeRankEmbed converts them into vectors stored in LanceDB. Incremental refresh reuses unchanged vectors, updates new or changed chunks and removes deleted chunks. Refreshing the index is an explicit pipeline operation after code changes, rather than an always-running synchronization service.</a:t>
            </a:r>
          </a:p>
          <a:p xmlns:a="http://schemas.openxmlformats.org/drawingml/2006/main">
            <a:r>
              <a:t/>
            </a:r>
          </a:p>
          <a:p xmlns:a="http://schemas.openxmlformats.org/drawingml/2006/main">
            <a:r>
              <a:t>Sources</a:t>
            </a:r>
          </a:p>
          <a:p xmlns:a="http://schemas.openxmlformats.org/drawingml/2006/main">
            <a:r>
              <a:t>/Users/temp/Documents/pod/MainframeModernization/rag/README.md, Full Incremental Pipeline and Chunking And Incremental Identity</a:t>
            </a:r>
          </a:p>
          <a:p xmlns:a="http://schemas.openxmlformats.org/drawingml/2006/main">
            <a:r>
              <a:t>/Users/temp/Documents/pod/MainframeModernization/rag/ingestion.py</a:t>
            </a:r>
          </a:p>
          <a:p xmlns:a="http://schemas.openxmlformats.org/drawingml/2006/main">
            <a:r>
              <a:t>/Users/temp/Documents/pod/MainframeModernization/rag/sync_embedding_table.py</a:t>
            </a:r>
          </a:p>
          <a:p xmlns:a="http://schemas.openxmlformats.org/drawingml/2006/main">
            <a:r>
              <a:t>Codex task: Design RAG indexing strategy, 01a00fff-937d-78e1-a308-a0fa4a73a0d4</a:t>
            </a:r>
          </a:p>
          <a:p xmlns:a="http://schemas.openxmlformats.org/drawingml/2006/main">
            <a:r>
              <a:t>User-supplied indexing workflow image: codex-clipboard-eda13267-d0b7-4dcb-8785-1d80f56b4148.png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developer asks a question in the integrated React Code Assistant. Gemini first decides whether the request can be answered, needs clarification or should be declined. For an answerable question, CodeRankEmbed and LanceDB retrieve the top ten semantic code chunks. Groq generates a response using that evidence. Gemini then checks the response against the retrieved code and chooses pass, revise or block. If needed, Groq revises once using the feedback and Gemini checks it again. Only an approved answer is returned as the substantive explanation. Validation reduces unsupported answers but is not a guarantee of correctness. Promptfoo and a separate grounded test set support offline evaluation. Hybrid retrieval and reranking were experiments and are not the live retrieval path.</a:t>
            </a:r>
          </a:p>
          <a:p xmlns:a="http://schemas.openxmlformats.org/drawingml/2006/main">
            <a:r>
              <a:t/>
            </a:r>
          </a:p>
          <a:p xmlns:a="http://schemas.openxmlformats.org/drawingml/2006/main">
            <a:r>
              <a:t>Sources</a:t>
            </a:r>
          </a:p>
          <a:p xmlns:a="http://schemas.openxmlformats.org/drawingml/2006/main">
            <a:r>
              <a:t>/Users/temp/Documents/pod/MainframeModernization/rag/api.py, TOP_K, _check_question, _validate_answer and query orchestration</a:t>
            </a:r>
          </a:p>
          <a:p xmlns:a="http://schemas.openxmlformats.org/drawingml/2006/main">
            <a:r>
              <a:t>/Users/temp/Documents/pod/MainframeModernization/rag/rag_evaluation/README.md</a:t>
            </a:r>
          </a:p>
          <a:p xmlns:a="http://schemas.openxmlformats.org/drawingml/2006/main">
            <a:r>
              <a:t>/Users/temp/Documents/pod/MainframeModernization/rag/RAG_lexical/README.md</a:t>
            </a:r>
          </a:p>
          <a:p xmlns:a="http://schemas.openxmlformats.org/drawingml/2006/main">
            <a:r>
              <a:t>Codex task: Recall RAG implementation work, 01a0a5a7-67d3-75a0-b53b-b2b54de438d2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simulator creates synthetic transactions through the real Spring Boot API while the banking interface can display the data. The detector scans the current API records whenever the processing command runs. It flags unusually large debits or credits, early-hour activity and rapid transaction bursts. SQLite persists findings with a unique transaction ID to prevent duplicate registration. Large credits are retained for bank review and do not enter automatic customer email delivery. For eligible new customer alerts, Groq drafts the wording, and Python validates required transaction facts before sending to Mailpit. Mailpit is a local test inbox, not delivery to real customers. Successful delivery changes the status to SENT. The default end-to-end demo sends the newest customer alert from the current scan. Detection is rule-based. Isolation Forest and UI alert badges in the earlier diagram are future work, not implemented capabilities.</a:t>
            </a:r>
          </a:p>
          <a:p xmlns:a="http://schemas.openxmlformats.org/drawingml/2006/main">
            <a:r>
              <a:t/>
            </a:r>
          </a:p>
          <a:p xmlns:a="http://schemas.openxmlformats.org/drawingml/2006/main">
            <a:r>
              <a:t>Sources</a:t>
            </a:r>
          </a:p>
          <a:p xmlns:a="http://schemas.openxmlformats.org/drawingml/2006/main">
            <a:r>
              <a:t>/Users/temp/Documents/pod/MainframeModernization/anomaly_detection/README.md</a:t>
            </a:r>
          </a:p>
          <a:p xmlns:a="http://schemas.openxmlformats.org/drawingml/2006/main">
            <a:r>
              <a:t>/Users/temp/Documents/pod/MainframeModernization/anomaly_detection/realtime.py</a:t>
            </a:r>
          </a:p>
          <a:p xmlns:a="http://schemas.openxmlformats.org/drawingml/2006/main">
            <a:r>
              <a:t>/Users/temp/Documents/pod/MainframeModernization/anomaly_detection/detect.py</a:t>
            </a:r>
          </a:p>
          <a:p xmlns:a="http://schemas.openxmlformats.org/drawingml/2006/main">
            <a:r>
              <a:t>/Users/temp/Documents/pod/MainframeModernization/anomaly_detection/alerts.py</a:t>
            </a:r>
          </a:p>
          <a:p xmlns:a="http://schemas.openxmlformats.org/drawingml/2006/main">
            <a:r>
              <a:t>/Users/temp/Documents/pod/MainframeModernization/anomaly_detection/notification.py</a:t>
            </a:r>
          </a:p>
          <a:p xmlns:a="http://schemas.openxmlformats.org/drawingml/2006/main">
            <a:r>
              <a:t>/Users/temp/Documents/pod/MainframeModernization/anomaly_detection/main.py</a:t>
            </a:r>
          </a:p>
          <a:p xmlns:a="http://schemas.openxmlformats.org/drawingml/2006/main">
            <a:r>
              <a:t>Codex task: Investigate anomaly monitoring, 01a0a15a-49ab-7cb2-b5b7-36aef8a526af</a:t>
            </a:r>
          </a:p>
          <a:p xmlns:a="http://schemas.openxmlformats.org/drawingml/2006/main">
            <a:r>
              <a:t>User-supplied anomaly workflow image: codex-clipboard-5231e874-b5c5-41e1-9c80-eaa27bcf8e7a.png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72d74ee18b4f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174d26ebce4232" /><Relationship Type="http://schemas.openxmlformats.org/officeDocument/2006/relationships/slideLayout" Target="/ppt/slideLayouts/slideLayout1.xml" Id="R5d86f06c60b142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86f06c60b142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6822bc6f3b40b9" /><Relationship Type="http://schemas.openxmlformats.org/officeDocument/2006/relationships/notesSlide" Target="/ppt/notesSlides/notesSlide1.xml" Id="R67389440b61f4a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2e8f1f15274d10" /><Relationship Type="http://schemas.openxmlformats.org/officeDocument/2006/relationships/notesSlide" Target="/ppt/notesSlides/notesSlide2.xml" Id="R7cd3b56c53454b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c98f6f2e734458" /><Relationship Type="http://schemas.openxmlformats.org/officeDocument/2006/relationships/notesSlide" Target="/ppt/notesSlides/notesSlide3.xml" Id="R9312aa0afe2443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e94895dc534e4e" /><Relationship Type="http://schemas.openxmlformats.org/officeDocument/2006/relationships/notesSlide" Target="/ppt/notesSlides/notesSlide4.xml" Id="R490728e09e6544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eafb0a4b454be6" /><Relationship Type="http://schemas.openxmlformats.org/officeDocument/2006/relationships/notesSlide" Target="/ppt/notesSlides/notesSlide5.xml" Id="Re963376dbcba44a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itle">
            <a:extLst xmlns:a="http://schemas.openxmlformats.org/drawingml/2006/main">
              <a:ext uri="{FF2B5EF4-FFF2-40B4-BE49-F238E27FC236}">
                <a16:creationId xmlns:a16="http://schemas.microsoft.com/office/drawing/2014/main" id="{3E26E84F-F8A2-4D20-A3F6-5C5C7F34CA6C}"/>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172421"/>
                </a:solidFill>
                <a:latin typeface="Arial"/>
                <a:ea typeface="Arial"/>
                <a:cs typeface="Arial"/>
              </a:defRPr>
            </a:pPr>
            <a:r>
              <a:rPr sz="3225" b="1">
                <a:solidFill>
                  <a:srgbClr val="172421"/>
                </a:solidFill>
                <a:latin typeface="Arial"/>
                <a:ea typeface="Arial"/>
                <a:cs typeface="Arial"/>
              </a:rPr>
              <a:t>AI-enabled mainframe modernization</a:t>
            </a:r>
          </a:p>
        </p:txBody>
      </p:sp>
      <p:sp>
        <p:nvSpPr>
          <p:cNvPr id="2" name="subtitle">
            <a:extLst xmlns:a="http://schemas.openxmlformats.org/drawingml/2006/main">
              <a:ext uri="{FF2B5EF4-FFF2-40B4-BE49-F238E27FC236}">
                <a16:creationId xmlns:a16="http://schemas.microsoft.com/office/drawing/2014/main" id="{3C48404A-4DD3-4351-9924-807FC968C1CF}"/>
              </a:ext>
            </a:extLst>
          </p:cNvPr>
          <p:cNvSpPr>
            <a:spLocks xmlns:a="http://schemas.openxmlformats.org/drawingml/2006/main" noGrp="1"/>
          </p:cNvSpPr>
          <p:nvPr/>
        </p:nvSpPr>
        <p:spPr>
          <a:xfrm xmlns:a="http://schemas.openxmlformats.org/drawingml/2006/main">
            <a:off x="609600" y="120015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4736D"/>
                </a:solidFill>
                <a:latin typeface="Arial"/>
                <a:ea typeface="Arial"/>
                <a:cs typeface="Arial"/>
              </a:defRPr>
            </a:pPr>
            <a:r>
              <a:rPr sz="1800" b="0">
                <a:solidFill>
                  <a:srgbClr val="64736D"/>
                </a:solidFill>
                <a:latin typeface="Arial"/>
                <a:ea typeface="Arial"/>
                <a:cs typeface="Arial"/>
              </a:rPr>
              <a:t>The pod’s foundation: specification-driven delivery</a:t>
            </a:r>
          </a:p>
        </p:txBody>
      </p:sp>
      <p:sp>
        <p:nvSpPr>
          <p:cNvPr id="3" name="footer-rule">
            <a:extLst xmlns:a="http://schemas.openxmlformats.org/drawingml/2006/main">
              <a:ext uri="{FF2B5EF4-FFF2-40B4-BE49-F238E27FC236}">
                <a16:creationId xmlns:a16="http://schemas.microsoft.com/office/drawing/2014/main" id="{4466A3B0-CD3A-472D-BA01-E09CC9F6F30A}"/>
              </a:ext>
            </a:extLst>
          </p:cNvPr>
          <p:cNvSpPr>
            <a:spLocks xmlns:a="http://schemas.openxmlformats.org/drawingml/2006/main" noGrp="1"/>
          </p:cNvSpPr>
          <p:nvPr/>
        </p:nvSpPr>
        <p:spPr>
          <a:xfrm xmlns:a="http://schemas.openxmlformats.org/drawingml/2006/main">
            <a:off x="609600" y="6296025"/>
            <a:ext cx="10972800" cy="0"/>
          </a:xfrm>
          <a:prstGeom xmlns:a="http://schemas.openxmlformats.org/drawingml/2006/main" prst="line">
            <a:avLst/>
          </a:prstGeom>
          <a:noFill xmlns:a="http://schemas.openxmlformats.org/drawingml/2006/main"/>
          <a:ln xmlns:a="http://schemas.openxmlformats.org/drawingml/2006/main" w="9525">
            <a:solidFill>
              <a:srgbClr val="D7E0D7"/>
            </a:solidFill>
            <a:prstDash val="solid"/>
          </a:ln>
        </p:spPr>
      </p:sp>
      <p:sp>
        <p:nvSpPr>
          <p:cNvPr id="4" name="footer-brand">
            <a:extLst xmlns:a="http://schemas.openxmlformats.org/drawingml/2006/main">
              <a:ext uri="{FF2B5EF4-FFF2-40B4-BE49-F238E27FC236}">
                <a16:creationId xmlns:a16="http://schemas.microsoft.com/office/drawing/2014/main" id="{EC1B16A6-3F88-4B7F-8848-8CE081A8923F}"/>
              </a:ext>
            </a:extLst>
          </p:cNvPr>
          <p:cNvSpPr>
            <a:spLocks xmlns:a="http://schemas.openxmlformats.org/drawingml/2006/main" noGrp="1"/>
          </p:cNvSpPr>
          <p:nvPr/>
        </p:nvSpPr>
        <p:spPr>
          <a:xfrm xmlns:a="http://schemas.openxmlformats.org/drawingml/2006/main">
            <a:off x="609600" y="64484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975" b="1">
                <a:solidFill>
                  <a:srgbClr val="64736D"/>
                </a:solidFill>
                <a:latin typeface="Arial"/>
                <a:ea typeface="Arial"/>
                <a:cs typeface="Arial"/>
              </a:defRPr>
            </a:pPr>
            <a:r>
              <a:rPr sz="975" b="1">
                <a:solidFill>
                  <a:srgbClr val="64736D"/>
                </a:solidFill>
                <a:latin typeface="Arial"/>
                <a:ea typeface="Arial"/>
                <a:cs typeface="Arial"/>
              </a:rPr>
              <a:t>BANK OF Z</a:t>
            </a:r>
          </a:p>
        </p:txBody>
      </p:sp>
      <p:sp>
        <p:nvSpPr>
          <p:cNvPr id="5" name="footer-page">
            <a:extLst xmlns:a="http://schemas.openxmlformats.org/drawingml/2006/main">
              <a:ext uri="{FF2B5EF4-FFF2-40B4-BE49-F238E27FC236}">
                <a16:creationId xmlns:a16="http://schemas.microsoft.com/office/drawing/2014/main" id="{6AB47714-ACCC-42B1-B7E6-498BCBD191B7}"/>
              </a:ext>
            </a:extLst>
          </p:cNvPr>
          <p:cNvSpPr>
            <a:spLocks xmlns:a="http://schemas.openxmlformats.org/drawingml/2006/main" noGrp="1"/>
          </p:cNvSpPr>
          <p:nvPr/>
        </p:nvSpPr>
        <p:spPr>
          <a:xfrm xmlns:a="http://schemas.openxmlformats.org/drawingml/2006/main">
            <a:off x="11049000" y="641032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4736D"/>
                </a:solidFill>
                <a:latin typeface="Arial"/>
                <a:ea typeface="Arial"/>
                <a:cs typeface="Arial"/>
              </a:defRPr>
            </a:pPr>
            <a:r>
              <a:rPr sz="1200" b="0">
                <a:solidFill>
                  <a:srgbClr val="64736D"/>
                </a:solidFill>
                <a:latin typeface="Arial"/>
                <a:ea typeface="Arial"/>
                <a:cs typeface="Arial"/>
              </a:rPr>
              <a:t>01</a:t>
            </a:r>
          </a:p>
        </p:txBody>
      </p:sp>
      <p:sp>
        <p:nvSpPr>
          <p:cNvPr id="6" name="legacy">
            <a:extLst xmlns:a="http://schemas.openxmlformats.org/drawingml/2006/main">
              <a:ext uri="{FF2B5EF4-FFF2-40B4-BE49-F238E27FC236}">
                <a16:creationId xmlns:a16="http://schemas.microsoft.com/office/drawing/2014/main" id="{62448258-1B51-48D7-8FE5-7AA7A70CE938}"/>
              </a:ext>
            </a:extLst>
          </p:cNvPr>
          <p:cNvSpPr>
            <a:spLocks xmlns:a="http://schemas.openxmlformats.org/drawingml/2006/main" noGrp="1"/>
          </p:cNvSpPr>
          <p:nvPr/>
        </p:nvSpPr>
        <p:spPr>
          <a:xfrm xmlns:a="http://schemas.openxmlformats.org/drawingml/2006/main">
            <a:off x="609600" y="2552700"/>
            <a:ext cx="2228850" cy="1504950"/>
          </a:xfrm>
          <a:prstGeom xmlns:a="http://schemas.openxmlformats.org/drawingml/2006/main" prst="rect">
            <a:avLst/>
          </a:prstGeom>
          <a:solidFill xmlns:a="http://schemas.openxmlformats.org/drawingml/2006/main">
            <a:srgbClr val="F1F4EE"/>
          </a:solidFill>
          <a:ln xmlns:a="http://schemas.openxmlformats.org/drawingml/2006/main" w="0">
            <a:noFill/>
            <a:prstDash val="solid"/>
          </a:ln>
        </p:spPr>
      </p:sp>
      <p:sp>
        <p:nvSpPr>
          <p:cNvPr id="7" name="legacy-title">
            <a:extLst xmlns:a="http://schemas.openxmlformats.org/drawingml/2006/main">
              <a:ext uri="{FF2B5EF4-FFF2-40B4-BE49-F238E27FC236}">
                <a16:creationId xmlns:a16="http://schemas.microsoft.com/office/drawing/2014/main" id="{08B25086-7AD8-4917-BC78-8A37C0155258}"/>
              </a:ext>
            </a:extLst>
          </p:cNvPr>
          <p:cNvSpPr>
            <a:spLocks xmlns:a="http://schemas.openxmlformats.org/drawingml/2006/main" noGrp="1"/>
          </p:cNvSpPr>
          <p:nvPr/>
        </p:nvSpPr>
        <p:spPr>
          <a:xfrm xmlns:a="http://schemas.openxmlformats.org/drawingml/2006/main">
            <a:off x="800100" y="27622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72421"/>
                </a:solidFill>
                <a:latin typeface="Arial"/>
                <a:ea typeface="Arial"/>
                <a:cs typeface="Arial"/>
              </a:defRPr>
            </a:pPr>
            <a:r>
              <a:rPr sz="2100" b="1">
                <a:solidFill>
                  <a:srgbClr val="172421"/>
                </a:solidFill>
                <a:latin typeface="Arial"/>
                <a:ea typeface="Arial"/>
                <a:cs typeface="Arial"/>
              </a:rPr>
              <a:t>Legacy COBOL</a:t>
            </a:r>
          </a:p>
        </p:txBody>
      </p:sp>
      <p:sp>
        <p:nvSpPr>
          <p:cNvPr id="8" name="legacy-caption">
            <a:extLst xmlns:a="http://schemas.openxmlformats.org/drawingml/2006/main">
              <a:ext uri="{FF2B5EF4-FFF2-40B4-BE49-F238E27FC236}">
                <a16:creationId xmlns:a16="http://schemas.microsoft.com/office/drawing/2014/main" id="{A0EECE61-F113-4B3E-8270-A28558FC9DC5}"/>
              </a:ext>
            </a:extLst>
          </p:cNvPr>
          <p:cNvSpPr>
            <a:spLocks xmlns:a="http://schemas.openxmlformats.org/drawingml/2006/main" noGrp="1"/>
          </p:cNvSpPr>
          <p:nvPr/>
        </p:nvSpPr>
        <p:spPr>
          <a:xfrm xmlns:a="http://schemas.openxmlformats.org/drawingml/2006/main">
            <a:off x="800100" y="361950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64736D"/>
                </a:solidFill>
                <a:latin typeface="Arial"/>
                <a:ea typeface="Arial"/>
                <a:cs typeface="Arial"/>
              </a:defRPr>
            </a:pPr>
            <a:r>
              <a:rPr sz="1350" b="0">
                <a:solidFill>
                  <a:srgbClr val="64736D"/>
                </a:solidFill>
                <a:latin typeface="Arial"/>
                <a:ea typeface="Arial"/>
                <a:cs typeface="Arial"/>
              </a:rPr>
              <a:t>Programs + copybooks</a:t>
            </a:r>
          </a:p>
        </p:txBody>
      </p:sp>
      <p:sp>
        <p:nvSpPr>
          <p:cNvPr id="9" name="analysis">
            <a:extLst xmlns:a="http://schemas.openxmlformats.org/drawingml/2006/main">
              <a:ext uri="{FF2B5EF4-FFF2-40B4-BE49-F238E27FC236}">
                <a16:creationId xmlns:a16="http://schemas.microsoft.com/office/drawing/2014/main" id="{C6AD0F34-2251-44BE-998B-76F6C075F2CD}"/>
              </a:ext>
            </a:extLst>
          </p:cNvPr>
          <p:cNvSpPr>
            <a:spLocks xmlns:a="http://schemas.openxmlformats.org/drawingml/2006/main" noGrp="1"/>
          </p:cNvSpPr>
          <p:nvPr/>
        </p:nvSpPr>
        <p:spPr>
          <a:xfrm xmlns:a="http://schemas.openxmlformats.org/drawingml/2006/main">
            <a:off x="3524250" y="2552700"/>
            <a:ext cx="2228850" cy="1504950"/>
          </a:xfrm>
          <a:prstGeom xmlns:a="http://schemas.openxmlformats.org/drawingml/2006/main" prst="rect">
            <a:avLst/>
          </a:prstGeom>
          <a:solidFill xmlns:a="http://schemas.openxmlformats.org/drawingml/2006/main">
            <a:srgbClr val="F1F4EE"/>
          </a:solidFill>
          <a:ln xmlns:a="http://schemas.openxmlformats.org/drawingml/2006/main" w="0">
            <a:noFill/>
            <a:prstDash val="solid"/>
          </a:ln>
        </p:spPr>
      </p:sp>
      <p:sp>
        <p:nvSpPr>
          <p:cNvPr id="10" name="analysis-title">
            <a:extLst xmlns:a="http://schemas.openxmlformats.org/drawingml/2006/main">
              <a:ext uri="{FF2B5EF4-FFF2-40B4-BE49-F238E27FC236}">
                <a16:creationId xmlns:a16="http://schemas.microsoft.com/office/drawing/2014/main" id="{92567E43-A7ED-4EF5-BD65-B0D47C45C1F3}"/>
              </a:ext>
            </a:extLst>
          </p:cNvPr>
          <p:cNvSpPr>
            <a:spLocks xmlns:a="http://schemas.openxmlformats.org/drawingml/2006/main" noGrp="1"/>
          </p:cNvSpPr>
          <p:nvPr/>
        </p:nvSpPr>
        <p:spPr>
          <a:xfrm xmlns:a="http://schemas.openxmlformats.org/drawingml/2006/main">
            <a:off x="3714750" y="27622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72421"/>
                </a:solidFill>
                <a:latin typeface="Arial"/>
                <a:ea typeface="Arial"/>
                <a:cs typeface="Arial"/>
              </a:defRPr>
            </a:pPr>
            <a:r>
              <a:rPr sz="2100" b="1">
                <a:solidFill>
                  <a:srgbClr val="172421"/>
                </a:solidFill>
                <a:latin typeface="Arial"/>
                <a:ea typeface="Arial"/>
                <a:cs typeface="Arial"/>
              </a:rPr>
              <a:t>AI analysis</a:t>
            </a:r>
          </a:p>
        </p:txBody>
      </p:sp>
      <p:sp>
        <p:nvSpPr>
          <p:cNvPr id="11" name="analysis-caption">
            <a:extLst xmlns:a="http://schemas.openxmlformats.org/drawingml/2006/main">
              <a:ext uri="{FF2B5EF4-FFF2-40B4-BE49-F238E27FC236}">
                <a16:creationId xmlns:a16="http://schemas.microsoft.com/office/drawing/2014/main" id="{E9EB6EEC-93A5-400B-A588-88BA2B6B83FA}"/>
              </a:ext>
            </a:extLst>
          </p:cNvPr>
          <p:cNvSpPr>
            <a:spLocks xmlns:a="http://schemas.openxmlformats.org/drawingml/2006/main" noGrp="1"/>
          </p:cNvSpPr>
          <p:nvPr/>
        </p:nvSpPr>
        <p:spPr>
          <a:xfrm xmlns:a="http://schemas.openxmlformats.org/drawingml/2006/main">
            <a:off x="3714750" y="361950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64736D"/>
                </a:solidFill>
                <a:latin typeface="Arial"/>
                <a:ea typeface="Arial"/>
                <a:cs typeface="Arial"/>
              </a:defRPr>
            </a:pPr>
            <a:r>
              <a:rPr sz="1500" b="0">
                <a:solidFill>
                  <a:srgbClr val="64736D"/>
                </a:solidFill>
                <a:latin typeface="Arial"/>
                <a:ea typeface="Arial"/>
                <a:cs typeface="Arial"/>
              </a:rPr>
              <a:t>Rules + mappings</a:t>
            </a:r>
          </a:p>
        </p:txBody>
      </p:sp>
      <p:sp>
        <p:nvSpPr>
          <p:cNvPr id="12" name="specs">
            <a:extLst xmlns:a="http://schemas.openxmlformats.org/drawingml/2006/main">
              <a:ext uri="{FF2B5EF4-FFF2-40B4-BE49-F238E27FC236}">
                <a16:creationId xmlns:a16="http://schemas.microsoft.com/office/drawing/2014/main" id="{B7BF939C-A5D8-424B-932C-A69995E2ED1A}"/>
              </a:ext>
            </a:extLst>
          </p:cNvPr>
          <p:cNvSpPr>
            <a:spLocks xmlns:a="http://schemas.openxmlformats.org/drawingml/2006/main" noGrp="1"/>
          </p:cNvSpPr>
          <p:nvPr/>
        </p:nvSpPr>
        <p:spPr>
          <a:xfrm xmlns:a="http://schemas.openxmlformats.org/drawingml/2006/main">
            <a:off x="6438900" y="2552700"/>
            <a:ext cx="2228850" cy="1504950"/>
          </a:xfrm>
          <a:prstGeom xmlns:a="http://schemas.openxmlformats.org/drawingml/2006/main" prst="rect">
            <a:avLst/>
          </a:prstGeom>
          <a:solidFill xmlns:a="http://schemas.openxmlformats.org/drawingml/2006/main">
            <a:srgbClr val="F1F4EE"/>
          </a:solidFill>
          <a:ln xmlns:a="http://schemas.openxmlformats.org/drawingml/2006/main" w="0">
            <a:noFill/>
            <a:prstDash val="solid"/>
          </a:ln>
        </p:spPr>
      </p:sp>
      <p:sp>
        <p:nvSpPr>
          <p:cNvPr id="13" name="specs-title">
            <a:extLst xmlns:a="http://schemas.openxmlformats.org/drawingml/2006/main">
              <a:ext uri="{FF2B5EF4-FFF2-40B4-BE49-F238E27FC236}">
                <a16:creationId xmlns:a16="http://schemas.microsoft.com/office/drawing/2014/main" id="{8D911C94-AC8E-45D8-B865-C5D99BD98227}"/>
              </a:ext>
            </a:extLst>
          </p:cNvPr>
          <p:cNvSpPr>
            <a:spLocks xmlns:a="http://schemas.openxmlformats.org/drawingml/2006/main" noGrp="1"/>
          </p:cNvSpPr>
          <p:nvPr/>
        </p:nvSpPr>
        <p:spPr>
          <a:xfrm xmlns:a="http://schemas.openxmlformats.org/drawingml/2006/main">
            <a:off x="6629400" y="27622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172421"/>
                </a:solidFill>
                <a:latin typeface="Arial"/>
                <a:ea typeface="Arial"/>
                <a:cs typeface="Arial"/>
              </a:defRPr>
            </a:pPr>
            <a:r>
              <a:rPr sz="1875" b="1">
                <a:solidFill>
                  <a:srgbClr val="172421"/>
                </a:solidFill>
                <a:latin typeface="Arial"/>
                <a:ea typeface="Arial"/>
                <a:cs typeface="Arial"/>
              </a:rPr>
              <a:t>Reviewed specs</a:t>
            </a:r>
          </a:p>
        </p:txBody>
      </p:sp>
      <p:sp>
        <p:nvSpPr>
          <p:cNvPr id="14" name="specs-caption">
            <a:extLst xmlns:a="http://schemas.openxmlformats.org/drawingml/2006/main">
              <a:ext uri="{FF2B5EF4-FFF2-40B4-BE49-F238E27FC236}">
                <a16:creationId xmlns:a16="http://schemas.microsoft.com/office/drawing/2014/main" id="{0BF877E7-57A3-484B-BC89-1DF1E3679D58}"/>
              </a:ext>
            </a:extLst>
          </p:cNvPr>
          <p:cNvSpPr>
            <a:spLocks xmlns:a="http://schemas.openxmlformats.org/drawingml/2006/main" noGrp="1"/>
          </p:cNvSpPr>
          <p:nvPr/>
        </p:nvSpPr>
        <p:spPr>
          <a:xfrm xmlns:a="http://schemas.openxmlformats.org/drawingml/2006/main">
            <a:off x="6629400" y="361950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64736D"/>
                </a:solidFill>
                <a:latin typeface="Arial"/>
                <a:ea typeface="Arial"/>
                <a:cs typeface="Arial"/>
              </a:defRPr>
            </a:pPr>
            <a:r>
              <a:rPr sz="1350" b="0">
                <a:solidFill>
                  <a:srgbClr val="64736D"/>
                </a:solidFill>
                <a:latin typeface="Arial"/>
                <a:ea typeface="Arial"/>
                <a:cs typeface="Arial"/>
              </a:rPr>
              <a:t>Contracts + test cases</a:t>
            </a:r>
          </a:p>
        </p:txBody>
      </p:sp>
      <p:sp>
        <p:nvSpPr>
          <p:cNvPr id="15" name="modern">
            <a:extLst xmlns:a="http://schemas.openxmlformats.org/drawingml/2006/main">
              <a:ext uri="{FF2B5EF4-FFF2-40B4-BE49-F238E27FC236}">
                <a16:creationId xmlns:a16="http://schemas.microsoft.com/office/drawing/2014/main" id="{6F67C2D7-893F-4A53-9131-20E9861E0F8C}"/>
              </a:ext>
            </a:extLst>
          </p:cNvPr>
          <p:cNvSpPr>
            <a:spLocks xmlns:a="http://schemas.openxmlformats.org/drawingml/2006/main" noGrp="1"/>
          </p:cNvSpPr>
          <p:nvPr/>
        </p:nvSpPr>
        <p:spPr>
          <a:xfrm xmlns:a="http://schemas.openxmlformats.org/drawingml/2006/main">
            <a:off x="9353550" y="2552700"/>
            <a:ext cx="2228850" cy="1504950"/>
          </a:xfrm>
          <a:prstGeom xmlns:a="http://schemas.openxmlformats.org/drawingml/2006/main" prst="rect">
            <a:avLst/>
          </a:prstGeom>
          <a:solidFill xmlns:a="http://schemas.openxmlformats.org/drawingml/2006/main">
            <a:srgbClr val="C6F244"/>
          </a:solidFill>
          <a:ln xmlns:a="http://schemas.openxmlformats.org/drawingml/2006/main" w="0">
            <a:noFill/>
            <a:prstDash val="solid"/>
          </a:ln>
        </p:spPr>
      </p:sp>
      <p:sp>
        <p:nvSpPr>
          <p:cNvPr id="16" name="modern-title">
            <a:extLst xmlns:a="http://schemas.openxmlformats.org/drawingml/2006/main">
              <a:ext uri="{FF2B5EF4-FFF2-40B4-BE49-F238E27FC236}">
                <a16:creationId xmlns:a16="http://schemas.microsoft.com/office/drawing/2014/main" id="{F6A666D4-EED9-4F9E-A844-92663487C46D}"/>
              </a:ext>
            </a:extLst>
          </p:cNvPr>
          <p:cNvSpPr>
            <a:spLocks xmlns:a="http://schemas.openxmlformats.org/drawingml/2006/main" noGrp="1"/>
          </p:cNvSpPr>
          <p:nvPr/>
        </p:nvSpPr>
        <p:spPr>
          <a:xfrm xmlns:a="http://schemas.openxmlformats.org/drawingml/2006/main">
            <a:off x="9544050" y="27622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72421"/>
                </a:solidFill>
                <a:latin typeface="Arial"/>
                <a:ea typeface="Arial"/>
                <a:cs typeface="Arial"/>
              </a:defRPr>
            </a:pPr>
            <a:r>
              <a:rPr sz="2100" b="1">
                <a:solidFill>
                  <a:srgbClr val="172421"/>
                </a:solidFill>
                <a:latin typeface="Arial"/>
                <a:ea typeface="Arial"/>
                <a:cs typeface="Arial"/>
              </a:rPr>
              <a:t>Modern app</a:t>
            </a:r>
          </a:p>
        </p:txBody>
      </p:sp>
      <p:sp>
        <p:nvSpPr>
          <p:cNvPr id="17" name="modern-caption">
            <a:extLst xmlns:a="http://schemas.openxmlformats.org/drawingml/2006/main">
              <a:ext uri="{FF2B5EF4-FFF2-40B4-BE49-F238E27FC236}">
                <a16:creationId xmlns:a16="http://schemas.microsoft.com/office/drawing/2014/main" id="{09AC88C1-210E-4569-9449-4E7EA4E850AE}"/>
              </a:ext>
            </a:extLst>
          </p:cNvPr>
          <p:cNvSpPr>
            <a:spLocks xmlns:a="http://schemas.openxmlformats.org/drawingml/2006/main" noGrp="1"/>
          </p:cNvSpPr>
          <p:nvPr/>
        </p:nvSpPr>
        <p:spPr>
          <a:xfrm xmlns:a="http://schemas.openxmlformats.org/drawingml/2006/main">
            <a:off x="9544050" y="361950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172421"/>
                </a:solidFill>
                <a:latin typeface="Arial"/>
                <a:ea typeface="Arial"/>
                <a:cs typeface="Arial"/>
              </a:defRPr>
            </a:pPr>
            <a:r>
              <a:rPr sz="1350" b="0">
                <a:solidFill>
                  <a:srgbClr val="172421"/>
                </a:solidFill>
                <a:latin typeface="Arial"/>
                <a:ea typeface="Arial"/>
                <a:cs typeface="Arial"/>
              </a:rPr>
              <a:t>Spring Boot + React</a:t>
            </a:r>
          </a:p>
        </p:txBody>
      </p:sp>
      <p:cxnSp>
        <p:nvCxnSpPr>
          <p:cNvPr id="44" name=""/>
          <p:cNvCxnSpPr>
            <a:stCxn xmlns:a="http://schemas.openxmlformats.org/drawingml/2006/main" id="6" idx="3"/>
            <a:endCxn xmlns:a="http://schemas.openxmlformats.org/drawingml/2006/main" id="9" idx="1"/>
          </p:cNvCxnSpPr>
          <p:nvPr/>
        </p:nvCxnSpPr>
        <p:spPr>
          <a:xfrm xmlns:a="http://schemas.openxmlformats.org/drawingml/2006/main">
            <a:off x="2838450" y="3305175"/>
            <a:ext cx="685800" cy="0"/>
          </a:xfrm>
          <a:prstGeom xmlns:a="http://schemas.openxmlformats.org/drawingml/2006/main" prst="straightConnector1">
            <a:avLst/>
          </a:prstGeom>
          <a:ln xmlns:a="http://schemas.openxmlformats.org/drawingml/2006/main" w="23813">
            <a:solidFill>
              <a:srgbClr val="087B68"/>
            </a:solidFill>
            <a:prstDash val="solid"/>
            <a:tailEnd type="triangle" w="sm" len="sm"/>
          </a:ln>
        </p:spPr>
      </p:cxnSp>
      <p:cxnSp>
        <p:nvCxnSpPr>
          <p:cNvPr id="45" name=""/>
          <p:cNvCxnSpPr>
            <a:stCxn xmlns:a="http://schemas.openxmlformats.org/drawingml/2006/main" id="9" idx="3"/>
            <a:endCxn xmlns:a="http://schemas.openxmlformats.org/drawingml/2006/main" id="12" idx="1"/>
          </p:cNvCxnSpPr>
          <p:nvPr/>
        </p:nvCxnSpPr>
        <p:spPr>
          <a:xfrm xmlns:a="http://schemas.openxmlformats.org/drawingml/2006/main">
            <a:off x="5753100" y="3305175"/>
            <a:ext cx="685800" cy="0"/>
          </a:xfrm>
          <a:prstGeom xmlns:a="http://schemas.openxmlformats.org/drawingml/2006/main" prst="straightConnector1">
            <a:avLst/>
          </a:prstGeom>
          <a:ln xmlns:a="http://schemas.openxmlformats.org/drawingml/2006/main" w="23813">
            <a:solidFill>
              <a:srgbClr val="087B68"/>
            </a:solidFill>
            <a:prstDash val="solid"/>
            <a:tailEnd type="triangle" w="sm" len="sm"/>
          </a:ln>
        </p:spPr>
      </p:cxnSp>
      <p:cxnSp>
        <p:nvCxnSpPr>
          <p:cNvPr id="46" name=""/>
          <p:cNvCxnSpPr>
            <a:stCxn xmlns:a="http://schemas.openxmlformats.org/drawingml/2006/main" id="12" idx="3"/>
            <a:endCxn xmlns:a="http://schemas.openxmlformats.org/drawingml/2006/main" id="15" idx="1"/>
          </p:cNvCxnSpPr>
          <p:nvPr/>
        </p:nvCxnSpPr>
        <p:spPr>
          <a:xfrm xmlns:a="http://schemas.openxmlformats.org/drawingml/2006/main">
            <a:off x="8667750" y="3305175"/>
            <a:ext cx="685800" cy="0"/>
          </a:xfrm>
          <a:prstGeom xmlns:a="http://schemas.openxmlformats.org/drawingml/2006/main" prst="straightConnector1">
            <a:avLst/>
          </a:prstGeom>
          <a:ln xmlns:a="http://schemas.openxmlformats.org/drawingml/2006/main" w="23813">
            <a:solidFill>
              <a:srgbClr val="087B68"/>
            </a:solidFill>
            <a:prstDash val="solid"/>
            <a:tailEnd type="triangle" w="sm" len="sm"/>
          </a:ln>
        </p:spPr>
      </p:cxnSp>
      <p:sp>
        <p:nvSpPr>
          <p:cNvPr id="21" name="legacy-label">
            <a:extLst xmlns:a="http://schemas.openxmlformats.org/drawingml/2006/main">
              <a:ext uri="{FF2B5EF4-FFF2-40B4-BE49-F238E27FC236}">
                <a16:creationId xmlns:a16="http://schemas.microsoft.com/office/drawing/2014/main" id="{DC6A13D5-60C0-4A7B-A5F8-6B65DEA876B5}"/>
              </a:ext>
            </a:extLst>
          </p:cNvPr>
          <p:cNvSpPr>
            <a:spLocks xmlns:a="http://schemas.openxmlformats.org/drawingml/2006/main" noGrp="1"/>
          </p:cNvSpPr>
          <p:nvPr/>
        </p:nvSpPr>
        <p:spPr>
          <a:xfrm xmlns:a="http://schemas.openxmlformats.org/drawingml/2006/main">
            <a:off x="609600" y="2143125"/>
            <a:ext cx="2228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64736D"/>
                </a:solidFill>
                <a:latin typeface="Arial"/>
                <a:ea typeface="Arial"/>
                <a:cs typeface="Arial"/>
              </a:defRPr>
            </a:pPr>
            <a:r>
              <a:rPr sz="1350" b="0">
                <a:solidFill>
                  <a:srgbClr val="64736D"/>
                </a:solidFill>
                <a:latin typeface="Arial"/>
                <a:ea typeface="Arial"/>
                <a:cs typeface="Arial"/>
              </a:rPr>
              <a:t>Source behaviour</a:t>
            </a:r>
          </a:p>
        </p:txBody>
      </p:sp>
      <p:sp>
        <p:nvSpPr>
          <p:cNvPr id="22" name="agent-label">
            <a:extLst xmlns:a="http://schemas.openxmlformats.org/drawingml/2006/main">
              <a:ext uri="{FF2B5EF4-FFF2-40B4-BE49-F238E27FC236}">
                <a16:creationId xmlns:a16="http://schemas.microsoft.com/office/drawing/2014/main" id="{E12716AF-C08D-4C95-A672-22CC62A00646}"/>
              </a:ext>
            </a:extLst>
          </p:cNvPr>
          <p:cNvSpPr>
            <a:spLocks xmlns:a="http://schemas.openxmlformats.org/drawingml/2006/main" noGrp="1"/>
          </p:cNvSpPr>
          <p:nvPr/>
        </p:nvSpPr>
        <p:spPr>
          <a:xfrm xmlns:a="http://schemas.openxmlformats.org/drawingml/2006/main">
            <a:off x="3524250" y="2143125"/>
            <a:ext cx="2228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64736D"/>
                </a:solidFill>
                <a:latin typeface="Arial"/>
                <a:ea typeface="Arial"/>
                <a:cs typeface="Arial"/>
              </a:defRPr>
            </a:pPr>
            <a:r>
              <a:rPr sz="1350" b="0">
                <a:solidFill>
                  <a:srgbClr val="64736D"/>
                </a:solidFill>
                <a:latin typeface="Arial"/>
                <a:ea typeface="Arial"/>
                <a:cs typeface="Arial"/>
              </a:rPr>
              <a:t>Modernization agents</a:t>
            </a:r>
          </a:p>
        </p:txBody>
      </p:sp>
      <p:sp>
        <p:nvSpPr>
          <p:cNvPr id="23" name="spec-label">
            <a:extLst xmlns:a="http://schemas.openxmlformats.org/drawingml/2006/main">
              <a:ext uri="{FF2B5EF4-FFF2-40B4-BE49-F238E27FC236}">
                <a16:creationId xmlns:a16="http://schemas.microsoft.com/office/drawing/2014/main" id="{29258D74-7C71-458C-A08A-F4DB0C583112}"/>
              </a:ext>
            </a:extLst>
          </p:cNvPr>
          <p:cNvSpPr>
            <a:spLocks xmlns:a="http://schemas.openxmlformats.org/drawingml/2006/main" noGrp="1"/>
          </p:cNvSpPr>
          <p:nvPr/>
        </p:nvSpPr>
        <p:spPr>
          <a:xfrm xmlns:a="http://schemas.openxmlformats.org/drawingml/2006/main">
            <a:off x="6438900" y="2143125"/>
            <a:ext cx="2228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64736D"/>
                </a:solidFill>
                <a:latin typeface="Arial"/>
                <a:ea typeface="Arial"/>
                <a:cs typeface="Arial"/>
              </a:defRPr>
            </a:pPr>
            <a:r>
              <a:rPr sz="1350" b="0">
                <a:solidFill>
                  <a:srgbClr val="64736D"/>
                </a:solidFill>
                <a:latin typeface="Arial"/>
                <a:ea typeface="Arial"/>
                <a:cs typeface="Arial"/>
              </a:rPr>
              <a:t>Human review</a:t>
            </a:r>
          </a:p>
        </p:txBody>
      </p:sp>
      <p:sp>
        <p:nvSpPr>
          <p:cNvPr id="24" name="build-label">
            <a:extLst xmlns:a="http://schemas.openxmlformats.org/drawingml/2006/main">
              <a:ext uri="{FF2B5EF4-FFF2-40B4-BE49-F238E27FC236}">
                <a16:creationId xmlns:a16="http://schemas.microsoft.com/office/drawing/2014/main" id="{ACC7779F-2D78-4F12-976A-98C70ABCB77A}"/>
              </a:ext>
            </a:extLst>
          </p:cNvPr>
          <p:cNvSpPr>
            <a:spLocks xmlns:a="http://schemas.openxmlformats.org/drawingml/2006/main" noGrp="1"/>
          </p:cNvSpPr>
          <p:nvPr/>
        </p:nvSpPr>
        <p:spPr>
          <a:xfrm xmlns:a="http://schemas.openxmlformats.org/drawingml/2006/main">
            <a:off x="9353550" y="2143125"/>
            <a:ext cx="2228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64736D"/>
                </a:solidFill>
                <a:latin typeface="Arial"/>
                <a:ea typeface="Arial"/>
                <a:cs typeface="Arial"/>
              </a:defRPr>
            </a:pPr>
            <a:r>
              <a:rPr sz="1350" b="0">
                <a:solidFill>
                  <a:srgbClr val="64736D"/>
                </a:solidFill>
                <a:latin typeface="Arial"/>
                <a:ea typeface="Arial"/>
                <a:cs typeface="Arial"/>
              </a:rPr>
              <a:t>AI-assisted build + QA</a:t>
            </a:r>
          </a:p>
        </p:txBody>
      </p:sp>
      <p:sp>
        <p:nvSpPr>
          <p:cNvPr id="25" name="foundation-message">
            <a:extLst xmlns:a="http://schemas.openxmlformats.org/drawingml/2006/main">
              <a:ext uri="{FF2B5EF4-FFF2-40B4-BE49-F238E27FC236}">
                <a16:creationId xmlns:a16="http://schemas.microsoft.com/office/drawing/2014/main" id="{4F6B1500-5377-48C9-A459-EE260E630F43}"/>
              </a:ext>
            </a:extLst>
          </p:cNvPr>
          <p:cNvSpPr>
            <a:spLocks xmlns:a="http://schemas.openxmlformats.org/drawingml/2006/main" noGrp="1"/>
          </p:cNvSpPr>
          <p:nvPr/>
        </p:nvSpPr>
        <p:spPr>
          <a:xfrm xmlns:a="http://schemas.openxmlformats.org/drawingml/2006/main">
            <a:off x="609600" y="477202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72421"/>
                </a:solidFill>
                <a:latin typeface="Arial"/>
                <a:ea typeface="Arial"/>
                <a:cs typeface="Arial"/>
              </a:defRPr>
            </a:pPr>
            <a:r>
              <a:rPr sz="2250" b="1">
                <a:solidFill>
                  <a:srgbClr val="172421"/>
                </a:solidFill>
                <a:latin typeface="Arial"/>
                <a:ea typeface="Arial"/>
                <a:cs typeface="Arial"/>
              </a:rPr>
              <a:t>Business rules preserved. Requirements traceable to tests.</a:t>
            </a:r>
          </a:p>
        </p:txBody>
      </p:sp>
      <p:sp>
        <p:nvSpPr>
          <p:cNvPr id="26" name="foundation-context">
            <a:extLst xmlns:a="http://schemas.openxmlformats.org/drawingml/2006/main">
              <a:ext uri="{FF2B5EF4-FFF2-40B4-BE49-F238E27FC236}">
                <a16:creationId xmlns:a16="http://schemas.microsoft.com/office/drawing/2014/main" id="{BD856F90-079E-4F10-8319-73B6B6371D18}"/>
              </a:ext>
            </a:extLst>
          </p:cNvPr>
          <p:cNvSpPr>
            <a:spLocks xmlns:a="http://schemas.openxmlformats.org/drawingml/2006/main" noGrp="1"/>
          </p:cNvSpPr>
          <p:nvPr/>
        </p:nvSpPr>
        <p:spPr>
          <a:xfrm xmlns:a="http://schemas.openxmlformats.org/drawingml/2006/main">
            <a:off x="609600" y="5353050"/>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4736D"/>
                </a:solidFill>
                <a:latin typeface="Arial"/>
                <a:ea typeface="Arial"/>
                <a:cs typeface="Arial"/>
              </a:defRPr>
            </a:pPr>
            <a:r>
              <a:rPr sz="1725" b="0">
                <a:solidFill>
                  <a:srgbClr val="64736D"/>
                </a:solidFill>
                <a:latin typeface="Arial"/>
                <a:ea typeface="Arial"/>
                <a:cs typeface="Arial"/>
              </a:rPr>
              <a:t>Working modern banking flows built on the legacy application’s behaviour.</a:t>
            </a:r>
          </a:p>
        </p:txBody>
      </p:sp>
    </p:spTree>
    <p:extLst>
      <p:ext uri="{BB962C8B-B14F-4D97-AF65-F5344CB8AC3E}">
        <p14:creationId xmlns:p14="http://schemas.microsoft.com/office/powerpoint/2010/main" val="948366683"/>
      </p:ext>
    </p:extLst>
  </p:cSld>
</p:sld>
</file>

<file path=ppt/slides/slide2.xml><?xml version="1.0" encoding="utf-8"?>
<p:sld xmlns:p="http://schemas.openxmlformats.org/presentationml/2006/main">
  <p:cSld>
    <p:bg>
      <p:bgPr>
        <a:solidFill xmlns:a="http://schemas.openxmlformats.org/drawingml/2006/main">
          <a:srgbClr val="132722"/>
        </a:solidFill>
      </p:bgPr>
    </p:bg>
    <p:spTree>
      <p:nvGrpSpPr>
        <p:cNvPr id="1" name=""/>
        <p:cNvGrpSpPr/>
        <p:nvPr/>
      </p:nvGrpSpPr>
      <p:grpSpPr>
        <a:xfrm xmlns:a="http://schemas.openxmlformats.org/drawingml/2006/main"/>
      </p:grpSpPr>
      <p:sp>
        <p:nvSpPr>
          <p:cNvPr id="22" name="title">
            <a:extLst xmlns:a="http://schemas.openxmlformats.org/drawingml/2006/main">
              <a:ext uri="{FF2B5EF4-FFF2-40B4-BE49-F238E27FC236}">
                <a16:creationId xmlns:a16="http://schemas.microsoft.com/office/drawing/2014/main" id="{59CFD0FD-D85E-4E7E-BA3C-1CB0D1E9A4E8}"/>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New capabilities on the modernized app</a:t>
            </a:r>
          </a:p>
        </p:txBody>
      </p:sp>
      <p:sp>
        <p:nvSpPr>
          <p:cNvPr id="2" name="subtitle">
            <a:extLst xmlns:a="http://schemas.openxmlformats.org/drawingml/2006/main">
              <a:ext uri="{FF2B5EF4-FFF2-40B4-BE49-F238E27FC236}">
                <a16:creationId xmlns:a16="http://schemas.microsoft.com/office/drawing/2014/main" id="{01D00BB6-30BA-483A-BC16-B1583CC5AC08}"/>
              </a:ext>
            </a:extLst>
          </p:cNvPr>
          <p:cNvSpPr>
            <a:spLocks xmlns:a="http://schemas.openxmlformats.org/drawingml/2006/main" noGrp="1"/>
          </p:cNvSpPr>
          <p:nvPr/>
        </p:nvSpPr>
        <p:spPr>
          <a:xfrm xmlns:a="http://schemas.openxmlformats.org/drawingml/2006/main">
            <a:off x="609600" y="120015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BDD0C5"/>
                </a:solidFill>
                <a:latin typeface="Arial"/>
                <a:ea typeface="Arial"/>
                <a:cs typeface="Arial"/>
              </a:defRPr>
            </a:pPr>
            <a:r>
              <a:rPr sz="1800" b="0">
                <a:solidFill>
                  <a:srgbClr val="BDD0C5"/>
                </a:solidFill>
                <a:latin typeface="Arial"/>
                <a:ea typeface="Arial"/>
                <a:cs typeface="Arial"/>
              </a:rPr>
              <a:t>My contributions: codebase assistance and transaction monitoring</a:t>
            </a:r>
          </a:p>
        </p:txBody>
      </p:sp>
      <p:sp>
        <p:nvSpPr>
          <p:cNvPr id="3" name="footer-rule">
            <a:extLst xmlns:a="http://schemas.openxmlformats.org/drawingml/2006/main">
              <a:ext uri="{FF2B5EF4-FFF2-40B4-BE49-F238E27FC236}">
                <a16:creationId xmlns:a16="http://schemas.microsoft.com/office/drawing/2014/main" id="{5F462360-A430-4E17-B51B-324780AB579A}"/>
              </a:ext>
            </a:extLst>
          </p:cNvPr>
          <p:cNvSpPr>
            <a:spLocks xmlns:a="http://schemas.openxmlformats.org/drawingml/2006/main" noGrp="1"/>
          </p:cNvSpPr>
          <p:nvPr/>
        </p:nvSpPr>
        <p:spPr>
          <a:xfrm xmlns:a="http://schemas.openxmlformats.org/drawingml/2006/main">
            <a:off x="609600" y="6296025"/>
            <a:ext cx="10972800" cy="0"/>
          </a:xfrm>
          <a:prstGeom xmlns:a="http://schemas.openxmlformats.org/drawingml/2006/main" prst="line">
            <a:avLst/>
          </a:prstGeom>
          <a:noFill xmlns:a="http://schemas.openxmlformats.org/drawingml/2006/main"/>
          <a:ln xmlns:a="http://schemas.openxmlformats.org/drawingml/2006/main" w="9525">
            <a:solidFill>
              <a:srgbClr val="385047"/>
            </a:solidFill>
            <a:prstDash val="solid"/>
          </a:ln>
        </p:spPr>
      </p:sp>
      <p:sp>
        <p:nvSpPr>
          <p:cNvPr id="4" name="footer-brand">
            <a:extLst xmlns:a="http://schemas.openxmlformats.org/drawingml/2006/main">
              <a:ext uri="{FF2B5EF4-FFF2-40B4-BE49-F238E27FC236}">
                <a16:creationId xmlns:a16="http://schemas.microsoft.com/office/drawing/2014/main" id="{C6057F1F-3F6E-4F4B-BD55-DD2EC7C16F5D}"/>
              </a:ext>
            </a:extLst>
          </p:cNvPr>
          <p:cNvSpPr>
            <a:spLocks xmlns:a="http://schemas.openxmlformats.org/drawingml/2006/main" noGrp="1"/>
          </p:cNvSpPr>
          <p:nvPr/>
        </p:nvSpPr>
        <p:spPr>
          <a:xfrm xmlns:a="http://schemas.openxmlformats.org/drawingml/2006/main">
            <a:off x="609600" y="64484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975" b="1">
                <a:solidFill>
                  <a:srgbClr val="BDD0C5"/>
                </a:solidFill>
                <a:latin typeface="Arial"/>
                <a:ea typeface="Arial"/>
                <a:cs typeface="Arial"/>
              </a:defRPr>
            </a:pPr>
            <a:r>
              <a:rPr sz="975" b="1">
                <a:solidFill>
                  <a:srgbClr val="BDD0C5"/>
                </a:solidFill>
                <a:latin typeface="Arial"/>
                <a:ea typeface="Arial"/>
                <a:cs typeface="Arial"/>
              </a:rPr>
              <a:t>BANK OF Z</a:t>
            </a:r>
          </a:p>
        </p:txBody>
      </p:sp>
      <p:sp>
        <p:nvSpPr>
          <p:cNvPr id="5" name="footer-page">
            <a:extLst xmlns:a="http://schemas.openxmlformats.org/drawingml/2006/main">
              <a:ext uri="{FF2B5EF4-FFF2-40B4-BE49-F238E27FC236}">
                <a16:creationId xmlns:a16="http://schemas.microsoft.com/office/drawing/2014/main" id="{2CB668D8-B900-44E3-B168-EB33EE725B2F}"/>
              </a:ext>
            </a:extLst>
          </p:cNvPr>
          <p:cNvSpPr>
            <a:spLocks xmlns:a="http://schemas.openxmlformats.org/drawingml/2006/main" noGrp="1"/>
          </p:cNvSpPr>
          <p:nvPr/>
        </p:nvSpPr>
        <p:spPr>
          <a:xfrm xmlns:a="http://schemas.openxmlformats.org/drawingml/2006/main">
            <a:off x="11049000" y="641032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BDD0C5"/>
                </a:solidFill>
                <a:latin typeface="Arial"/>
                <a:ea typeface="Arial"/>
                <a:cs typeface="Arial"/>
              </a:defRPr>
            </a:pPr>
            <a:r>
              <a:rPr sz="1200" b="0">
                <a:solidFill>
                  <a:srgbClr val="BDD0C5"/>
                </a:solidFill>
                <a:latin typeface="Arial"/>
                <a:ea typeface="Arial"/>
                <a:cs typeface="Arial"/>
              </a:rPr>
              <a:t>02</a:t>
            </a:r>
          </a:p>
        </p:txBody>
      </p:sp>
      <p:sp>
        <p:nvSpPr>
          <p:cNvPr id="6" name="app">
            <a:extLst xmlns:a="http://schemas.openxmlformats.org/drawingml/2006/main">
              <a:ext uri="{FF2B5EF4-FFF2-40B4-BE49-F238E27FC236}">
                <a16:creationId xmlns:a16="http://schemas.microsoft.com/office/drawing/2014/main" id="{A7C5B76C-95AB-4C9D-8B8F-41BAD872DD34}"/>
              </a:ext>
            </a:extLst>
          </p:cNvPr>
          <p:cNvSpPr>
            <a:spLocks xmlns:a="http://schemas.openxmlformats.org/drawingml/2006/main" noGrp="1"/>
          </p:cNvSpPr>
          <p:nvPr/>
        </p:nvSpPr>
        <p:spPr>
          <a:xfrm xmlns:a="http://schemas.openxmlformats.org/drawingml/2006/main">
            <a:off x="609600" y="3162300"/>
            <a:ext cx="2609850" cy="1409700"/>
          </a:xfrm>
          <a:prstGeom xmlns:a="http://schemas.openxmlformats.org/drawingml/2006/main" prst="rect">
            <a:avLst/>
          </a:prstGeom>
          <a:solidFill xmlns:a="http://schemas.openxmlformats.org/drawingml/2006/main">
            <a:srgbClr val="28483C"/>
          </a:solidFill>
          <a:ln xmlns:a="http://schemas.openxmlformats.org/drawingml/2006/main" w="0">
            <a:noFill/>
            <a:prstDash val="solid"/>
          </a:ln>
        </p:spPr>
      </p:sp>
      <p:sp>
        <p:nvSpPr>
          <p:cNvPr id="7" name="app-title">
            <a:extLst xmlns:a="http://schemas.openxmlformats.org/drawingml/2006/main">
              <a:ext uri="{FF2B5EF4-FFF2-40B4-BE49-F238E27FC236}">
                <a16:creationId xmlns:a16="http://schemas.microsoft.com/office/drawing/2014/main" id="{9519B6EA-92A5-4633-B59D-2248D3CC115D}"/>
              </a:ext>
            </a:extLst>
          </p:cNvPr>
          <p:cNvSpPr>
            <a:spLocks xmlns:a="http://schemas.openxmlformats.org/drawingml/2006/main" noGrp="1"/>
          </p:cNvSpPr>
          <p:nvPr/>
        </p:nvSpPr>
        <p:spPr>
          <a:xfrm xmlns:a="http://schemas.openxmlformats.org/drawingml/2006/main">
            <a:off x="800100" y="3371850"/>
            <a:ext cx="2228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25" b="1">
                <a:solidFill>
                  <a:srgbClr val="FFFFFF"/>
                </a:solidFill>
                <a:latin typeface="Arial"/>
                <a:ea typeface="Arial"/>
                <a:cs typeface="Arial"/>
              </a:defRPr>
            </a:pPr>
            <a:r>
              <a:rPr sz="2625" b="1">
                <a:solidFill>
                  <a:srgbClr val="FFFFFF"/>
                </a:solidFill>
                <a:latin typeface="Arial"/>
                <a:ea typeface="Arial"/>
                <a:cs typeface="Arial"/>
              </a:rPr>
              <a:t>Bank of Z</a:t>
            </a:r>
          </a:p>
        </p:txBody>
      </p:sp>
      <p:sp>
        <p:nvSpPr>
          <p:cNvPr id="8" name="app-caption">
            <a:extLst xmlns:a="http://schemas.openxmlformats.org/drawingml/2006/main">
              <a:ext uri="{FF2B5EF4-FFF2-40B4-BE49-F238E27FC236}">
                <a16:creationId xmlns:a16="http://schemas.microsoft.com/office/drawing/2014/main" id="{035FEDAB-4C43-4555-B035-4F6BE0B28A96}"/>
              </a:ext>
            </a:extLst>
          </p:cNvPr>
          <p:cNvSpPr>
            <a:spLocks xmlns:a="http://schemas.openxmlformats.org/drawingml/2006/main" noGrp="1"/>
          </p:cNvSpPr>
          <p:nvPr/>
        </p:nvSpPr>
        <p:spPr>
          <a:xfrm xmlns:a="http://schemas.openxmlformats.org/drawingml/2006/main">
            <a:off x="800100" y="4133850"/>
            <a:ext cx="2228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BDD0C5"/>
                </a:solidFill>
                <a:latin typeface="Arial"/>
                <a:ea typeface="Arial"/>
                <a:cs typeface="Arial"/>
              </a:defRPr>
            </a:pPr>
            <a:r>
              <a:rPr sz="1575" b="0">
                <a:solidFill>
                  <a:srgbClr val="BDD0C5"/>
                </a:solidFill>
                <a:latin typeface="Arial"/>
                <a:ea typeface="Arial"/>
                <a:cs typeface="Arial"/>
              </a:rPr>
              <a:t>Modernized application</a:t>
            </a:r>
          </a:p>
        </p:txBody>
      </p:sp>
      <p:sp>
        <p:nvSpPr>
          <p:cNvPr id="9" name="rag-lane">
            <a:extLst xmlns:a="http://schemas.openxmlformats.org/drawingml/2006/main">
              <a:ext uri="{FF2B5EF4-FFF2-40B4-BE49-F238E27FC236}">
                <a16:creationId xmlns:a16="http://schemas.microsoft.com/office/drawing/2014/main" id="{59306105-41BC-4E8C-B461-13425423BE5E}"/>
              </a:ext>
            </a:extLst>
          </p:cNvPr>
          <p:cNvSpPr>
            <a:spLocks xmlns:a="http://schemas.openxmlformats.org/drawingml/2006/main" noGrp="1"/>
          </p:cNvSpPr>
          <p:nvPr/>
        </p:nvSpPr>
        <p:spPr>
          <a:xfrm xmlns:a="http://schemas.openxmlformats.org/drawingml/2006/main">
            <a:off x="4495800" y="2371725"/>
            <a:ext cx="6800850" cy="619125"/>
          </a:xfrm>
          <a:prstGeom xmlns:a="http://schemas.openxmlformats.org/drawingml/2006/main" prst="rect">
            <a:avLst/>
          </a:prstGeom>
          <a:noFill xmlns:a="http://schemas.openxmlformats.org/drawingml/2006/main"/>
          <a:ln xmlns:a="http://schemas.openxmlformats.org/drawingml/2006/main" w="0">
            <a:noFill/>
            <a:prstDash val="solid"/>
          </a:ln>
        </p:spPr>
      </p:sp>
      <p:sp>
        <p:nvSpPr>
          <p:cNvPr id="10" name="anomaly-lane">
            <a:extLst xmlns:a="http://schemas.openxmlformats.org/drawingml/2006/main">
              <a:ext uri="{FF2B5EF4-FFF2-40B4-BE49-F238E27FC236}">
                <a16:creationId xmlns:a16="http://schemas.microsoft.com/office/drawing/2014/main" id="{DB00ECC4-ED44-49DC-A6F5-4AE1A3DB7D8F}"/>
              </a:ext>
            </a:extLst>
          </p:cNvPr>
          <p:cNvSpPr>
            <a:spLocks xmlns:a="http://schemas.openxmlformats.org/drawingml/2006/main" noGrp="1"/>
          </p:cNvSpPr>
          <p:nvPr/>
        </p:nvSpPr>
        <p:spPr>
          <a:xfrm xmlns:a="http://schemas.openxmlformats.org/drawingml/2006/main">
            <a:off x="4495800" y="4543425"/>
            <a:ext cx="6800850" cy="6191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2" name=""/>
          <p:cNvCxnSpPr>
            <a:stCxn xmlns:a="http://schemas.openxmlformats.org/drawingml/2006/main" id="6" idx="3"/>
            <a:endCxn xmlns:a="http://schemas.openxmlformats.org/drawingml/2006/main" id="9" idx="1"/>
          </p:cNvCxnSpPr>
          <p:nvPr/>
        </p:nvCxnSpPr>
        <p:spPr>
          <a:xfrm xmlns:a="http://schemas.openxmlformats.org/drawingml/2006/main" flipV="1">
            <a:off x="3219450" y="2681288"/>
            <a:ext cx="1276350" cy="1185863"/>
          </a:xfrm>
          <a:prstGeom xmlns:a="http://schemas.openxmlformats.org/drawingml/2006/main" prst="bentConnector3">
            <a:avLst>
              <a:gd name="adj1" fmla="val 50000"/>
            </a:avLst>
          </a:prstGeom>
          <a:ln xmlns:a="http://schemas.openxmlformats.org/drawingml/2006/main" w="23813">
            <a:solidFill>
              <a:srgbClr val="C6F244"/>
            </a:solidFill>
            <a:prstDash val="solid"/>
            <a:tailEnd type="triangle" w="sm" len="sm"/>
          </a:ln>
        </p:spPr>
      </p:cxnSp>
      <p:cxnSp>
        <p:nvCxnSpPr>
          <p:cNvPr id="33" name=""/>
          <p:cNvCxnSpPr>
            <a:stCxn xmlns:a="http://schemas.openxmlformats.org/drawingml/2006/main" id="6" idx="3"/>
            <a:endCxn xmlns:a="http://schemas.openxmlformats.org/drawingml/2006/main" id="10" idx="1"/>
          </p:cNvCxnSpPr>
          <p:nvPr/>
        </p:nvCxnSpPr>
        <p:spPr>
          <a:xfrm xmlns:a="http://schemas.openxmlformats.org/drawingml/2006/main">
            <a:off x="3219450" y="3867150"/>
            <a:ext cx="1276350" cy="985838"/>
          </a:xfrm>
          <a:prstGeom xmlns:a="http://schemas.openxmlformats.org/drawingml/2006/main" prst="bentConnector3">
            <a:avLst>
              <a:gd name="adj1" fmla="val 50000"/>
            </a:avLst>
          </a:prstGeom>
          <a:ln xmlns:a="http://schemas.openxmlformats.org/drawingml/2006/main" w="23813">
            <a:solidFill>
              <a:srgbClr val="C6F244"/>
            </a:solidFill>
            <a:prstDash val="solid"/>
            <a:tailEnd type="triangle" w="sm" len="sm"/>
          </a:ln>
        </p:spPr>
      </p:cxnSp>
      <p:sp>
        <p:nvSpPr>
          <p:cNvPr id="13" name="developer-role">
            <a:extLst xmlns:a="http://schemas.openxmlformats.org/drawingml/2006/main">
              <a:ext uri="{FF2B5EF4-FFF2-40B4-BE49-F238E27FC236}">
                <a16:creationId xmlns:a16="http://schemas.microsoft.com/office/drawing/2014/main" id="{C0999649-D155-4CBC-ACEA-9E21AB816CC7}"/>
              </a:ext>
            </a:extLst>
          </p:cNvPr>
          <p:cNvSpPr>
            <a:spLocks xmlns:a="http://schemas.openxmlformats.org/drawingml/2006/main" noGrp="1"/>
          </p:cNvSpPr>
          <p:nvPr/>
        </p:nvSpPr>
        <p:spPr>
          <a:xfrm xmlns:a="http://schemas.openxmlformats.org/drawingml/2006/main">
            <a:off x="4781550" y="2009775"/>
            <a:ext cx="6800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1">
                <a:solidFill>
                  <a:srgbClr val="C6F244"/>
                </a:solidFill>
                <a:latin typeface="Arial"/>
                <a:ea typeface="Arial"/>
                <a:cs typeface="Arial"/>
              </a:defRPr>
            </a:pPr>
            <a:r>
              <a:rPr sz="1275" b="1">
                <a:solidFill>
                  <a:srgbClr val="C6F244"/>
                </a:solidFill>
                <a:latin typeface="Arial"/>
                <a:ea typeface="Arial"/>
                <a:cs typeface="Arial"/>
              </a:rPr>
              <a:t>FOR DEVELOPERS</a:t>
            </a:r>
          </a:p>
        </p:txBody>
      </p:sp>
      <p:sp>
        <p:nvSpPr>
          <p:cNvPr id="14" name="assistant-name">
            <a:extLst xmlns:a="http://schemas.openxmlformats.org/drawingml/2006/main">
              <a:ext uri="{FF2B5EF4-FFF2-40B4-BE49-F238E27FC236}">
                <a16:creationId xmlns:a16="http://schemas.microsoft.com/office/drawing/2014/main" id="{21C3B420-7EEE-4D96-A388-D0549A1E684A}"/>
              </a:ext>
            </a:extLst>
          </p:cNvPr>
          <p:cNvSpPr>
            <a:spLocks xmlns:a="http://schemas.openxmlformats.org/drawingml/2006/main" noGrp="1"/>
          </p:cNvSpPr>
          <p:nvPr/>
        </p:nvSpPr>
        <p:spPr>
          <a:xfrm xmlns:a="http://schemas.openxmlformats.org/drawingml/2006/main">
            <a:off x="4781550" y="2381250"/>
            <a:ext cx="6800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Code Assistant</a:t>
            </a:r>
          </a:p>
        </p:txBody>
      </p:sp>
      <p:sp>
        <p:nvSpPr>
          <p:cNvPr id="15" name="assistant-value">
            <a:extLst xmlns:a="http://schemas.openxmlformats.org/drawingml/2006/main">
              <a:ext uri="{FF2B5EF4-FFF2-40B4-BE49-F238E27FC236}">
                <a16:creationId xmlns:a16="http://schemas.microsoft.com/office/drawing/2014/main" id="{D3E2A22A-3886-498C-85F1-8482EA3B4745}"/>
              </a:ext>
            </a:extLst>
          </p:cNvPr>
          <p:cNvSpPr>
            <a:spLocks xmlns:a="http://schemas.openxmlformats.org/drawingml/2006/main" noGrp="1"/>
          </p:cNvSpPr>
          <p:nvPr/>
        </p:nvSpPr>
        <p:spPr>
          <a:xfrm xmlns:a="http://schemas.openxmlformats.org/drawingml/2006/main">
            <a:off x="4781550" y="2981325"/>
            <a:ext cx="6800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BDD0C5"/>
                </a:solidFill>
                <a:latin typeface="Arial"/>
                <a:ea typeface="Arial"/>
                <a:cs typeface="Arial"/>
              </a:defRPr>
            </a:pPr>
            <a:r>
              <a:rPr sz="1725" b="0">
                <a:solidFill>
                  <a:srgbClr val="BDD0C5"/>
                </a:solidFill>
                <a:latin typeface="Arial"/>
                <a:ea typeface="Arial"/>
                <a:cs typeface="Arial"/>
              </a:rPr>
              <a:t>Natural-language answers with code and file references</a:t>
            </a:r>
          </a:p>
        </p:txBody>
      </p:sp>
      <p:sp>
        <p:nvSpPr>
          <p:cNvPr id="16" name="assistant-purpose">
            <a:extLst xmlns:a="http://schemas.openxmlformats.org/drawingml/2006/main">
              <a:ext uri="{FF2B5EF4-FFF2-40B4-BE49-F238E27FC236}">
                <a16:creationId xmlns:a16="http://schemas.microsoft.com/office/drawing/2014/main" id="{ACD0A689-3A6A-4F85-868A-CD3DABDB90B4}"/>
              </a:ext>
            </a:extLst>
          </p:cNvPr>
          <p:cNvSpPr>
            <a:spLocks xmlns:a="http://schemas.openxmlformats.org/drawingml/2006/main" noGrp="1"/>
          </p:cNvSpPr>
          <p:nvPr/>
        </p:nvSpPr>
        <p:spPr>
          <a:xfrm xmlns:a="http://schemas.openxmlformats.org/drawingml/2006/main">
            <a:off x="4781550" y="3352800"/>
            <a:ext cx="680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BDD0C5"/>
                </a:solidFill>
                <a:latin typeface="Arial"/>
                <a:ea typeface="Arial"/>
                <a:cs typeface="Arial"/>
              </a:defRPr>
            </a:pPr>
            <a:r>
              <a:rPr sz="1500" b="0">
                <a:solidFill>
                  <a:srgbClr val="BDD0C5"/>
                </a:solidFill>
                <a:latin typeface="Arial"/>
                <a:ea typeface="Arial"/>
                <a:cs typeface="Arial"/>
              </a:rPr>
              <a:t>For onboarding and exploring unfamiliar features</a:t>
            </a:r>
          </a:p>
        </p:txBody>
      </p:sp>
      <p:sp>
        <p:nvSpPr>
          <p:cNvPr id="17" name="branch-separator">
            <a:extLst xmlns:a="http://schemas.openxmlformats.org/drawingml/2006/main">
              <a:ext uri="{FF2B5EF4-FFF2-40B4-BE49-F238E27FC236}">
                <a16:creationId xmlns:a16="http://schemas.microsoft.com/office/drawing/2014/main" id="{DFF56130-BA0E-4D9B-9030-573A729E2B6C}"/>
              </a:ext>
            </a:extLst>
          </p:cNvPr>
          <p:cNvSpPr>
            <a:spLocks xmlns:a="http://schemas.openxmlformats.org/drawingml/2006/main" noGrp="1"/>
          </p:cNvSpPr>
          <p:nvPr/>
        </p:nvSpPr>
        <p:spPr>
          <a:xfrm xmlns:a="http://schemas.openxmlformats.org/drawingml/2006/main">
            <a:off x="4781550" y="3952875"/>
            <a:ext cx="6800850" cy="0"/>
          </a:xfrm>
          <a:prstGeom xmlns:a="http://schemas.openxmlformats.org/drawingml/2006/main" prst="line">
            <a:avLst/>
          </a:prstGeom>
          <a:noFill xmlns:a="http://schemas.openxmlformats.org/drawingml/2006/main"/>
          <a:ln xmlns:a="http://schemas.openxmlformats.org/drawingml/2006/main" w="13335">
            <a:solidFill>
              <a:srgbClr val="3A5146"/>
            </a:solidFill>
            <a:prstDash val="solid"/>
          </a:ln>
        </p:spPr>
      </p:sp>
      <p:sp>
        <p:nvSpPr>
          <p:cNvPr id="18" name="operations-role">
            <a:extLst xmlns:a="http://schemas.openxmlformats.org/drawingml/2006/main">
              <a:ext uri="{FF2B5EF4-FFF2-40B4-BE49-F238E27FC236}">
                <a16:creationId xmlns:a16="http://schemas.microsoft.com/office/drawing/2014/main" id="{C51CD281-6327-4CA2-86D4-F9EFDECA0F8B}"/>
              </a:ext>
            </a:extLst>
          </p:cNvPr>
          <p:cNvSpPr>
            <a:spLocks xmlns:a="http://schemas.openxmlformats.org/drawingml/2006/main" noGrp="1"/>
          </p:cNvSpPr>
          <p:nvPr/>
        </p:nvSpPr>
        <p:spPr>
          <a:xfrm xmlns:a="http://schemas.openxmlformats.org/drawingml/2006/main">
            <a:off x="4781550" y="4181475"/>
            <a:ext cx="6800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1">
                <a:solidFill>
                  <a:srgbClr val="C6F244"/>
                </a:solidFill>
                <a:latin typeface="Arial"/>
                <a:ea typeface="Arial"/>
                <a:cs typeface="Arial"/>
              </a:defRPr>
            </a:pPr>
            <a:r>
              <a:rPr sz="1275" b="1">
                <a:solidFill>
                  <a:srgbClr val="C6F244"/>
                </a:solidFill>
                <a:latin typeface="Arial"/>
                <a:ea typeface="Arial"/>
                <a:cs typeface="Arial"/>
              </a:rPr>
              <a:t>FOR TRANSACTION OVERSIGHT</a:t>
            </a:r>
          </a:p>
        </p:txBody>
      </p:sp>
      <p:sp>
        <p:nvSpPr>
          <p:cNvPr id="19" name="monitor-name">
            <a:extLst xmlns:a="http://schemas.openxmlformats.org/drawingml/2006/main">
              <a:ext uri="{FF2B5EF4-FFF2-40B4-BE49-F238E27FC236}">
                <a16:creationId xmlns:a16="http://schemas.microsoft.com/office/drawing/2014/main" id="{23BA297A-F820-4414-9DEC-A313D187B821}"/>
              </a:ext>
            </a:extLst>
          </p:cNvPr>
          <p:cNvSpPr>
            <a:spLocks xmlns:a="http://schemas.openxmlformats.org/drawingml/2006/main" noGrp="1"/>
          </p:cNvSpPr>
          <p:nvPr/>
        </p:nvSpPr>
        <p:spPr>
          <a:xfrm xmlns:a="http://schemas.openxmlformats.org/drawingml/2006/main">
            <a:off x="4781550" y="4552950"/>
            <a:ext cx="6800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Anomaly monitoring</a:t>
            </a:r>
          </a:p>
        </p:txBody>
      </p:sp>
      <p:sp>
        <p:nvSpPr>
          <p:cNvPr id="20" name="monitor-value">
            <a:extLst xmlns:a="http://schemas.openxmlformats.org/drawingml/2006/main">
              <a:ext uri="{FF2B5EF4-FFF2-40B4-BE49-F238E27FC236}">
                <a16:creationId xmlns:a16="http://schemas.microsoft.com/office/drawing/2014/main" id="{3A142BCE-64BA-44AE-9B78-6BB2A9C7561A}"/>
              </a:ext>
            </a:extLst>
          </p:cNvPr>
          <p:cNvSpPr>
            <a:spLocks xmlns:a="http://schemas.openxmlformats.org/drawingml/2006/main" noGrp="1"/>
          </p:cNvSpPr>
          <p:nvPr/>
        </p:nvSpPr>
        <p:spPr>
          <a:xfrm xmlns:a="http://schemas.openxmlformats.org/drawingml/2006/main">
            <a:off x="4781550" y="5153025"/>
            <a:ext cx="68008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BDD0C5"/>
                </a:solidFill>
                <a:latin typeface="Arial"/>
                <a:ea typeface="Arial"/>
                <a:cs typeface="Arial"/>
              </a:defRPr>
            </a:pPr>
            <a:r>
              <a:rPr sz="1725" b="0">
                <a:solidFill>
                  <a:srgbClr val="BDD0C5"/>
                </a:solidFill>
                <a:latin typeface="Arial"/>
                <a:ea typeface="Arial"/>
                <a:cs typeface="Arial"/>
              </a:rPr>
              <a:t>Flag unusual activity and draft customer notifications.</a:t>
            </a:r>
          </a:p>
        </p:txBody>
      </p:sp>
      <p:sp>
        <p:nvSpPr>
          <p:cNvPr id="21" name="monitor-purpose">
            <a:extLst xmlns:a="http://schemas.openxmlformats.org/drawingml/2006/main">
              <a:ext uri="{FF2B5EF4-FFF2-40B4-BE49-F238E27FC236}">
                <a16:creationId xmlns:a16="http://schemas.microsoft.com/office/drawing/2014/main" id="{21C7A672-6BB5-4F40-B73C-E6784BB6AD7D}"/>
              </a:ext>
            </a:extLst>
          </p:cNvPr>
          <p:cNvSpPr>
            <a:spLocks xmlns:a="http://schemas.openxmlformats.org/drawingml/2006/main" noGrp="1"/>
          </p:cNvSpPr>
          <p:nvPr/>
        </p:nvSpPr>
        <p:spPr>
          <a:xfrm xmlns:a="http://schemas.openxmlformats.org/drawingml/2006/main">
            <a:off x="4781550" y="5524500"/>
            <a:ext cx="680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BDD0C5"/>
                </a:solidFill>
                <a:latin typeface="Arial"/>
                <a:ea typeface="Arial"/>
                <a:cs typeface="Arial"/>
              </a:defRPr>
            </a:pPr>
            <a:r>
              <a:rPr sz="1500" b="0">
                <a:solidFill>
                  <a:srgbClr val="BDD0C5"/>
                </a:solidFill>
                <a:latin typeface="Arial"/>
                <a:ea typeface="Arial"/>
                <a:cs typeface="Arial"/>
              </a:rPr>
              <a:t>Demonstrated with simulated transactions and Mailpit</a:t>
            </a:r>
          </a:p>
        </p:txBody>
      </p:sp>
    </p:spTree>
    <p:extLst>
      <p:ext uri="{BB962C8B-B14F-4D97-AF65-F5344CB8AC3E}">
        <p14:creationId xmlns:p14="http://schemas.microsoft.com/office/powerpoint/2010/main" val="16321802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
            <a:extLst xmlns:a="http://schemas.openxmlformats.org/drawingml/2006/main">
              <a:ext uri="{FF2B5EF4-FFF2-40B4-BE49-F238E27FC236}">
                <a16:creationId xmlns:a16="http://schemas.microsoft.com/office/drawing/2014/main" id="{41F82A64-6702-4A46-80A5-DF4004F06616}"/>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172421"/>
                </a:solidFill>
                <a:latin typeface="Arial"/>
                <a:ea typeface="Arial"/>
                <a:cs typeface="Arial"/>
              </a:defRPr>
            </a:pPr>
            <a:r>
              <a:rPr sz="3225" b="1">
                <a:solidFill>
                  <a:srgbClr val="172421"/>
                </a:solidFill>
                <a:latin typeface="Arial"/>
                <a:ea typeface="Arial"/>
                <a:cs typeface="Arial"/>
              </a:rPr>
              <a:t>RAG: preparing project knowledge</a:t>
            </a:r>
          </a:p>
        </p:txBody>
      </p:sp>
      <p:sp>
        <p:nvSpPr>
          <p:cNvPr id="2" name="subtitle">
            <a:extLst xmlns:a="http://schemas.openxmlformats.org/drawingml/2006/main">
              <a:ext uri="{FF2B5EF4-FFF2-40B4-BE49-F238E27FC236}">
                <a16:creationId xmlns:a16="http://schemas.microsoft.com/office/drawing/2014/main" id="{EEB2EBB2-E39F-46FB-BB0C-550219463B47}"/>
              </a:ext>
            </a:extLst>
          </p:cNvPr>
          <p:cNvSpPr>
            <a:spLocks xmlns:a="http://schemas.openxmlformats.org/drawingml/2006/main" noGrp="1"/>
          </p:cNvSpPr>
          <p:nvPr/>
        </p:nvSpPr>
        <p:spPr>
          <a:xfrm xmlns:a="http://schemas.openxmlformats.org/drawingml/2006/main">
            <a:off x="609600" y="120015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4736D"/>
                </a:solidFill>
                <a:latin typeface="Arial"/>
                <a:ea typeface="Arial"/>
                <a:cs typeface="Arial"/>
              </a:defRPr>
            </a:pPr>
            <a:r>
              <a:rPr sz="1800" b="0">
                <a:solidFill>
                  <a:srgbClr val="64736D"/>
                </a:solidFill>
                <a:latin typeface="Arial"/>
                <a:ea typeface="Arial"/>
                <a:cs typeface="Arial"/>
              </a:rPr>
              <a:t>Code and AI summaries form a searchable knowledge base</a:t>
            </a:r>
          </a:p>
        </p:txBody>
      </p:sp>
      <p:sp>
        <p:nvSpPr>
          <p:cNvPr id="3" name="footer-rule">
            <a:extLst xmlns:a="http://schemas.openxmlformats.org/drawingml/2006/main">
              <a:ext uri="{FF2B5EF4-FFF2-40B4-BE49-F238E27FC236}">
                <a16:creationId xmlns:a16="http://schemas.microsoft.com/office/drawing/2014/main" id="{2FD97070-2E00-4182-96B4-77723F27B30A}"/>
              </a:ext>
            </a:extLst>
          </p:cNvPr>
          <p:cNvSpPr>
            <a:spLocks xmlns:a="http://schemas.openxmlformats.org/drawingml/2006/main" noGrp="1"/>
          </p:cNvSpPr>
          <p:nvPr/>
        </p:nvSpPr>
        <p:spPr>
          <a:xfrm xmlns:a="http://schemas.openxmlformats.org/drawingml/2006/main">
            <a:off x="609600" y="6296025"/>
            <a:ext cx="10972800" cy="0"/>
          </a:xfrm>
          <a:prstGeom xmlns:a="http://schemas.openxmlformats.org/drawingml/2006/main" prst="line">
            <a:avLst/>
          </a:prstGeom>
          <a:noFill xmlns:a="http://schemas.openxmlformats.org/drawingml/2006/main"/>
          <a:ln xmlns:a="http://schemas.openxmlformats.org/drawingml/2006/main" w="9525">
            <a:solidFill>
              <a:srgbClr val="D7E0D7"/>
            </a:solidFill>
            <a:prstDash val="solid"/>
          </a:ln>
        </p:spPr>
      </p:sp>
      <p:sp>
        <p:nvSpPr>
          <p:cNvPr id="4" name="footer-brand">
            <a:extLst xmlns:a="http://schemas.openxmlformats.org/drawingml/2006/main">
              <a:ext uri="{FF2B5EF4-FFF2-40B4-BE49-F238E27FC236}">
                <a16:creationId xmlns:a16="http://schemas.microsoft.com/office/drawing/2014/main" id="{BB5AC2EE-95E4-4329-8E24-611333A2AD82}"/>
              </a:ext>
            </a:extLst>
          </p:cNvPr>
          <p:cNvSpPr>
            <a:spLocks xmlns:a="http://schemas.openxmlformats.org/drawingml/2006/main" noGrp="1"/>
          </p:cNvSpPr>
          <p:nvPr/>
        </p:nvSpPr>
        <p:spPr>
          <a:xfrm xmlns:a="http://schemas.openxmlformats.org/drawingml/2006/main">
            <a:off x="609600" y="64484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975" b="1">
                <a:solidFill>
                  <a:srgbClr val="64736D"/>
                </a:solidFill>
                <a:latin typeface="Arial"/>
                <a:ea typeface="Arial"/>
                <a:cs typeface="Arial"/>
              </a:defRPr>
            </a:pPr>
            <a:r>
              <a:rPr sz="975" b="1">
                <a:solidFill>
                  <a:srgbClr val="64736D"/>
                </a:solidFill>
                <a:latin typeface="Arial"/>
                <a:ea typeface="Arial"/>
                <a:cs typeface="Arial"/>
              </a:rPr>
              <a:t>BANK OF Z</a:t>
            </a:r>
          </a:p>
        </p:txBody>
      </p:sp>
      <p:sp>
        <p:nvSpPr>
          <p:cNvPr id="5" name="footer-page">
            <a:extLst xmlns:a="http://schemas.openxmlformats.org/drawingml/2006/main">
              <a:ext uri="{FF2B5EF4-FFF2-40B4-BE49-F238E27FC236}">
                <a16:creationId xmlns:a16="http://schemas.microsoft.com/office/drawing/2014/main" id="{5B698764-2E6F-4E56-A355-39CB1FD2984A}"/>
              </a:ext>
            </a:extLst>
          </p:cNvPr>
          <p:cNvSpPr>
            <a:spLocks xmlns:a="http://schemas.openxmlformats.org/drawingml/2006/main" noGrp="1"/>
          </p:cNvSpPr>
          <p:nvPr/>
        </p:nvSpPr>
        <p:spPr>
          <a:xfrm xmlns:a="http://schemas.openxmlformats.org/drawingml/2006/main">
            <a:off x="11049000" y="641032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4736D"/>
                </a:solidFill>
                <a:latin typeface="Arial"/>
                <a:ea typeface="Arial"/>
                <a:cs typeface="Arial"/>
              </a:defRPr>
            </a:pPr>
            <a:r>
              <a:rPr sz="1200" b="0">
                <a:solidFill>
                  <a:srgbClr val="64736D"/>
                </a:solidFill>
                <a:latin typeface="Arial"/>
                <a:ea typeface="Arial"/>
                <a:cs typeface="Arial"/>
              </a:rPr>
              <a:t>03</a:t>
            </a:r>
          </a:p>
        </p:txBody>
      </p:sp>
      <p:sp>
        <p:nvSpPr>
          <p:cNvPr id="6" name="code">
            <a:extLst xmlns:a="http://schemas.openxmlformats.org/drawingml/2006/main">
              <a:ext uri="{FF2B5EF4-FFF2-40B4-BE49-F238E27FC236}">
                <a16:creationId xmlns:a16="http://schemas.microsoft.com/office/drawing/2014/main" id="{48A97600-4A66-43BB-A1BD-72F6775FBC78}"/>
              </a:ext>
            </a:extLst>
          </p:cNvPr>
          <p:cNvSpPr>
            <a:spLocks xmlns:a="http://schemas.openxmlformats.org/drawingml/2006/main" noGrp="1"/>
          </p:cNvSpPr>
          <p:nvPr/>
        </p:nvSpPr>
        <p:spPr>
          <a:xfrm xmlns:a="http://schemas.openxmlformats.org/drawingml/2006/main">
            <a:off x="609600" y="2466975"/>
            <a:ext cx="2228850" cy="1504950"/>
          </a:xfrm>
          <a:prstGeom xmlns:a="http://schemas.openxmlformats.org/drawingml/2006/main" prst="rect">
            <a:avLst/>
          </a:prstGeom>
          <a:solidFill xmlns:a="http://schemas.openxmlformats.org/drawingml/2006/main">
            <a:srgbClr val="F1F4EE"/>
          </a:solidFill>
          <a:ln xmlns:a="http://schemas.openxmlformats.org/drawingml/2006/main" w="0">
            <a:noFill/>
            <a:prstDash val="solid"/>
          </a:ln>
        </p:spPr>
      </p:sp>
      <p:sp>
        <p:nvSpPr>
          <p:cNvPr id="7" name="code-title">
            <a:extLst xmlns:a="http://schemas.openxmlformats.org/drawingml/2006/main">
              <a:ext uri="{FF2B5EF4-FFF2-40B4-BE49-F238E27FC236}">
                <a16:creationId xmlns:a16="http://schemas.microsoft.com/office/drawing/2014/main" id="{460FC53B-D0FA-48EB-A836-7494590A6EDF}"/>
              </a:ext>
            </a:extLst>
          </p:cNvPr>
          <p:cNvSpPr>
            <a:spLocks xmlns:a="http://schemas.openxmlformats.org/drawingml/2006/main" noGrp="1"/>
          </p:cNvSpPr>
          <p:nvPr/>
        </p:nvSpPr>
        <p:spPr>
          <a:xfrm xmlns:a="http://schemas.openxmlformats.org/drawingml/2006/main">
            <a:off x="800100" y="2676525"/>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72421"/>
                </a:solidFill>
                <a:latin typeface="Arial"/>
                <a:ea typeface="Arial"/>
                <a:cs typeface="Arial"/>
              </a:defRPr>
            </a:pPr>
            <a:r>
              <a:rPr sz="2100" b="1">
                <a:solidFill>
                  <a:srgbClr val="172421"/>
                </a:solidFill>
                <a:latin typeface="Arial"/>
                <a:ea typeface="Arial"/>
                <a:cs typeface="Arial"/>
              </a:rPr>
              <a:t>Project code</a:t>
            </a:r>
          </a:p>
        </p:txBody>
      </p:sp>
      <p:sp>
        <p:nvSpPr>
          <p:cNvPr id="8" name="code-caption">
            <a:extLst xmlns:a="http://schemas.openxmlformats.org/drawingml/2006/main">
              <a:ext uri="{FF2B5EF4-FFF2-40B4-BE49-F238E27FC236}">
                <a16:creationId xmlns:a16="http://schemas.microsoft.com/office/drawing/2014/main" id="{521584B0-13C2-48B8-BB66-656412D5327E}"/>
              </a:ext>
            </a:extLst>
          </p:cNvPr>
          <p:cNvSpPr>
            <a:spLocks xmlns:a="http://schemas.openxmlformats.org/drawingml/2006/main" noGrp="1"/>
          </p:cNvSpPr>
          <p:nvPr/>
        </p:nvSpPr>
        <p:spPr>
          <a:xfrm xmlns:a="http://schemas.openxmlformats.org/drawingml/2006/main">
            <a:off x="800100" y="3533775"/>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4736D"/>
                </a:solidFill>
                <a:latin typeface="Arial"/>
                <a:ea typeface="Arial"/>
                <a:cs typeface="Arial"/>
              </a:defRPr>
            </a:pPr>
            <a:r>
              <a:rPr sz="1425" b="0">
                <a:solidFill>
                  <a:srgbClr val="64736D"/>
                </a:solidFill>
                <a:latin typeface="Arial"/>
                <a:ea typeface="Arial"/>
                <a:cs typeface="Arial"/>
              </a:rPr>
              <a:t>Frontend + backend</a:t>
            </a:r>
          </a:p>
        </p:txBody>
      </p:sp>
      <p:sp>
        <p:nvSpPr>
          <p:cNvPr id="9" name="structure">
            <a:extLst xmlns:a="http://schemas.openxmlformats.org/drawingml/2006/main">
              <a:ext uri="{FF2B5EF4-FFF2-40B4-BE49-F238E27FC236}">
                <a16:creationId xmlns:a16="http://schemas.microsoft.com/office/drawing/2014/main" id="{004C8FDA-368B-4867-A12D-BAEC13088B62}"/>
              </a:ext>
            </a:extLst>
          </p:cNvPr>
          <p:cNvSpPr>
            <a:spLocks xmlns:a="http://schemas.openxmlformats.org/drawingml/2006/main" noGrp="1"/>
          </p:cNvSpPr>
          <p:nvPr/>
        </p:nvSpPr>
        <p:spPr>
          <a:xfrm xmlns:a="http://schemas.openxmlformats.org/drawingml/2006/main">
            <a:off x="3524250" y="2466975"/>
            <a:ext cx="2228850" cy="1504950"/>
          </a:xfrm>
          <a:prstGeom xmlns:a="http://schemas.openxmlformats.org/drawingml/2006/main" prst="rect">
            <a:avLst/>
          </a:prstGeom>
          <a:solidFill xmlns:a="http://schemas.openxmlformats.org/drawingml/2006/main">
            <a:srgbClr val="F1F4EE"/>
          </a:solidFill>
          <a:ln xmlns:a="http://schemas.openxmlformats.org/drawingml/2006/main" w="0">
            <a:noFill/>
            <a:prstDash val="solid"/>
          </a:ln>
        </p:spPr>
      </p:sp>
      <p:sp>
        <p:nvSpPr>
          <p:cNvPr id="10" name="structure-title">
            <a:extLst xmlns:a="http://schemas.openxmlformats.org/drawingml/2006/main">
              <a:ext uri="{FF2B5EF4-FFF2-40B4-BE49-F238E27FC236}">
                <a16:creationId xmlns:a16="http://schemas.microsoft.com/office/drawing/2014/main" id="{6D020D43-2C42-4430-8C08-E8A11D3F3BCA}"/>
              </a:ext>
            </a:extLst>
          </p:cNvPr>
          <p:cNvSpPr>
            <a:spLocks xmlns:a="http://schemas.openxmlformats.org/drawingml/2006/main" noGrp="1"/>
          </p:cNvSpPr>
          <p:nvPr/>
        </p:nvSpPr>
        <p:spPr>
          <a:xfrm xmlns:a="http://schemas.openxmlformats.org/drawingml/2006/main">
            <a:off x="3714750" y="2676525"/>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72421"/>
                </a:solidFill>
                <a:latin typeface="Arial"/>
                <a:ea typeface="Arial"/>
                <a:cs typeface="Arial"/>
              </a:defRPr>
            </a:pPr>
            <a:r>
              <a:rPr sz="2100" b="1">
                <a:solidFill>
                  <a:srgbClr val="172421"/>
                </a:solidFill>
                <a:latin typeface="Arial"/>
                <a:ea typeface="Arial"/>
                <a:cs typeface="Arial"/>
              </a:rPr>
              <a:t>Structure</a:t>
            </a:r>
          </a:p>
        </p:txBody>
      </p:sp>
      <p:sp>
        <p:nvSpPr>
          <p:cNvPr id="11" name="structure-caption">
            <a:extLst xmlns:a="http://schemas.openxmlformats.org/drawingml/2006/main">
              <a:ext uri="{FF2B5EF4-FFF2-40B4-BE49-F238E27FC236}">
                <a16:creationId xmlns:a16="http://schemas.microsoft.com/office/drawing/2014/main" id="{85E5EE1A-2612-4884-A1A9-3D76E579A837}"/>
              </a:ext>
            </a:extLst>
          </p:cNvPr>
          <p:cNvSpPr>
            <a:spLocks xmlns:a="http://schemas.openxmlformats.org/drawingml/2006/main" noGrp="1"/>
          </p:cNvSpPr>
          <p:nvPr/>
        </p:nvSpPr>
        <p:spPr>
          <a:xfrm xmlns:a="http://schemas.openxmlformats.org/drawingml/2006/main">
            <a:off x="3714750" y="3533775"/>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64736D"/>
                </a:solidFill>
                <a:latin typeface="Arial"/>
                <a:ea typeface="Arial"/>
                <a:cs typeface="Arial"/>
              </a:defRPr>
            </a:pPr>
            <a:r>
              <a:rPr sz="1500" b="0">
                <a:solidFill>
                  <a:srgbClr val="64736D"/>
                </a:solidFill>
                <a:latin typeface="Arial"/>
                <a:ea typeface="Arial"/>
                <a:cs typeface="Arial"/>
              </a:rPr>
              <a:t>Files + functions</a:t>
            </a:r>
          </a:p>
        </p:txBody>
      </p:sp>
      <p:sp>
        <p:nvSpPr>
          <p:cNvPr id="12" name="summary">
            <a:extLst xmlns:a="http://schemas.openxmlformats.org/drawingml/2006/main">
              <a:ext uri="{FF2B5EF4-FFF2-40B4-BE49-F238E27FC236}">
                <a16:creationId xmlns:a16="http://schemas.microsoft.com/office/drawing/2014/main" id="{7F9BA4E5-1AD7-4B1D-853C-62F0803DE635}"/>
              </a:ext>
            </a:extLst>
          </p:cNvPr>
          <p:cNvSpPr>
            <a:spLocks xmlns:a="http://schemas.openxmlformats.org/drawingml/2006/main" noGrp="1"/>
          </p:cNvSpPr>
          <p:nvPr/>
        </p:nvSpPr>
        <p:spPr>
          <a:xfrm xmlns:a="http://schemas.openxmlformats.org/drawingml/2006/main">
            <a:off x="6438900" y="2466975"/>
            <a:ext cx="2228850" cy="1504950"/>
          </a:xfrm>
          <a:prstGeom xmlns:a="http://schemas.openxmlformats.org/drawingml/2006/main" prst="rect">
            <a:avLst/>
          </a:prstGeom>
          <a:solidFill xmlns:a="http://schemas.openxmlformats.org/drawingml/2006/main">
            <a:srgbClr val="F1F4EE"/>
          </a:solidFill>
          <a:ln xmlns:a="http://schemas.openxmlformats.org/drawingml/2006/main" w="0">
            <a:noFill/>
            <a:prstDash val="solid"/>
          </a:ln>
        </p:spPr>
      </p:sp>
      <p:sp>
        <p:nvSpPr>
          <p:cNvPr id="13" name="summary-title">
            <a:extLst xmlns:a="http://schemas.openxmlformats.org/drawingml/2006/main">
              <a:ext uri="{FF2B5EF4-FFF2-40B4-BE49-F238E27FC236}">
                <a16:creationId xmlns:a16="http://schemas.microsoft.com/office/drawing/2014/main" id="{D1E34479-67C4-4019-945F-67F2D0B35B33}"/>
              </a:ext>
            </a:extLst>
          </p:cNvPr>
          <p:cNvSpPr>
            <a:spLocks xmlns:a="http://schemas.openxmlformats.org/drawingml/2006/main" noGrp="1"/>
          </p:cNvSpPr>
          <p:nvPr/>
        </p:nvSpPr>
        <p:spPr>
          <a:xfrm xmlns:a="http://schemas.openxmlformats.org/drawingml/2006/main">
            <a:off x="6629400" y="2676525"/>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72421"/>
                </a:solidFill>
                <a:latin typeface="Arial"/>
                <a:ea typeface="Arial"/>
                <a:cs typeface="Arial"/>
              </a:defRPr>
            </a:pPr>
            <a:r>
              <a:rPr sz="2100" b="1">
                <a:solidFill>
                  <a:srgbClr val="172421"/>
                </a:solidFill>
                <a:latin typeface="Arial"/>
                <a:ea typeface="Arial"/>
                <a:cs typeface="Arial"/>
              </a:rPr>
              <a:t>Add context</a:t>
            </a:r>
          </a:p>
        </p:txBody>
      </p:sp>
      <p:sp>
        <p:nvSpPr>
          <p:cNvPr id="14" name="summary-caption">
            <a:extLst xmlns:a="http://schemas.openxmlformats.org/drawingml/2006/main">
              <a:ext uri="{FF2B5EF4-FFF2-40B4-BE49-F238E27FC236}">
                <a16:creationId xmlns:a16="http://schemas.microsoft.com/office/drawing/2014/main" id="{D1B01710-3A54-4B2E-8DB9-F4899F9DFE60}"/>
              </a:ext>
            </a:extLst>
          </p:cNvPr>
          <p:cNvSpPr>
            <a:spLocks xmlns:a="http://schemas.openxmlformats.org/drawingml/2006/main" noGrp="1"/>
          </p:cNvSpPr>
          <p:nvPr/>
        </p:nvSpPr>
        <p:spPr>
          <a:xfrm xmlns:a="http://schemas.openxmlformats.org/drawingml/2006/main">
            <a:off x="6629400" y="3533775"/>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64736D"/>
                </a:solidFill>
                <a:latin typeface="Arial"/>
                <a:ea typeface="Arial"/>
                <a:cs typeface="Arial"/>
              </a:defRPr>
            </a:pPr>
            <a:r>
              <a:rPr sz="1500" b="0">
                <a:solidFill>
                  <a:srgbClr val="64736D"/>
                </a:solidFill>
                <a:latin typeface="Arial"/>
                <a:ea typeface="Arial"/>
                <a:cs typeface="Arial"/>
              </a:rPr>
              <a:t>AI summaries</a:t>
            </a:r>
          </a:p>
        </p:txBody>
      </p:sp>
      <p:sp>
        <p:nvSpPr>
          <p:cNvPr id="15" name="index">
            <a:extLst xmlns:a="http://schemas.openxmlformats.org/drawingml/2006/main">
              <a:ext uri="{FF2B5EF4-FFF2-40B4-BE49-F238E27FC236}">
                <a16:creationId xmlns:a16="http://schemas.microsoft.com/office/drawing/2014/main" id="{7332E7FE-7311-4904-A08D-DC83696BD1BB}"/>
              </a:ext>
            </a:extLst>
          </p:cNvPr>
          <p:cNvSpPr>
            <a:spLocks xmlns:a="http://schemas.openxmlformats.org/drawingml/2006/main" noGrp="1"/>
          </p:cNvSpPr>
          <p:nvPr/>
        </p:nvSpPr>
        <p:spPr>
          <a:xfrm xmlns:a="http://schemas.openxmlformats.org/drawingml/2006/main">
            <a:off x="9353550" y="2466975"/>
            <a:ext cx="2228850" cy="1504950"/>
          </a:xfrm>
          <a:prstGeom xmlns:a="http://schemas.openxmlformats.org/drawingml/2006/main" prst="rect">
            <a:avLst/>
          </a:prstGeom>
          <a:solidFill xmlns:a="http://schemas.openxmlformats.org/drawingml/2006/main">
            <a:srgbClr val="C6F244"/>
          </a:solidFill>
          <a:ln xmlns:a="http://schemas.openxmlformats.org/drawingml/2006/main" w="0">
            <a:noFill/>
            <a:prstDash val="solid"/>
          </a:ln>
        </p:spPr>
      </p:sp>
      <p:sp>
        <p:nvSpPr>
          <p:cNvPr id="16" name="index-title">
            <a:extLst xmlns:a="http://schemas.openxmlformats.org/drawingml/2006/main">
              <a:ext uri="{FF2B5EF4-FFF2-40B4-BE49-F238E27FC236}">
                <a16:creationId xmlns:a16="http://schemas.microsoft.com/office/drawing/2014/main" id="{1F255188-D41C-462B-93E7-476FECA0C4E2}"/>
              </a:ext>
            </a:extLst>
          </p:cNvPr>
          <p:cNvSpPr>
            <a:spLocks xmlns:a="http://schemas.openxmlformats.org/drawingml/2006/main" noGrp="1"/>
          </p:cNvSpPr>
          <p:nvPr/>
        </p:nvSpPr>
        <p:spPr>
          <a:xfrm xmlns:a="http://schemas.openxmlformats.org/drawingml/2006/main">
            <a:off x="9544050" y="2676525"/>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72421"/>
                </a:solidFill>
                <a:latin typeface="Arial"/>
                <a:ea typeface="Arial"/>
                <a:cs typeface="Arial"/>
              </a:defRPr>
            </a:pPr>
            <a:r>
              <a:rPr sz="2100" b="1">
                <a:solidFill>
                  <a:srgbClr val="172421"/>
                </a:solidFill>
                <a:latin typeface="Arial"/>
                <a:ea typeface="Arial"/>
                <a:cs typeface="Arial"/>
              </a:rPr>
              <a:t>Index</a:t>
            </a:r>
          </a:p>
        </p:txBody>
      </p:sp>
      <p:sp>
        <p:nvSpPr>
          <p:cNvPr id="17" name="index-caption">
            <a:extLst xmlns:a="http://schemas.openxmlformats.org/drawingml/2006/main">
              <a:ext uri="{FF2B5EF4-FFF2-40B4-BE49-F238E27FC236}">
                <a16:creationId xmlns:a16="http://schemas.microsoft.com/office/drawing/2014/main" id="{4E5D00D2-BDD9-4155-A7A7-6D649CBBC1F0}"/>
              </a:ext>
            </a:extLst>
          </p:cNvPr>
          <p:cNvSpPr>
            <a:spLocks xmlns:a="http://schemas.openxmlformats.org/drawingml/2006/main" noGrp="1"/>
          </p:cNvSpPr>
          <p:nvPr/>
        </p:nvSpPr>
        <p:spPr>
          <a:xfrm xmlns:a="http://schemas.openxmlformats.org/drawingml/2006/main">
            <a:off x="9544050" y="3533775"/>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172421"/>
                </a:solidFill>
                <a:latin typeface="Arial"/>
                <a:ea typeface="Arial"/>
                <a:cs typeface="Arial"/>
              </a:defRPr>
            </a:pPr>
            <a:r>
              <a:rPr sz="1500" b="0">
                <a:solidFill>
                  <a:srgbClr val="172421"/>
                </a:solidFill>
                <a:latin typeface="Arial"/>
                <a:ea typeface="Arial"/>
                <a:cs typeface="Arial"/>
              </a:rPr>
              <a:t>Searchable code</a:t>
            </a:r>
          </a:p>
        </p:txBody>
      </p:sp>
      <p:cxnSp>
        <p:nvCxnSpPr>
          <p:cNvPr id="45" name=""/>
          <p:cNvCxnSpPr>
            <a:stCxn xmlns:a="http://schemas.openxmlformats.org/drawingml/2006/main" id="6" idx="3"/>
            <a:endCxn xmlns:a="http://schemas.openxmlformats.org/drawingml/2006/main" id="9" idx="1"/>
          </p:cNvCxnSpPr>
          <p:nvPr/>
        </p:nvCxnSpPr>
        <p:spPr>
          <a:xfrm xmlns:a="http://schemas.openxmlformats.org/drawingml/2006/main">
            <a:off x="2838450" y="3219450"/>
            <a:ext cx="685800" cy="0"/>
          </a:xfrm>
          <a:prstGeom xmlns:a="http://schemas.openxmlformats.org/drawingml/2006/main" prst="straightConnector1">
            <a:avLst/>
          </a:prstGeom>
          <a:ln xmlns:a="http://schemas.openxmlformats.org/drawingml/2006/main" w="23813">
            <a:solidFill>
              <a:srgbClr val="087B68"/>
            </a:solidFill>
            <a:prstDash val="solid"/>
            <a:tailEnd type="triangle" w="sm" len="sm"/>
          </a:ln>
        </p:spPr>
      </p:cxnSp>
      <p:cxnSp>
        <p:nvCxnSpPr>
          <p:cNvPr id="46" name=""/>
          <p:cNvCxnSpPr>
            <a:stCxn xmlns:a="http://schemas.openxmlformats.org/drawingml/2006/main" id="9" idx="3"/>
            <a:endCxn xmlns:a="http://schemas.openxmlformats.org/drawingml/2006/main" id="12" idx="1"/>
          </p:cNvCxnSpPr>
          <p:nvPr/>
        </p:nvCxnSpPr>
        <p:spPr>
          <a:xfrm xmlns:a="http://schemas.openxmlformats.org/drawingml/2006/main">
            <a:off x="5753100" y="3219450"/>
            <a:ext cx="685800" cy="0"/>
          </a:xfrm>
          <a:prstGeom xmlns:a="http://schemas.openxmlformats.org/drawingml/2006/main" prst="straightConnector1">
            <a:avLst/>
          </a:prstGeom>
          <a:ln xmlns:a="http://schemas.openxmlformats.org/drawingml/2006/main" w="23813">
            <a:solidFill>
              <a:srgbClr val="087B68"/>
            </a:solidFill>
            <a:prstDash val="solid"/>
            <a:tailEnd type="triangle" w="sm" len="sm"/>
          </a:ln>
        </p:spPr>
      </p:cxnSp>
      <p:cxnSp>
        <p:nvCxnSpPr>
          <p:cNvPr id="47" name=""/>
          <p:cNvCxnSpPr>
            <a:stCxn xmlns:a="http://schemas.openxmlformats.org/drawingml/2006/main" id="12" idx="3"/>
            <a:endCxn xmlns:a="http://schemas.openxmlformats.org/drawingml/2006/main" id="15" idx="1"/>
          </p:cNvCxnSpPr>
          <p:nvPr/>
        </p:nvCxnSpPr>
        <p:spPr>
          <a:xfrm xmlns:a="http://schemas.openxmlformats.org/drawingml/2006/main">
            <a:off x="8667750" y="3219450"/>
            <a:ext cx="685800" cy="0"/>
          </a:xfrm>
          <a:prstGeom xmlns:a="http://schemas.openxmlformats.org/drawingml/2006/main" prst="straightConnector1">
            <a:avLst/>
          </a:prstGeom>
          <a:ln xmlns:a="http://schemas.openxmlformats.org/drawingml/2006/main" w="23813">
            <a:solidFill>
              <a:srgbClr val="087B68"/>
            </a:solidFill>
            <a:prstDash val="solid"/>
            <a:tailEnd type="triangle" w="sm" len="sm"/>
          </a:ln>
        </p:spPr>
      </p:cxnSp>
      <p:sp>
        <p:nvSpPr>
          <p:cNvPr id="21" name="incremental-title">
            <a:extLst xmlns:a="http://schemas.openxmlformats.org/drawingml/2006/main">
              <a:ext uri="{FF2B5EF4-FFF2-40B4-BE49-F238E27FC236}">
                <a16:creationId xmlns:a16="http://schemas.microsoft.com/office/drawing/2014/main" id="{E5615BA4-FCAB-4E4A-AE52-C821FF475C60}"/>
              </a:ext>
            </a:extLst>
          </p:cNvPr>
          <p:cNvSpPr>
            <a:spLocks xmlns:a="http://schemas.openxmlformats.org/drawingml/2006/main" noGrp="1"/>
          </p:cNvSpPr>
          <p:nvPr/>
        </p:nvSpPr>
        <p:spPr>
          <a:xfrm xmlns:a="http://schemas.openxmlformats.org/drawingml/2006/main">
            <a:off x="609600" y="4514850"/>
            <a:ext cx="10972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72421"/>
                </a:solidFill>
                <a:latin typeface="Arial"/>
                <a:ea typeface="Arial"/>
                <a:cs typeface="Arial"/>
              </a:defRPr>
            </a:pPr>
            <a:r>
              <a:rPr sz="2250" b="1">
                <a:solidFill>
                  <a:srgbClr val="172421"/>
                </a:solidFill>
                <a:latin typeface="Arial"/>
                <a:ea typeface="Arial"/>
                <a:cs typeface="Arial"/>
              </a:rPr>
              <a:t>Each refresh processes only what changed</a:t>
            </a:r>
          </a:p>
        </p:txBody>
      </p:sp>
      <p:sp>
        <p:nvSpPr>
          <p:cNvPr id="22" name="refresh">
            <a:extLst xmlns:a="http://schemas.openxmlformats.org/drawingml/2006/main">
              <a:ext uri="{FF2B5EF4-FFF2-40B4-BE49-F238E27FC236}">
                <a16:creationId xmlns:a16="http://schemas.microsoft.com/office/drawing/2014/main" id="{6ECA97A6-1D52-4B85-A73C-B28D0D21E21C}"/>
              </a:ext>
            </a:extLst>
          </p:cNvPr>
          <p:cNvSpPr>
            <a:spLocks xmlns:a="http://schemas.openxmlformats.org/drawingml/2006/main" noGrp="1"/>
          </p:cNvSpPr>
          <p:nvPr/>
        </p:nvSpPr>
        <p:spPr>
          <a:xfrm xmlns:a="http://schemas.openxmlformats.org/drawingml/2006/main">
            <a:off x="609600" y="5181600"/>
            <a:ext cx="2857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087B68"/>
                </a:solidFill>
                <a:latin typeface="Arial"/>
                <a:ea typeface="Arial"/>
                <a:cs typeface="Arial"/>
              </a:defRPr>
            </a:pPr>
            <a:r>
              <a:rPr sz="2025" b="1">
                <a:solidFill>
                  <a:srgbClr val="087B68"/>
                </a:solidFill>
                <a:latin typeface="Arial"/>
                <a:ea typeface="Arial"/>
                <a:cs typeface="Arial"/>
              </a:rPr>
              <a:t>Update</a:t>
            </a:r>
          </a:p>
        </p:txBody>
      </p:sp>
      <p:sp>
        <p:nvSpPr>
          <p:cNvPr id="23" name="refresh-body">
            <a:extLst xmlns:a="http://schemas.openxmlformats.org/drawingml/2006/main">
              <a:ext uri="{FF2B5EF4-FFF2-40B4-BE49-F238E27FC236}">
                <a16:creationId xmlns:a16="http://schemas.microsoft.com/office/drawing/2014/main" id="{515F13EA-9AE6-4D1E-8CD3-324CA990D11C}"/>
              </a:ext>
            </a:extLst>
          </p:cNvPr>
          <p:cNvSpPr>
            <a:spLocks xmlns:a="http://schemas.openxmlformats.org/drawingml/2006/main" noGrp="1"/>
          </p:cNvSpPr>
          <p:nvPr/>
        </p:nvSpPr>
        <p:spPr>
          <a:xfrm xmlns:a="http://schemas.openxmlformats.org/drawingml/2006/main">
            <a:off x="609600" y="5572125"/>
            <a:ext cx="2857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64736D"/>
                </a:solidFill>
                <a:latin typeface="Arial"/>
                <a:ea typeface="Arial"/>
                <a:cs typeface="Arial"/>
              </a:defRPr>
            </a:pPr>
            <a:r>
              <a:rPr sz="1650" b="0">
                <a:solidFill>
                  <a:srgbClr val="64736D"/>
                </a:solidFill>
                <a:latin typeface="Arial"/>
                <a:ea typeface="Arial"/>
                <a:cs typeface="Arial"/>
              </a:rPr>
              <a:t>New or edited code</a:t>
            </a:r>
          </a:p>
        </p:txBody>
      </p:sp>
      <p:sp>
        <p:nvSpPr>
          <p:cNvPr id="24" name="reuse">
            <a:extLst xmlns:a="http://schemas.openxmlformats.org/drawingml/2006/main">
              <a:ext uri="{FF2B5EF4-FFF2-40B4-BE49-F238E27FC236}">
                <a16:creationId xmlns:a16="http://schemas.microsoft.com/office/drawing/2014/main" id="{3B8183C6-6A1F-4B1E-81E7-C8AAB4E9F610}"/>
              </a:ext>
            </a:extLst>
          </p:cNvPr>
          <p:cNvSpPr>
            <a:spLocks xmlns:a="http://schemas.openxmlformats.org/drawingml/2006/main" noGrp="1"/>
          </p:cNvSpPr>
          <p:nvPr/>
        </p:nvSpPr>
        <p:spPr>
          <a:xfrm xmlns:a="http://schemas.openxmlformats.org/drawingml/2006/main">
            <a:off x="4495800" y="5181600"/>
            <a:ext cx="2857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087B68"/>
                </a:solidFill>
                <a:latin typeface="Arial"/>
                <a:ea typeface="Arial"/>
                <a:cs typeface="Arial"/>
              </a:defRPr>
            </a:pPr>
            <a:r>
              <a:rPr sz="2025" b="1">
                <a:solidFill>
                  <a:srgbClr val="087B68"/>
                </a:solidFill>
                <a:latin typeface="Arial"/>
                <a:ea typeface="Arial"/>
                <a:cs typeface="Arial"/>
              </a:rPr>
              <a:t>Reuse</a:t>
            </a:r>
          </a:p>
        </p:txBody>
      </p:sp>
      <p:sp>
        <p:nvSpPr>
          <p:cNvPr id="25" name="reuse-body">
            <a:extLst xmlns:a="http://schemas.openxmlformats.org/drawingml/2006/main">
              <a:ext uri="{FF2B5EF4-FFF2-40B4-BE49-F238E27FC236}">
                <a16:creationId xmlns:a16="http://schemas.microsoft.com/office/drawing/2014/main" id="{802B8B68-528A-4D98-ABE0-CB6EC8E3066A}"/>
              </a:ext>
            </a:extLst>
          </p:cNvPr>
          <p:cNvSpPr>
            <a:spLocks xmlns:a="http://schemas.openxmlformats.org/drawingml/2006/main" noGrp="1"/>
          </p:cNvSpPr>
          <p:nvPr/>
        </p:nvSpPr>
        <p:spPr>
          <a:xfrm xmlns:a="http://schemas.openxmlformats.org/drawingml/2006/main">
            <a:off x="4495800" y="5572125"/>
            <a:ext cx="2857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64736D"/>
                </a:solidFill>
                <a:latin typeface="Arial"/>
                <a:ea typeface="Arial"/>
                <a:cs typeface="Arial"/>
              </a:defRPr>
            </a:pPr>
            <a:r>
              <a:rPr sz="1650" b="0">
                <a:solidFill>
                  <a:srgbClr val="64736D"/>
                </a:solidFill>
                <a:latin typeface="Arial"/>
                <a:ea typeface="Arial"/>
                <a:cs typeface="Arial"/>
              </a:rPr>
              <a:t>Unchanged knowledge</a:t>
            </a:r>
          </a:p>
        </p:txBody>
      </p:sp>
      <p:sp>
        <p:nvSpPr>
          <p:cNvPr id="26" name="remove">
            <a:extLst xmlns:a="http://schemas.openxmlformats.org/drawingml/2006/main">
              <a:ext uri="{FF2B5EF4-FFF2-40B4-BE49-F238E27FC236}">
                <a16:creationId xmlns:a16="http://schemas.microsoft.com/office/drawing/2014/main" id="{97DD9BF5-BDBD-4EDA-92C5-0659A3CF2A3B}"/>
              </a:ext>
            </a:extLst>
          </p:cNvPr>
          <p:cNvSpPr>
            <a:spLocks xmlns:a="http://schemas.openxmlformats.org/drawingml/2006/main" noGrp="1"/>
          </p:cNvSpPr>
          <p:nvPr/>
        </p:nvSpPr>
        <p:spPr>
          <a:xfrm xmlns:a="http://schemas.openxmlformats.org/drawingml/2006/main">
            <a:off x="8382000" y="5181600"/>
            <a:ext cx="2857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087B68"/>
                </a:solidFill>
                <a:latin typeface="Arial"/>
                <a:ea typeface="Arial"/>
                <a:cs typeface="Arial"/>
              </a:defRPr>
            </a:pPr>
            <a:r>
              <a:rPr sz="2025" b="1">
                <a:solidFill>
                  <a:srgbClr val="087B68"/>
                </a:solidFill>
                <a:latin typeface="Arial"/>
                <a:ea typeface="Arial"/>
                <a:cs typeface="Arial"/>
              </a:rPr>
              <a:t>Remove</a:t>
            </a:r>
          </a:p>
        </p:txBody>
      </p:sp>
      <p:sp>
        <p:nvSpPr>
          <p:cNvPr id="27" name="remove-body">
            <a:extLst xmlns:a="http://schemas.openxmlformats.org/drawingml/2006/main">
              <a:ext uri="{FF2B5EF4-FFF2-40B4-BE49-F238E27FC236}">
                <a16:creationId xmlns:a16="http://schemas.microsoft.com/office/drawing/2014/main" id="{78C9062A-12C2-4EC5-841E-D445EA1E5B33}"/>
              </a:ext>
            </a:extLst>
          </p:cNvPr>
          <p:cNvSpPr>
            <a:spLocks xmlns:a="http://schemas.openxmlformats.org/drawingml/2006/main" noGrp="1"/>
          </p:cNvSpPr>
          <p:nvPr/>
        </p:nvSpPr>
        <p:spPr>
          <a:xfrm xmlns:a="http://schemas.openxmlformats.org/drawingml/2006/main">
            <a:off x="8382000" y="5572125"/>
            <a:ext cx="2857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64736D"/>
                </a:solidFill>
                <a:latin typeface="Arial"/>
                <a:ea typeface="Arial"/>
                <a:cs typeface="Arial"/>
              </a:defRPr>
            </a:pPr>
            <a:r>
              <a:rPr sz="1650" b="0">
                <a:solidFill>
                  <a:srgbClr val="64736D"/>
                </a:solidFill>
                <a:latin typeface="Arial"/>
                <a:ea typeface="Arial"/>
                <a:cs typeface="Arial"/>
              </a:rPr>
              <a:t>Deleted code</a:t>
            </a:r>
          </a:p>
        </p:txBody>
      </p:sp>
    </p:spTree>
    <p:extLst>
      <p:ext uri="{BB962C8B-B14F-4D97-AF65-F5344CB8AC3E}">
        <p14:creationId xmlns:p14="http://schemas.microsoft.com/office/powerpoint/2010/main" val="1521732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title">
            <a:extLst xmlns:a="http://schemas.openxmlformats.org/drawingml/2006/main">
              <a:ext uri="{FF2B5EF4-FFF2-40B4-BE49-F238E27FC236}">
                <a16:creationId xmlns:a16="http://schemas.microsoft.com/office/drawing/2014/main" id="{032AEA5B-0169-41A6-8EC1-4066DBAA75FA}"/>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172421"/>
                </a:solidFill>
                <a:latin typeface="Arial"/>
                <a:ea typeface="Arial"/>
                <a:cs typeface="Arial"/>
              </a:defRPr>
            </a:pPr>
            <a:r>
              <a:rPr sz="3225" b="1">
                <a:solidFill>
                  <a:srgbClr val="172421"/>
                </a:solidFill>
                <a:latin typeface="Arial"/>
                <a:ea typeface="Arial"/>
                <a:cs typeface="Arial"/>
              </a:rPr>
              <a:t>RAG: answering a developer’s question</a:t>
            </a:r>
          </a:p>
        </p:txBody>
      </p:sp>
      <p:sp>
        <p:nvSpPr>
          <p:cNvPr id="2" name="subtitle">
            <a:extLst xmlns:a="http://schemas.openxmlformats.org/drawingml/2006/main">
              <a:ext uri="{FF2B5EF4-FFF2-40B4-BE49-F238E27FC236}">
                <a16:creationId xmlns:a16="http://schemas.microsoft.com/office/drawing/2014/main" id="{C7042112-1955-4CED-BADE-C6A12538CE83}"/>
              </a:ext>
            </a:extLst>
          </p:cNvPr>
          <p:cNvSpPr>
            <a:spLocks xmlns:a="http://schemas.openxmlformats.org/drawingml/2006/main" noGrp="1"/>
          </p:cNvSpPr>
          <p:nvPr/>
        </p:nvSpPr>
        <p:spPr>
          <a:xfrm xmlns:a="http://schemas.openxmlformats.org/drawingml/2006/main">
            <a:off x="609600" y="120015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4736D"/>
                </a:solidFill>
                <a:latin typeface="Arial"/>
                <a:ea typeface="Arial"/>
                <a:cs typeface="Arial"/>
              </a:defRPr>
            </a:pPr>
            <a:r>
              <a:rPr sz="1800" b="0">
                <a:solidFill>
                  <a:srgbClr val="64736D"/>
                </a:solidFill>
                <a:latin typeface="Arial"/>
                <a:ea typeface="Arial"/>
                <a:cs typeface="Arial"/>
              </a:rPr>
              <a:t>Example question: “How does account inquiry work?”</a:t>
            </a:r>
          </a:p>
        </p:txBody>
      </p:sp>
      <p:sp>
        <p:nvSpPr>
          <p:cNvPr id="3" name="footer-rule">
            <a:extLst xmlns:a="http://schemas.openxmlformats.org/drawingml/2006/main">
              <a:ext uri="{FF2B5EF4-FFF2-40B4-BE49-F238E27FC236}">
                <a16:creationId xmlns:a16="http://schemas.microsoft.com/office/drawing/2014/main" id="{37E2EAB3-2EEE-4267-B61A-C9FF35A47626}"/>
              </a:ext>
            </a:extLst>
          </p:cNvPr>
          <p:cNvSpPr>
            <a:spLocks xmlns:a="http://schemas.openxmlformats.org/drawingml/2006/main" noGrp="1"/>
          </p:cNvSpPr>
          <p:nvPr/>
        </p:nvSpPr>
        <p:spPr>
          <a:xfrm xmlns:a="http://schemas.openxmlformats.org/drawingml/2006/main">
            <a:off x="609600" y="6296025"/>
            <a:ext cx="10972800" cy="0"/>
          </a:xfrm>
          <a:prstGeom xmlns:a="http://schemas.openxmlformats.org/drawingml/2006/main" prst="line">
            <a:avLst/>
          </a:prstGeom>
          <a:noFill xmlns:a="http://schemas.openxmlformats.org/drawingml/2006/main"/>
          <a:ln xmlns:a="http://schemas.openxmlformats.org/drawingml/2006/main" w="9525">
            <a:solidFill>
              <a:srgbClr val="D7E0D7"/>
            </a:solidFill>
            <a:prstDash val="solid"/>
          </a:ln>
        </p:spPr>
      </p:sp>
      <p:sp>
        <p:nvSpPr>
          <p:cNvPr id="4" name="footer-brand">
            <a:extLst xmlns:a="http://schemas.openxmlformats.org/drawingml/2006/main">
              <a:ext uri="{FF2B5EF4-FFF2-40B4-BE49-F238E27FC236}">
                <a16:creationId xmlns:a16="http://schemas.microsoft.com/office/drawing/2014/main" id="{C0CA24D1-31D0-4B1D-B8B6-338430761D5C}"/>
              </a:ext>
            </a:extLst>
          </p:cNvPr>
          <p:cNvSpPr>
            <a:spLocks xmlns:a="http://schemas.openxmlformats.org/drawingml/2006/main" noGrp="1"/>
          </p:cNvSpPr>
          <p:nvPr/>
        </p:nvSpPr>
        <p:spPr>
          <a:xfrm xmlns:a="http://schemas.openxmlformats.org/drawingml/2006/main">
            <a:off x="609600" y="64484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975" b="1">
                <a:solidFill>
                  <a:srgbClr val="64736D"/>
                </a:solidFill>
                <a:latin typeface="Arial"/>
                <a:ea typeface="Arial"/>
                <a:cs typeface="Arial"/>
              </a:defRPr>
            </a:pPr>
            <a:r>
              <a:rPr sz="975" b="1">
                <a:solidFill>
                  <a:srgbClr val="64736D"/>
                </a:solidFill>
                <a:latin typeface="Arial"/>
                <a:ea typeface="Arial"/>
                <a:cs typeface="Arial"/>
              </a:rPr>
              <a:t>BANK OF Z</a:t>
            </a:r>
          </a:p>
        </p:txBody>
      </p:sp>
      <p:sp>
        <p:nvSpPr>
          <p:cNvPr id="5" name="footer-page">
            <a:extLst xmlns:a="http://schemas.openxmlformats.org/drawingml/2006/main">
              <a:ext uri="{FF2B5EF4-FFF2-40B4-BE49-F238E27FC236}">
                <a16:creationId xmlns:a16="http://schemas.microsoft.com/office/drawing/2014/main" id="{55FDECE6-5945-477C-B3B1-6606776ADEFC}"/>
              </a:ext>
            </a:extLst>
          </p:cNvPr>
          <p:cNvSpPr>
            <a:spLocks xmlns:a="http://schemas.openxmlformats.org/drawingml/2006/main" noGrp="1"/>
          </p:cNvSpPr>
          <p:nvPr/>
        </p:nvSpPr>
        <p:spPr>
          <a:xfrm xmlns:a="http://schemas.openxmlformats.org/drawingml/2006/main">
            <a:off x="11049000" y="641032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64736D"/>
                </a:solidFill>
                <a:latin typeface="Arial"/>
                <a:ea typeface="Arial"/>
                <a:cs typeface="Arial"/>
              </a:defRPr>
            </a:pPr>
            <a:r>
              <a:rPr sz="1200" b="0">
                <a:solidFill>
                  <a:srgbClr val="64736D"/>
                </a:solidFill>
                <a:latin typeface="Arial"/>
                <a:ea typeface="Arial"/>
                <a:cs typeface="Arial"/>
              </a:rPr>
              <a:t>04</a:t>
            </a:r>
          </a:p>
        </p:txBody>
      </p:sp>
      <p:sp>
        <p:nvSpPr>
          <p:cNvPr id="6" name="check">
            <a:extLst xmlns:a="http://schemas.openxmlformats.org/drawingml/2006/main">
              <a:ext uri="{FF2B5EF4-FFF2-40B4-BE49-F238E27FC236}">
                <a16:creationId xmlns:a16="http://schemas.microsoft.com/office/drawing/2014/main" id="{D8D717CD-C55F-4980-BEE6-D4D087AA5947}"/>
              </a:ext>
            </a:extLst>
          </p:cNvPr>
          <p:cNvSpPr>
            <a:spLocks xmlns:a="http://schemas.openxmlformats.org/drawingml/2006/main" noGrp="1"/>
          </p:cNvSpPr>
          <p:nvPr/>
        </p:nvSpPr>
        <p:spPr>
          <a:xfrm xmlns:a="http://schemas.openxmlformats.org/drawingml/2006/main">
            <a:off x="609600" y="2686050"/>
            <a:ext cx="1866900" cy="1371600"/>
          </a:xfrm>
          <a:prstGeom xmlns:a="http://schemas.openxmlformats.org/drawingml/2006/main" prst="rect">
            <a:avLst/>
          </a:prstGeom>
          <a:solidFill xmlns:a="http://schemas.openxmlformats.org/drawingml/2006/main">
            <a:srgbClr val="F1F4EE"/>
          </a:solidFill>
          <a:ln xmlns:a="http://schemas.openxmlformats.org/drawingml/2006/main" w="0">
            <a:noFill/>
            <a:prstDash val="solid"/>
          </a:ln>
        </p:spPr>
      </p:sp>
      <p:sp>
        <p:nvSpPr>
          <p:cNvPr id="7" name="check-title">
            <a:extLst xmlns:a="http://schemas.openxmlformats.org/drawingml/2006/main">
              <a:ext uri="{FF2B5EF4-FFF2-40B4-BE49-F238E27FC236}">
                <a16:creationId xmlns:a16="http://schemas.microsoft.com/office/drawing/2014/main" id="{45442A6F-DF13-4328-8AFA-B482BD7BCFEB}"/>
              </a:ext>
            </a:extLst>
          </p:cNvPr>
          <p:cNvSpPr>
            <a:spLocks xmlns:a="http://schemas.openxmlformats.org/drawingml/2006/main" noGrp="1"/>
          </p:cNvSpPr>
          <p:nvPr/>
        </p:nvSpPr>
        <p:spPr>
          <a:xfrm xmlns:a="http://schemas.openxmlformats.org/drawingml/2006/main">
            <a:off x="800100" y="289560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172421"/>
                </a:solidFill>
                <a:latin typeface="Arial"/>
                <a:ea typeface="Arial"/>
                <a:cs typeface="Arial"/>
              </a:defRPr>
            </a:pPr>
            <a:r>
              <a:rPr sz="1875" b="1">
                <a:solidFill>
                  <a:srgbClr val="172421"/>
                </a:solidFill>
                <a:latin typeface="Arial"/>
                <a:ea typeface="Arial"/>
                <a:cs typeface="Arial"/>
              </a:rPr>
              <a:t>Check intent</a:t>
            </a:r>
          </a:p>
        </p:txBody>
      </p:sp>
      <p:sp>
        <p:nvSpPr>
          <p:cNvPr id="8" name="check-caption">
            <a:extLst xmlns:a="http://schemas.openxmlformats.org/drawingml/2006/main">
              <a:ext uri="{FF2B5EF4-FFF2-40B4-BE49-F238E27FC236}">
                <a16:creationId xmlns:a16="http://schemas.microsoft.com/office/drawing/2014/main" id="{9A454628-B44E-4E8A-9013-7899C4F552E5}"/>
              </a:ext>
            </a:extLst>
          </p:cNvPr>
          <p:cNvSpPr>
            <a:spLocks xmlns:a="http://schemas.openxmlformats.org/drawingml/2006/main" noGrp="1"/>
          </p:cNvSpPr>
          <p:nvPr/>
        </p:nvSpPr>
        <p:spPr>
          <a:xfrm xmlns:a="http://schemas.openxmlformats.org/drawingml/2006/main">
            <a:off x="800100" y="361950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64736D"/>
                </a:solidFill>
                <a:latin typeface="Arial"/>
                <a:ea typeface="Arial"/>
                <a:cs typeface="Arial"/>
              </a:defRPr>
            </a:pPr>
            <a:r>
              <a:rPr sz="1575" b="0">
                <a:solidFill>
                  <a:srgbClr val="64736D"/>
                </a:solidFill>
                <a:latin typeface="Arial"/>
                <a:ea typeface="Arial"/>
                <a:cs typeface="Arial"/>
              </a:rPr>
              <a:t>Gemini</a:t>
            </a:r>
          </a:p>
        </p:txBody>
      </p:sp>
      <p:sp>
        <p:nvSpPr>
          <p:cNvPr id="9" name="retrieve">
            <a:extLst xmlns:a="http://schemas.openxmlformats.org/drawingml/2006/main">
              <a:ext uri="{FF2B5EF4-FFF2-40B4-BE49-F238E27FC236}">
                <a16:creationId xmlns:a16="http://schemas.microsoft.com/office/drawing/2014/main" id="{C4E69446-CB9E-410F-958A-F0C73C724474}"/>
              </a:ext>
            </a:extLst>
          </p:cNvPr>
          <p:cNvSpPr>
            <a:spLocks xmlns:a="http://schemas.openxmlformats.org/drawingml/2006/main" noGrp="1"/>
          </p:cNvSpPr>
          <p:nvPr/>
        </p:nvSpPr>
        <p:spPr>
          <a:xfrm xmlns:a="http://schemas.openxmlformats.org/drawingml/2006/main">
            <a:off x="2886075" y="2686050"/>
            <a:ext cx="1866900" cy="1371600"/>
          </a:xfrm>
          <a:prstGeom xmlns:a="http://schemas.openxmlformats.org/drawingml/2006/main" prst="rect">
            <a:avLst/>
          </a:prstGeom>
          <a:solidFill xmlns:a="http://schemas.openxmlformats.org/drawingml/2006/main">
            <a:srgbClr val="F1F4EE"/>
          </a:solidFill>
          <a:ln xmlns:a="http://schemas.openxmlformats.org/drawingml/2006/main" w="0">
            <a:noFill/>
            <a:prstDash val="solid"/>
          </a:ln>
        </p:spPr>
      </p:sp>
      <p:sp>
        <p:nvSpPr>
          <p:cNvPr id="10" name="retrieve-title">
            <a:extLst xmlns:a="http://schemas.openxmlformats.org/drawingml/2006/main">
              <a:ext uri="{FF2B5EF4-FFF2-40B4-BE49-F238E27FC236}">
                <a16:creationId xmlns:a16="http://schemas.microsoft.com/office/drawing/2014/main" id="{6215E1D9-FA41-44A4-9CFD-9B57D03C9CC2}"/>
              </a:ext>
            </a:extLst>
          </p:cNvPr>
          <p:cNvSpPr>
            <a:spLocks xmlns:a="http://schemas.openxmlformats.org/drawingml/2006/main" noGrp="1"/>
          </p:cNvSpPr>
          <p:nvPr/>
        </p:nvSpPr>
        <p:spPr>
          <a:xfrm xmlns:a="http://schemas.openxmlformats.org/drawingml/2006/main">
            <a:off x="3076575" y="289560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172421"/>
                </a:solidFill>
                <a:latin typeface="Arial"/>
                <a:ea typeface="Arial"/>
                <a:cs typeface="Arial"/>
              </a:defRPr>
            </a:pPr>
            <a:r>
              <a:rPr sz="1875" b="1">
                <a:solidFill>
                  <a:srgbClr val="172421"/>
                </a:solidFill>
                <a:latin typeface="Arial"/>
                <a:ea typeface="Arial"/>
                <a:cs typeface="Arial"/>
              </a:rPr>
              <a:t>Find code</a:t>
            </a:r>
          </a:p>
        </p:txBody>
      </p:sp>
      <p:sp>
        <p:nvSpPr>
          <p:cNvPr id="11" name="retrieve-caption">
            <a:extLst xmlns:a="http://schemas.openxmlformats.org/drawingml/2006/main">
              <a:ext uri="{FF2B5EF4-FFF2-40B4-BE49-F238E27FC236}">
                <a16:creationId xmlns:a16="http://schemas.microsoft.com/office/drawing/2014/main" id="{B13FE06C-57D2-4D5E-A716-FE7A569CF088}"/>
              </a:ext>
            </a:extLst>
          </p:cNvPr>
          <p:cNvSpPr>
            <a:spLocks xmlns:a="http://schemas.openxmlformats.org/drawingml/2006/main" noGrp="1"/>
          </p:cNvSpPr>
          <p:nvPr/>
        </p:nvSpPr>
        <p:spPr>
          <a:xfrm xmlns:a="http://schemas.openxmlformats.org/drawingml/2006/main">
            <a:off x="3076575" y="361950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64736D"/>
                </a:solidFill>
                <a:latin typeface="Arial"/>
                <a:ea typeface="Arial"/>
                <a:cs typeface="Arial"/>
              </a:defRPr>
            </a:pPr>
            <a:r>
              <a:rPr sz="1350" b="0">
                <a:solidFill>
                  <a:srgbClr val="64736D"/>
                </a:solidFill>
                <a:latin typeface="Arial"/>
                <a:ea typeface="Arial"/>
                <a:cs typeface="Arial"/>
              </a:rPr>
              <a:t>Relevant evidence</a:t>
            </a:r>
          </a:p>
        </p:txBody>
      </p:sp>
      <p:sp>
        <p:nvSpPr>
          <p:cNvPr id="12" name="draft">
            <a:extLst xmlns:a="http://schemas.openxmlformats.org/drawingml/2006/main">
              <a:ext uri="{FF2B5EF4-FFF2-40B4-BE49-F238E27FC236}">
                <a16:creationId xmlns:a16="http://schemas.microsoft.com/office/drawing/2014/main" id="{417E2B32-05E8-475B-89D3-4308696B42BA}"/>
              </a:ext>
            </a:extLst>
          </p:cNvPr>
          <p:cNvSpPr>
            <a:spLocks xmlns:a="http://schemas.openxmlformats.org/drawingml/2006/main" noGrp="1"/>
          </p:cNvSpPr>
          <p:nvPr/>
        </p:nvSpPr>
        <p:spPr>
          <a:xfrm xmlns:a="http://schemas.openxmlformats.org/drawingml/2006/main">
            <a:off x="5162550" y="2686050"/>
            <a:ext cx="1866900" cy="1371600"/>
          </a:xfrm>
          <a:prstGeom xmlns:a="http://schemas.openxmlformats.org/drawingml/2006/main" prst="rect">
            <a:avLst/>
          </a:prstGeom>
          <a:solidFill xmlns:a="http://schemas.openxmlformats.org/drawingml/2006/main">
            <a:srgbClr val="F1F4EE"/>
          </a:solidFill>
          <a:ln xmlns:a="http://schemas.openxmlformats.org/drawingml/2006/main" w="0">
            <a:noFill/>
            <a:prstDash val="solid"/>
          </a:ln>
        </p:spPr>
      </p:sp>
      <p:sp>
        <p:nvSpPr>
          <p:cNvPr id="13" name="draft-title">
            <a:extLst xmlns:a="http://schemas.openxmlformats.org/drawingml/2006/main">
              <a:ext uri="{FF2B5EF4-FFF2-40B4-BE49-F238E27FC236}">
                <a16:creationId xmlns:a16="http://schemas.microsoft.com/office/drawing/2014/main" id="{8D0381B7-9B77-42F5-95D7-48CED47F89F4}"/>
              </a:ext>
            </a:extLst>
          </p:cNvPr>
          <p:cNvSpPr>
            <a:spLocks xmlns:a="http://schemas.openxmlformats.org/drawingml/2006/main" noGrp="1"/>
          </p:cNvSpPr>
          <p:nvPr/>
        </p:nvSpPr>
        <p:spPr>
          <a:xfrm xmlns:a="http://schemas.openxmlformats.org/drawingml/2006/main">
            <a:off x="5353050" y="289560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172421"/>
                </a:solidFill>
                <a:latin typeface="Arial"/>
                <a:ea typeface="Arial"/>
                <a:cs typeface="Arial"/>
              </a:defRPr>
            </a:pPr>
            <a:r>
              <a:rPr sz="1875" b="1">
                <a:solidFill>
                  <a:srgbClr val="172421"/>
                </a:solidFill>
                <a:latin typeface="Arial"/>
                <a:ea typeface="Arial"/>
                <a:cs typeface="Arial"/>
              </a:rPr>
              <a:t>Draft answer</a:t>
            </a:r>
          </a:p>
        </p:txBody>
      </p:sp>
      <p:sp>
        <p:nvSpPr>
          <p:cNvPr id="14" name="draft-caption">
            <a:extLst xmlns:a="http://schemas.openxmlformats.org/drawingml/2006/main">
              <a:ext uri="{FF2B5EF4-FFF2-40B4-BE49-F238E27FC236}">
                <a16:creationId xmlns:a16="http://schemas.microsoft.com/office/drawing/2014/main" id="{37A31F7A-CD45-495C-BEB8-8F22E8A502AD}"/>
              </a:ext>
            </a:extLst>
          </p:cNvPr>
          <p:cNvSpPr>
            <a:spLocks xmlns:a="http://schemas.openxmlformats.org/drawingml/2006/main" noGrp="1"/>
          </p:cNvSpPr>
          <p:nvPr/>
        </p:nvSpPr>
        <p:spPr>
          <a:xfrm xmlns:a="http://schemas.openxmlformats.org/drawingml/2006/main">
            <a:off x="5353050" y="361950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64736D"/>
                </a:solidFill>
                <a:latin typeface="Arial"/>
                <a:ea typeface="Arial"/>
                <a:cs typeface="Arial"/>
              </a:defRPr>
            </a:pPr>
            <a:r>
              <a:rPr sz="1575" b="0">
                <a:solidFill>
                  <a:srgbClr val="64736D"/>
                </a:solidFill>
                <a:latin typeface="Arial"/>
                <a:ea typeface="Arial"/>
                <a:cs typeface="Arial"/>
              </a:rPr>
              <a:t>Groq</a:t>
            </a:r>
          </a:p>
        </p:txBody>
      </p:sp>
      <p:sp>
        <p:nvSpPr>
          <p:cNvPr id="15" name="validate">
            <a:extLst xmlns:a="http://schemas.openxmlformats.org/drawingml/2006/main">
              <a:ext uri="{FF2B5EF4-FFF2-40B4-BE49-F238E27FC236}">
                <a16:creationId xmlns:a16="http://schemas.microsoft.com/office/drawing/2014/main" id="{92030DF0-3AE6-4A26-B045-092EDBD17968}"/>
              </a:ext>
            </a:extLst>
          </p:cNvPr>
          <p:cNvSpPr>
            <a:spLocks xmlns:a="http://schemas.openxmlformats.org/drawingml/2006/main" noGrp="1"/>
          </p:cNvSpPr>
          <p:nvPr/>
        </p:nvSpPr>
        <p:spPr>
          <a:xfrm xmlns:a="http://schemas.openxmlformats.org/drawingml/2006/main">
            <a:off x="7439025" y="2686050"/>
            <a:ext cx="1866900" cy="1371600"/>
          </a:xfrm>
          <a:prstGeom xmlns:a="http://schemas.openxmlformats.org/drawingml/2006/main" prst="rect">
            <a:avLst/>
          </a:prstGeom>
          <a:solidFill xmlns:a="http://schemas.openxmlformats.org/drawingml/2006/main">
            <a:srgbClr val="F1F4EE"/>
          </a:solidFill>
          <a:ln xmlns:a="http://schemas.openxmlformats.org/drawingml/2006/main" w="0">
            <a:noFill/>
            <a:prstDash val="solid"/>
          </a:ln>
        </p:spPr>
      </p:sp>
      <p:sp>
        <p:nvSpPr>
          <p:cNvPr id="16" name="validate-title">
            <a:extLst xmlns:a="http://schemas.openxmlformats.org/drawingml/2006/main">
              <a:ext uri="{FF2B5EF4-FFF2-40B4-BE49-F238E27FC236}">
                <a16:creationId xmlns:a16="http://schemas.microsoft.com/office/drawing/2014/main" id="{F1E632C0-EABF-49AD-B119-48964807FA7E}"/>
              </a:ext>
            </a:extLst>
          </p:cNvPr>
          <p:cNvSpPr>
            <a:spLocks xmlns:a="http://schemas.openxmlformats.org/drawingml/2006/main" noGrp="1"/>
          </p:cNvSpPr>
          <p:nvPr/>
        </p:nvSpPr>
        <p:spPr>
          <a:xfrm xmlns:a="http://schemas.openxmlformats.org/drawingml/2006/main">
            <a:off x="7629525" y="289560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172421"/>
                </a:solidFill>
                <a:latin typeface="Arial"/>
                <a:ea typeface="Arial"/>
                <a:cs typeface="Arial"/>
              </a:defRPr>
            </a:pPr>
            <a:r>
              <a:rPr sz="1875" b="1">
                <a:solidFill>
                  <a:srgbClr val="172421"/>
                </a:solidFill>
                <a:latin typeface="Arial"/>
                <a:ea typeface="Arial"/>
                <a:cs typeface="Arial"/>
              </a:rPr>
              <a:t>Validate</a:t>
            </a:r>
          </a:p>
        </p:txBody>
      </p:sp>
      <p:sp>
        <p:nvSpPr>
          <p:cNvPr id="17" name="validate-caption">
            <a:extLst xmlns:a="http://schemas.openxmlformats.org/drawingml/2006/main">
              <a:ext uri="{FF2B5EF4-FFF2-40B4-BE49-F238E27FC236}">
                <a16:creationId xmlns:a16="http://schemas.microsoft.com/office/drawing/2014/main" id="{E0D15112-EB86-471B-867D-02AE273703B6}"/>
              </a:ext>
            </a:extLst>
          </p:cNvPr>
          <p:cNvSpPr>
            <a:spLocks xmlns:a="http://schemas.openxmlformats.org/drawingml/2006/main" noGrp="1"/>
          </p:cNvSpPr>
          <p:nvPr/>
        </p:nvSpPr>
        <p:spPr>
          <a:xfrm xmlns:a="http://schemas.openxmlformats.org/drawingml/2006/main">
            <a:off x="7629525" y="361950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64736D"/>
                </a:solidFill>
                <a:latin typeface="Arial"/>
                <a:ea typeface="Arial"/>
                <a:cs typeface="Arial"/>
              </a:defRPr>
            </a:pPr>
            <a:r>
              <a:rPr sz="1575" b="0">
                <a:solidFill>
                  <a:srgbClr val="64736D"/>
                </a:solidFill>
                <a:latin typeface="Arial"/>
                <a:ea typeface="Arial"/>
                <a:cs typeface="Arial"/>
              </a:rPr>
              <a:t>Gemini</a:t>
            </a:r>
          </a:p>
        </p:txBody>
      </p:sp>
      <p:sp>
        <p:nvSpPr>
          <p:cNvPr id="18" name="response">
            <a:extLst xmlns:a="http://schemas.openxmlformats.org/drawingml/2006/main">
              <a:ext uri="{FF2B5EF4-FFF2-40B4-BE49-F238E27FC236}">
                <a16:creationId xmlns:a16="http://schemas.microsoft.com/office/drawing/2014/main" id="{CD54DCEC-B5FF-4EDC-BAED-49CD2AC8D911}"/>
              </a:ext>
            </a:extLst>
          </p:cNvPr>
          <p:cNvSpPr>
            <a:spLocks xmlns:a="http://schemas.openxmlformats.org/drawingml/2006/main" noGrp="1"/>
          </p:cNvSpPr>
          <p:nvPr/>
        </p:nvSpPr>
        <p:spPr>
          <a:xfrm xmlns:a="http://schemas.openxmlformats.org/drawingml/2006/main">
            <a:off x="9715500" y="2686050"/>
            <a:ext cx="1866900" cy="1371600"/>
          </a:xfrm>
          <a:prstGeom xmlns:a="http://schemas.openxmlformats.org/drawingml/2006/main" prst="rect">
            <a:avLst/>
          </a:prstGeom>
          <a:solidFill xmlns:a="http://schemas.openxmlformats.org/drawingml/2006/main">
            <a:srgbClr val="C6F244"/>
          </a:solidFill>
          <a:ln xmlns:a="http://schemas.openxmlformats.org/drawingml/2006/main" w="0">
            <a:noFill/>
            <a:prstDash val="solid"/>
          </a:ln>
        </p:spPr>
      </p:sp>
      <p:sp>
        <p:nvSpPr>
          <p:cNvPr id="19" name="response-title">
            <a:extLst xmlns:a="http://schemas.openxmlformats.org/drawingml/2006/main">
              <a:ext uri="{FF2B5EF4-FFF2-40B4-BE49-F238E27FC236}">
                <a16:creationId xmlns:a16="http://schemas.microsoft.com/office/drawing/2014/main" id="{635A9F68-EEDC-4E64-ABF4-B849F0658B77}"/>
              </a:ext>
            </a:extLst>
          </p:cNvPr>
          <p:cNvSpPr>
            <a:spLocks xmlns:a="http://schemas.openxmlformats.org/drawingml/2006/main" noGrp="1"/>
          </p:cNvSpPr>
          <p:nvPr/>
        </p:nvSpPr>
        <p:spPr>
          <a:xfrm xmlns:a="http://schemas.openxmlformats.org/drawingml/2006/main">
            <a:off x="9906000" y="2895600"/>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172421"/>
                </a:solidFill>
                <a:latin typeface="Arial"/>
                <a:ea typeface="Arial"/>
                <a:cs typeface="Arial"/>
              </a:defRPr>
            </a:pPr>
            <a:r>
              <a:rPr sz="1875" b="1">
                <a:solidFill>
                  <a:srgbClr val="172421"/>
                </a:solidFill>
                <a:latin typeface="Arial"/>
                <a:ea typeface="Arial"/>
                <a:cs typeface="Arial"/>
              </a:rPr>
              <a:t>Explain</a:t>
            </a:r>
          </a:p>
        </p:txBody>
      </p:sp>
      <p:sp>
        <p:nvSpPr>
          <p:cNvPr id="20" name="response-caption">
            <a:extLst xmlns:a="http://schemas.openxmlformats.org/drawingml/2006/main">
              <a:ext uri="{FF2B5EF4-FFF2-40B4-BE49-F238E27FC236}">
                <a16:creationId xmlns:a16="http://schemas.microsoft.com/office/drawing/2014/main" id="{2B58D566-5FEE-4D19-815A-8ECD2CC28FB3}"/>
              </a:ext>
            </a:extLst>
          </p:cNvPr>
          <p:cNvSpPr>
            <a:spLocks xmlns:a="http://schemas.openxmlformats.org/drawingml/2006/main" noGrp="1"/>
          </p:cNvSpPr>
          <p:nvPr/>
        </p:nvSpPr>
        <p:spPr>
          <a:xfrm xmlns:a="http://schemas.openxmlformats.org/drawingml/2006/main">
            <a:off x="9906000" y="361950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172421"/>
                </a:solidFill>
                <a:latin typeface="Arial"/>
                <a:ea typeface="Arial"/>
                <a:cs typeface="Arial"/>
              </a:defRPr>
            </a:pPr>
            <a:r>
              <a:rPr sz="1350" b="0">
                <a:solidFill>
                  <a:srgbClr val="172421"/>
                </a:solidFill>
                <a:latin typeface="Arial"/>
                <a:ea typeface="Arial"/>
                <a:cs typeface="Arial"/>
              </a:rPr>
              <a:t>Answer + sources</a:t>
            </a:r>
          </a:p>
        </p:txBody>
      </p:sp>
      <p:cxnSp>
        <p:nvCxnSpPr>
          <p:cNvPr id="55" name=""/>
          <p:cNvCxnSpPr>
            <a:stCxn xmlns:a="http://schemas.openxmlformats.org/drawingml/2006/main" id="6" idx="3"/>
            <a:endCxn xmlns:a="http://schemas.openxmlformats.org/drawingml/2006/main" id="9" idx="1"/>
          </p:cNvCxnSpPr>
          <p:nvPr/>
        </p:nvCxnSpPr>
        <p:spPr>
          <a:xfrm xmlns:a="http://schemas.openxmlformats.org/drawingml/2006/main">
            <a:off x="2476500" y="3371850"/>
            <a:ext cx="409575" cy="0"/>
          </a:xfrm>
          <a:prstGeom xmlns:a="http://schemas.openxmlformats.org/drawingml/2006/main" prst="straightConnector1">
            <a:avLst/>
          </a:prstGeom>
          <a:ln xmlns:a="http://schemas.openxmlformats.org/drawingml/2006/main" w="23813">
            <a:solidFill>
              <a:srgbClr val="087B68"/>
            </a:solidFill>
            <a:prstDash val="solid"/>
            <a:tailEnd type="triangle" w="sm" len="sm"/>
          </a:ln>
        </p:spPr>
      </p:cxnSp>
      <p:cxnSp>
        <p:nvCxnSpPr>
          <p:cNvPr id="56" name=""/>
          <p:cNvCxnSpPr>
            <a:stCxn xmlns:a="http://schemas.openxmlformats.org/drawingml/2006/main" id="9" idx="3"/>
            <a:endCxn xmlns:a="http://schemas.openxmlformats.org/drawingml/2006/main" id="12" idx="1"/>
          </p:cNvCxnSpPr>
          <p:nvPr/>
        </p:nvCxnSpPr>
        <p:spPr>
          <a:xfrm xmlns:a="http://schemas.openxmlformats.org/drawingml/2006/main">
            <a:off x="4752975" y="3371850"/>
            <a:ext cx="409575" cy="0"/>
          </a:xfrm>
          <a:prstGeom xmlns:a="http://schemas.openxmlformats.org/drawingml/2006/main" prst="straightConnector1">
            <a:avLst/>
          </a:prstGeom>
          <a:ln xmlns:a="http://schemas.openxmlformats.org/drawingml/2006/main" w="23813">
            <a:solidFill>
              <a:srgbClr val="087B68"/>
            </a:solidFill>
            <a:prstDash val="solid"/>
            <a:tailEnd type="triangle" w="sm" len="sm"/>
          </a:ln>
        </p:spPr>
      </p:cxnSp>
      <p:cxnSp>
        <p:nvCxnSpPr>
          <p:cNvPr id="57" name=""/>
          <p:cNvCxnSpPr>
            <a:stCxn xmlns:a="http://schemas.openxmlformats.org/drawingml/2006/main" id="12" idx="3"/>
            <a:endCxn xmlns:a="http://schemas.openxmlformats.org/drawingml/2006/main" id="15" idx="1"/>
          </p:cNvCxnSpPr>
          <p:nvPr/>
        </p:nvCxnSpPr>
        <p:spPr>
          <a:xfrm xmlns:a="http://schemas.openxmlformats.org/drawingml/2006/main">
            <a:off x="7029450" y="3371850"/>
            <a:ext cx="409575" cy="0"/>
          </a:xfrm>
          <a:prstGeom xmlns:a="http://schemas.openxmlformats.org/drawingml/2006/main" prst="straightConnector1">
            <a:avLst/>
          </a:prstGeom>
          <a:ln xmlns:a="http://schemas.openxmlformats.org/drawingml/2006/main" w="23813">
            <a:solidFill>
              <a:srgbClr val="087B68"/>
            </a:solidFill>
            <a:prstDash val="solid"/>
            <a:tailEnd type="triangle" w="sm" len="sm"/>
          </a:ln>
        </p:spPr>
      </p:cxnSp>
      <p:cxnSp>
        <p:nvCxnSpPr>
          <p:cNvPr id="58" name=""/>
          <p:cNvCxnSpPr>
            <a:stCxn xmlns:a="http://schemas.openxmlformats.org/drawingml/2006/main" id="15" idx="3"/>
            <a:endCxn xmlns:a="http://schemas.openxmlformats.org/drawingml/2006/main" id="18" idx="1"/>
          </p:cNvCxnSpPr>
          <p:nvPr/>
        </p:nvCxnSpPr>
        <p:spPr>
          <a:xfrm xmlns:a="http://schemas.openxmlformats.org/drawingml/2006/main">
            <a:off x="9305925" y="3371850"/>
            <a:ext cx="409575" cy="0"/>
          </a:xfrm>
          <a:prstGeom xmlns:a="http://schemas.openxmlformats.org/drawingml/2006/main" prst="straightConnector1">
            <a:avLst/>
          </a:prstGeom>
          <a:ln xmlns:a="http://schemas.openxmlformats.org/drawingml/2006/main" w="23813">
            <a:solidFill>
              <a:srgbClr val="087B68"/>
            </a:solidFill>
            <a:prstDash val="solid"/>
            <a:tailEnd type="triangle" w="sm" len="sm"/>
          </a:ln>
        </p:spPr>
      </p:cxnSp>
      <p:sp>
        <p:nvSpPr>
          <p:cNvPr id="25" name="pass">
            <a:extLst xmlns:a="http://schemas.openxmlformats.org/drawingml/2006/main">
              <a:ext uri="{FF2B5EF4-FFF2-40B4-BE49-F238E27FC236}">
                <a16:creationId xmlns:a16="http://schemas.microsoft.com/office/drawing/2014/main" id="{0CC3B548-137A-438A-A53E-8497C325318F}"/>
              </a:ext>
            </a:extLst>
          </p:cNvPr>
          <p:cNvSpPr>
            <a:spLocks xmlns:a="http://schemas.openxmlformats.org/drawingml/2006/main" noGrp="1"/>
          </p:cNvSpPr>
          <p:nvPr/>
        </p:nvSpPr>
        <p:spPr>
          <a:xfrm xmlns:a="http://schemas.openxmlformats.org/drawingml/2006/main">
            <a:off x="9305925" y="2390775"/>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087B68"/>
                </a:solidFill>
                <a:latin typeface="Arial"/>
                <a:ea typeface="Arial"/>
                <a:cs typeface="Arial"/>
              </a:defRPr>
            </a:pPr>
            <a:r>
              <a:rPr sz="1200" b="0">
                <a:solidFill>
                  <a:srgbClr val="087B68"/>
                </a:solidFill>
                <a:latin typeface="Arial"/>
                <a:ea typeface="Arial"/>
                <a:cs typeface="Arial"/>
              </a:rPr>
              <a:t>Pass</a:t>
            </a:r>
          </a:p>
        </p:txBody>
      </p:sp>
      <p:sp>
        <p:nvSpPr>
          <p:cNvPr id="26" name="clarification">
            <a:extLst xmlns:a="http://schemas.openxmlformats.org/drawingml/2006/main">
              <a:ext uri="{FF2B5EF4-FFF2-40B4-BE49-F238E27FC236}">
                <a16:creationId xmlns:a16="http://schemas.microsoft.com/office/drawing/2014/main" id="{F1485239-E59E-4EBA-B022-3C0E968D0DB8}"/>
              </a:ext>
            </a:extLst>
          </p:cNvPr>
          <p:cNvSpPr>
            <a:spLocks xmlns:a="http://schemas.openxmlformats.org/drawingml/2006/main" noGrp="1"/>
          </p:cNvSpPr>
          <p:nvPr/>
        </p:nvSpPr>
        <p:spPr>
          <a:xfrm xmlns:a="http://schemas.openxmlformats.org/drawingml/2006/main">
            <a:off x="609600" y="4495800"/>
            <a:ext cx="1866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64736D"/>
                </a:solidFill>
                <a:latin typeface="Arial"/>
                <a:ea typeface="Arial"/>
                <a:cs typeface="Arial"/>
              </a:defRPr>
            </a:pPr>
            <a:r>
              <a:rPr sz="1500" b="0">
                <a:solidFill>
                  <a:srgbClr val="64736D"/>
                </a:solidFill>
                <a:latin typeface="Arial"/>
                <a:ea typeface="Arial"/>
                <a:cs typeface="Arial"/>
              </a:rPr>
              <a:t>Clarify or decline</a:t>
            </a:r>
          </a:p>
          <a:p xmlns:a="http://schemas.openxmlformats.org/drawingml/2006/main">
            <a:pPr algn="ctr">
              <a:defRPr sz="1500" b="0">
                <a:solidFill>
                  <a:srgbClr val="64736D"/>
                </a:solidFill>
                <a:latin typeface="Arial"/>
                <a:ea typeface="Arial"/>
                <a:cs typeface="Arial"/>
              </a:defRPr>
            </a:pPr>
            <a:r>
              <a:rPr sz="1500" b="0">
                <a:solidFill>
                  <a:srgbClr val="64736D"/>
                </a:solidFill>
                <a:latin typeface="Arial"/>
                <a:ea typeface="Arial"/>
                <a:cs typeface="Arial"/>
              </a:rPr>
              <a:t>when needed</a:t>
            </a:r>
          </a:p>
        </p:txBody>
      </p:sp>
      <p:cxnSp>
        <p:nvCxnSpPr>
          <p:cNvPr id="61" name=""/>
          <p:cNvCxnSpPr>
            <a:stCxn xmlns:a="http://schemas.openxmlformats.org/drawingml/2006/main" id="6" idx="2"/>
            <a:endCxn xmlns:a="http://schemas.openxmlformats.org/drawingml/2006/main" id="26" idx="0"/>
          </p:cNvCxnSpPr>
          <p:nvPr/>
        </p:nvCxnSpPr>
        <p:spPr>
          <a:xfrm xmlns:a="http://schemas.openxmlformats.org/drawingml/2006/main">
            <a:off x="1543050" y="4057650"/>
            <a:ext cx="0" cy="438150"/>
          </a:xfrm>
          <a:prstGeom xmlns:a="http://schemas.openxmlformats.org/drawingml/2006/main" prst="straightConnector1">
            <a:avLst/>
          </a:prstGeom>
          <a:ln xmlns:a="http://schemas.openxmlformats.org/drawingml/2006/main" w="23813">
            <a:solidFill>
              <a:srgbClr val="64736D"/>
            </a:solidFill>
            <a:prstDash val="dash"/>
            <a:tailEnd type="none" w="med" len="med"/>
          </a:ln>
        </p:spPr>
      </p:cxnSp>
      <p:sp>
        <p:nvSpPr>
          <p:cNvPr id="28" name="correction-right">
            <a:extLst xmlns:a="http://schemas.openxmlformats.org/drawingml/2006/main">
              <a:ext uri="{FF2B5EF4-FFF2-40B4-BE49-F238E27FC236}">
                <a16:creationId xmlns:a16="http://schemas.microsoft.com/office/drawing/2014/main" id="{68E382B0-424F-437B-A401-B7001480014A}"/>
              </a:ext>
            </a:extLst>
          </p:cNvPr>
          <p:cNvSpPr>
            <a:spLocks xmlns:a="http://schemas.openxmlformats.org/drawingml/2006/main" noGrp="1"/>
          </p:cNvSpPr>
          <p:nvPr/>
        </p:nvSpPr>
        <p:spPr>
          <a:xfrm xmlns:a="http://schemas.openxmlformats.org/drawingml/2006/main">
            <a:off x="8362950" y="49053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9" name="correction-left">
            <a:extLst xmlns:a="http://schemas.openxmlformats.org/drawingml/2006/main">
              <a:ext uri="{FF2B5EF4-FFF2-40B4-BE49-F238E27FC236}">
                <a16:creationId xmlns:a16="http://schemas.microsoft.com/office/drawing/2014/main" id="{EBB290C8-80E6-4FF1-959D-2479B98C8E29}"/>
              </a:ext>
            </a:extLst>
          </p:cNvPr>
          <p:cNvSpPr>
            <a:spLocks xmlns:a="http://schemas.openxmlformats.org/drawingml/2006/main" noGrp="1"/>
          </p:cNvSpPr>
          <p:nvPr/>
        </p:nvSpPr>
        <p:spPr>
          <a:xfrm xmlns:a="http://schemas.openxmlformats.org/drawingml/2006/main">
            <a:off x="6086475" y="49053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0" name="correction-label">
            <a:extLst xmlns:a="http://schemas.openxmlformats.org/drawingml/2006/main">
              <a:ext uri="{FF2B5EF4-FFF2-40B4-BE49-F238E27FC236}">
                <a16:creationId xmlns:a16="http://schemas.microsoft.com/office/drawing/2014/main" id="{39B699C3-2A3E-4D5B-AA51-53F1DDAED425}"/>
              </a:ext>
            </a:extLst>
          </p:cNvPr>
          <p:cNvSpPr>
            <a:spLocks xmlns:a="http://schemas.openxmlformats.org/drawingml/2006/main" noGrp="1"/>
          </p:cNvSpPr>
          <p:nvPr/>
        </p:nvSpPr>
        <p:spPr>
          <a:xfrm xmlns:a="http://schemas.openxmlformats.org/drawingml/2006/main">
            <a:off x="5410200" y="5238750"/>
            <a:ext cx="3762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087B68"/>
                </a:solidFill>
                <a:latin typeface="Arial"/>
                <a:ea typeface="Arial"/>
                <a:cs typeface="Arial"/>
              </a:defRPr>
            </a:pPr>
            <a:r>
              <a:rPr sz="1650" b="1">
                <a:solidFill>
                  <a:srgbClr val="087B68"/>
                </a:solidFill>
                <a:latin typeface="Arial"/>
                <a:ea typeface="Arial"/>
                <a:cs typeface="Arial"/>
              </a:rPr>
              <a:t>One correction cycle</a:t>
            </a:r>
          </a:p>
        </p:txBody>
      </p:sp>
      <p:cxnSp>
        <p:nvCxnSpPr>
          <p:cNvPr id="65" name=""/>
          <p:cNvCxnSpPr>
            <a:stCxn xmlns:a="http://schemas.openxmlformats.org/drawingml/2006/main" id="15" idx="2"/>
            <a:endCxn xmlns:a="http://schemas.openxmlformats.org/drawingml/2006/main" id="28" idx="0"/>
          </p:cNvCxnSpPr>
          <p:nvPr/>
        </p:nvCxnSpPr>
        <p:spPr>
          <a:xfrm xmlns:a="http://schemas.openxmlformats.org/drawingml/2006/main">
            <a:off x="8372475" y="4057650"/>
            <a:ext cx="0" cy="847725"/>
          </a:xfrm>
          <a:prstGeom xmlns:a="http://schemas.openxmlformats.org/drawingml/2006/main" prst="straightConnector1">
            <a:avLst/>
          </a:prstGeom>
          <a:ln xmlns:a="http://schemas.openxmlformats.org/drawingml/2006/main" w="23813">
            <a:solidFill>
              <a:srgbClr val="087B68"/>
            </a:solidFill>
            <a:prstDash val="solid"/>
            <a:tailEnd type="none" w="med" len="med"/>
          </a:ln>
        </p:spPr>
      </p:cxnSp>
      <p:cxnSp>
        <p:nvCxnSpPr>
          <p:cNvPr id="66" name=""/>
          <p:cNvCxnSpPr>
            <a:stCxn xmlns:a="http://schemas.openxmlformats.org/drawingml/2006/main" id="28" idx="1"/>
            <a:endCxn xmlns:a="http://schemas.openxmlformats.org/drawingml/2006/main" id="29" idx="3"/>
          </p:cNvCxnSpPr>
          <p:nvPr/>
        </p:nvCxnSpPr>
        <p:spPr>
          <a:xfrm xmlns:a="http://schemas.openxmlformats.org/drawingml/2006/main" flipH="1">
            <a:off x="6105525" y="4914900"/>
            <a:ext cx="2257425" cy="0"/>
          </a:xfrm>
          <a:prstGeom xmlns:a="http://schemas.openxmlformats.org/drawingml/2006/main" prst="straightConnector1">
            <a:avLst/>
          </a:prstGeom>
          <a:ln xmlns:a="http://schemas.openxmlformats.org/drawingml/2006/main" w="23813">
            <a:solidFill>
              <a:srgbClr val="087B68"/>
            </a:solidFill>
            <a:prstDash val="solid"/>
            <a:tailEnd type="none" w="med" len="med"/>
          </a:ln>
        </p:spPr>
      </p:cxnSp>
      <p:cxnSp>
        <p:nvCxnSpPr>
          <p:cNvPr id="67" name=""/>
          <p:cNvCxnSpPr>
            <a:stCxn xmlns:a="http://schemas.openxmlformats.org/drawingml/2006/main" id="29" idx="0"/>
            <a:endCxn xmlns:a="http://schemas.openxmlformats.org/drawingml/2006/main" id="12" idx="2"/>
          </p:cNvCxnSpPr>
          <p:nvPr/>
        </p:nvCxnSpPr>
        <p:spPr>
          <a:xfrm xmlns:a="http://schemas.openxmlformats.org/drawingml/2006/main" flipV="1">
            <a:off x="6096000" y="4057650"/>
            <a:ext cx="0" cy="847725"/>
          </a:xfrm>
          <a:prstGeom xmlns:a="http://schemas.openxmlformats.org/drawingml/2006/main" prst="straightConnector1">
            <a:avLst/>
          </a:prstGeom>
          <a:ln xmlns:a="http://schemas.openxmlformats.org/drawingml/2006/main" w="23813">
            <a:solidFill>
              <a:srgbClr val="087B68"/>
            </a:solidFill>
            <a:prstDash val="solid"/>
            <a:tailEnd type="triangle" w="sm" len="sm"/>
          </a:ln>
        </p:spPr>
      </p:cxnSp>
      <p:sp>
        <p:nvSpPr>
          <p:cNvPr id="34" name="quality-note">
            <a:extLst xmlns:a="http://schemas.openxmlformats.org/drawingml/2006/main">
              <a:ext uri="{FF2B5EF4-FFF2-40B4-BE49-F238E27FC236}">
                <a16:creationId xmlns:a16="http://schemas.microsoft.com/office/drawing/2014/main" id="{3605C68B-B8F0-4AEE-9C98-29B2FC8D5E28}"/>
              </a:ext>
            </a:extLst>
          </p:cNvPr>
          <p:cNvSpPr>
            <a:spLocks xmlns:a="http://schemas.openxmlformats.org/drawingml/2006/main" noGrp="1"/>
          </p:cNvSpPr>
          <p:nvPr/>
        </p:nvSpPr>
        <p:spPr>
          <a:xfrm xmlns:a="http://schemas.openxmlformats.org/drawingml/2006/main">
            <a:off x="5162550" y="5657850"/>
            <a:ext cx="641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64736D"/>
                </a:solidFill>
                <a:latin typeface="Arial"/>
                <a:ea typeface="Arial"/>
                <a:cs typeface="Arial"/>
              </a:defRPr>
            </a:pPr>
            <a:r>
              <a:rPr sz="1500" b="0">
                <a:solidFill>
                  <a:srgbClr val="64736D"/>
                </a:solidFill>
                <a:latin typeface="Arial"/>
                <a:ea typeface="Arial"/>
                <a:cs typeface="Arial"/>
              </a:rPr>
              <a:t>If validation still fails, the assistant withholds the answer.</a:t>
            </a:r>
          </a:p>
        </p:txBody>
      </p:sp>
    </p:spTree>
    <p:extLst>
      <p:ext uri="{BB962C8B-B14F-4D97-AF65-F5344CB8AC3E}">
        <p14:creationId xmlns:p14="http://schemas.microsoft.com/office/powerpoint/2010/main" val="1528051045"/>
      </p:ext>
    </p:extLst>
  </p:cSld>
</p:sld>
</file>

<file path=ppt/slides/slide5.xml><?xml version="1.0" encoding="utf-8"?>
<p:sld xmlns:p="http://schemas.openxmlformats.org/presentationml/2006/main">
  <p:cSld>
    <p:bg>
      <p:bgPr>
        <a:solidFill xmlns:a="http://schemas.openxmlformats.org/drawingml/2006/main">
          <a:srgbClr val="132722"/>
        </a:solidFill>
      </p:bgPr>
    </p:bg>
    <p:spTree>
      <p:nvGrpSpPr>
        <p:cNvPr id="1" name=""/>
        <p:cNvGrpSpPr/>
        <p:nvPr/>
      </p:nvGrpSpPr>
      <p:grpSpPr>
        <a:xfrm xmlns:a="http://schemas.openxmlformats.org/drawingml/2006/main"/>
      </p:grpSpPr>
      <p:sp>
        <p:nvSpPr>
          <p:cNvPr id="30" name="title">
            <a:extLst xmlns:a="http://schemas.openxmlformats.org/drawingml/2006/main">
              <a:ext uri="{FF2B5EF4-FFF2-40B4-BE49-F238E27FC236}">
                <a16:creationId xmlns:a16="http://schemas.microsoft.com/office/drawing/2014/main" id="{1D5B2EAA-429A-4F62-B8A1-71D5A357F238}"/>
              </a:ext>
            </a:extLst>
          </p:cNvPr>
          <p:cNvSpPr>
            <a:spLocks xmlns:a="http://schemas.openxmlformats.org/drawingml/2006/main" noGrp="1"/>
          </p:cNvSpPr>
          <p:nvPr/>
        </p:nvSpPr>
        <p:spPr>
          <a:xfrm xmlns:a="http://schemas.openxmlformats.org/drawingml/2006/main">
            <a:off x="609600" y="4572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Transaction monitoring and notifications</a:t>
            </a:r>
          </a:p>
        </p:txBody>
      </p:sp>
      <p:sp>
        <p:nvSpPr>
          <p:cNvPr id="2" name="subtitle">
            <a:extLst xmlns:a="http://schemas.openxmlformats.org/drawingml/2006/main">
              <a:ext uri="{FF2B5EF4-FFF2-40B4-BE49-F238E27FC236}">
                <a16:creationId xmlns:a16="http://schemas.microsoft.com/office/drawing/2014/main" id="{A649E857-8BB6-46CD-97BA-95BC3F2D6EDD}"/>
              </a:ext>
            </a:extLst>
          </p:cNvPr>
          <p:cNvSpPr>
            <a:spLocks xmlns:a="http://schemas.openxmlformats.org/drawingml/2006/main" noGrp="1"/>
          </p:cNvSpPr>
          <p:nvPr/>
        </p:nvSpPr>
        <p:spPr>
          <a:xfrm xmlns:a="http://schemas.openxmlformats.org/drawingml/2006/main">
            <a:off x="609600" y="120015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BDD0C5"/>
                </a:solidFill>
                <a:latin typeface="Arial"/>
                <a:ea typeface="Arial"/>
                <a:cs typeface="Arial"/>
              </a:defRPr>
            </a:pPr>
            <a:r>
              <a:rPr sz="1800" b="0">
                <a:solidFill>
                  <a:srgbClr val="BDD0C5"/>
                </a:solidFill>
                <a:latin typeface="Arial"/>
                <a:ea typeface="Arial"/>
                <a:cs typeface="Arial"/>
              </a:rPr>
              <a:t>Live simulated transactions, with detection on each scan</a:t>
            </a:r>
          </a:p>
        </p:txBody>
      </p:sp>
      <p:sp>
        <p:nvSpPr>
          <p:cNvPr id="3" name="footer-rule">
            <a:extLst xmlns:a="http://schemas.openxmlformats.org/drawingml/2006/main">
              <a:ext uri="{FF2B5EF4-FFF2-40B4-BE49-F238E27FC236}">
                <a16:creationId xmlns:a16="http://schemas.microsoft.com/office/drawing/2014/main" id="{1BCBA0DC-C129-43EE-8D90-C2F75F5F97C7}"/>
              </a:ext>
            </a:extLst>
          </p:cNvPr>
          <p:cNvSpPr>
            <a:spLocks xmlns:a="http://schemas.openxmlformats.org/drawingml/2006/main" noGrp="1"/>
          </p:cNvSpPr>
          <p:nvPr/>
        </p:nvSpPr>
        <p:spPr>
          <a:xfrm xmlns:a="http://schemas.openxmlformats.org/drawingml/2006/main">
            <a:off x="609600" y="6296025"/>
            <a:ext cx="10972800" cy="0"/>
          </a:xfrm>
          <a:prstGeom xmlns:a="http://schemas.openxmlformats.org/drawingml/2006/main" prst="line">
            <a:avLst/>
          </a:prstGeom>
          <a:noFill xmlns:a="http://schemas.openxmlformats.org/drawingml/2006/main"/>
          <a:ln xmlns:a="http://schemas.openxmlformats.org/drawingml/2006/main" w="9525">
            <a:solidFill>
              <a:srgbClr val="385047"/>
            </a:solidFill>
            <a:prstDash val="solid"/>
          </a:ln>
        </p:spPr>
      </p:sp>
      <p:sp>
        <p:nvSpPr>
          <p:cNvPr id="4" name="footer-brand">
            <a:extLst xmlns:a="http://schemas.openxmlformats.org/drawingml/2006/main">
              <a:ext uri="{FF2B5EF4-FFF2-40B4-BE49-F238E27FC236}">
                <a16:creationId xmlns:a16="http://schemas.microsoft.com/office/drawing/2014/main" id="{16F75BB7-DC56-4BBD-92B2-7CE2706EA29D}"/>
              </a:ext>
            </a:extLst>
          </p:cNvPr>
          <p:cNvSpPr>
            <a:spLocks xmlns:a="http://schemas.openxmlformats.org/drawingml/2006/main" noGrp="1"/>
          </p:cNvSpPr>
          <p:nvPr/>
        </p:nvSpPr>
        <p:spPr>
          <a:xfrm xmlns:a="http://schemas.openxmlformats.org/drawingml/2006/main">
            <a:off x="609600" y="64484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975" b="1">
                <a:solidFill>
                  <a:srgbClr val="BDD0C5"/>
                </a:solidFill>
                <a:latin typeface="Arial"/>
                <a:ea typeface="Arial"/>
                <a:cs typeface="Arial"/>
              </a:defRPr>
            </a:pPr>
            <a:r>
              <a:rPr sz="975" b="1">
                <a:solidFill>
                  <a:srgbClr val="BDD0C5"/>
                </a:solidFill>
                <a:latin typeface="Arial"/>
                <a:ea typeface="Arial"/>
                <a:cs typeface="Arial"/>
              </a:rPr>
              <a:t>BANK OF Z</a:t>
            </a:r>
          </a:p>
        </p:txBody>
      </p:sp>
      <p:sp>
        <p:nvSpPr>
          <p:cNvPr id="5" name="footer-page">
            <a:extLst xmlns:a="http://schemas.openxmlformats.org/drawingml/2006/main">
              <a:ext uri="{FF2B5EF4-FFF2-40B4-BE49-F238E27FC236}">
                <a16:creationId xmlns:a16="http://schemas.microsoft.com/office/drawing/2014/main" id="{9349451E-381C-478A-8FB3-8D481C336705}"/>
              </a:ext>
            </a:extLst>
          </p:cNvPr>
          <p:cNvSpPr>
            <a:spLocks xmlns:a="http://schemas.openxmlformats.org/drawingml/2006/main" noGrp="1"/>
          </p:cNvSpPr>
          <p:nvPr/>
        </p:nvSpPr>
        <p:spPr>
          <a:xfrm xmlns:a="http://schemas.openxmlformats.org/drawingml/2006/main">
            <a:off x="11049000" y="641032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00" b="0">
                <a:solidFill>
                  <a:srgbClr val="BDD0C5"/>
                </a:solidFill>
                <a:latin typeface="Arial"/>
                <a:ea typeface="Arial"/>
                <a:cs typeface="Arial"/>
              </a:defRPr>
            </a:pPr>
            <a:r>
              <a:rPr sz="1200" b="0">
                <a:solidFill>
                  <a:srgbClr val="BDD0C5"/>
                </a:solidFill>
                <a:latin typeface="Arial"/>
                <a:ea typeface="Arial"/>
                <a:cs typeface="Arial"/>
              </a:rPr>
              <a:t>05</a:t>
            </a:r>
          </a:p>
        </p:txBody>
      </p:sp>
      <p:sp>
        <p:nvSpPr>
          <p:cNvPr id="6" name="simulate">
            <a:extLst xmlns:a="http://schemas.openxmlformats.org/drawingml/2006/main">
              <a:ext uri="{FF2B5EF4-FFF2-40B4-BE49-F238E27FC236}">
                <a16:creationId xmlns:a16="http://schemas.microsoft.com/office/drawing/2014/main" id="{1B1DB8B7-DF47-4D3D-AB1B-D9E868B331D3}"/>
              </a:ext>
            </a:extLst>
          </p:cNvPr>
          <p:cNvSpPr>
            <a:spLocks xmlns:a="http://schemas.openxmlformats.org/drawingml/2006/main" noGrp="1"/>
          </p:cNvSpPr>
          <p:nvPr/>
        </p:nvSpPr>
        <p:spPr>
          <a:xfrm xmlns:a="http://schemas.openxmlformats.org/drawingml/2006/main">
            <a:off x="609600" y="2543175"/>
            <a:ext cx="1866900" cy="1371600"/>
          </a:xfrm>
          <a:prstGeom xmlns:a="http://schemas.openxmlformats.org/drawingml/2006/main" prst="rect">
            <a:avLst/>
          </a:prstGeom>
          <a:solidFill xmlns:a="http://schemas.openxmlformats.org/drawingml/2006/main">
            <a:srgbClr val="203C32"/>
          </a:solidFill>
          <a:ln xmlns:a="http://schemas.openxmlformats.org/drawingml/2006/main" w="0">
            <a:noFill/>
            <a:prstDash val="solid"/>
          </a:ln>
        </p:spPr>
      </p:sp>
      <p:sp>
        <p:nvSpPr>
          <p:cNvPr id="7" name="simulate-title">
            <a:extLst xmlns:a="http://schemas.openxmlformats.org/drawingml/2006/main">
              <a:ext uri="{FF2B5EF4-FFF2-40B4-BE49-F238E27FC236}">
                <a16:creationId xmlns:a16="http://schemas.microsoft.com/office/drawing/2014/main" id="{D4E14BC0-3F01-4859-833F-A349B297116D}"/>
              </a:ext>
            </a:extLst>
          </p:cNvPr>
          <p:cNvSpPr>
            <a:spLocks xmlns:a="http://schemas.openxmlformats.org/drawingml/2006/main" noGrp="1"/>
          </p:cNvSpPr>
          <p:nvPr/>
        </p:nvSpPr>
        <p:spPr>
          <a:xfrm xmlns:a="http://schemas.openxmlformats.org/drawingml/2006/main">
            <a:off x="800100" y="2752725"/>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Simulate</a:t>
            </a:r>
          </a:p>
        </p:txBody>
      </p:sp>
      <p:sp>
        <p:nvSpPr>
          <p:cNvPr id="8" name="simulate-caption">
            <a:extLst xmlns:a="http://schemas.openxmlformats.org/drawingml/2006/main">
              <a:ext uri="{FF2B5EF4-FFF2-40B4-BE49-F238E27FC236}">
                <a16:creationId xmlns:a16="http://schemas.microsoft.com/office/drawing/2014/main" id="{2A5E2467-914F-4830-8EFF-D74F151B2603}"/>
              </a:ext>
            </a:extLst>
          </p:cNvPr>
          <p:cNvSpPr>
            <a:spLocks xmlns:a="http://schemas.openxmlformats.org/drawingml/2006/main" noGrp="1"/>
          </p:cNvSpPr>
          <p:nvPr/>
        </p:nvSpPr>
        <p:spPr>
          <a:xfrm xmlns:a="http://schemas.openxmlformats.org/drawingml/2006/main">
            <a:off x="800100" y="3476625"/>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BDD0C5"/>
                </a:solidFill>
                <a:latin typeface="Arial"/>
                <a:ea typeface="Arial"/>
                <a:cs typeface="Arial"/>
              </a:defRPr>
            </a:pPr>
            <a:r>
              <a:rPr sz="1425" b="0">
                <a:solidFill>
                  <a:srgbClr val="BDD0C5"/>
                </a:solidFill>
                <a:latin typeface="Arial"/>
                <a:ea typeface="Arial"/>
                <a:cs typeface="Arial"/>
              </a:rPr>
              <a:t>Banking activity</a:t>
            </a:r>
          </a:p>
        </p:txBody>
      </p:sp>
      <p:sp>
        <p:nvSpPr>
          <p:cNvPr id="9" name="detect">
            <a:extLst xmlns:a="http://schemas.openxmlformats.org/drawingml/2006/main">
              <a:ext uri="{FF2B5EF4-FFF2-40B4-BE49-F238E27FC236}">
                <a16:creationId xmlns:a16="http://schemas.microsoft.com/office/drawing/2014/main" id="{59B16325-8144-45D9-B9DF-94983C72C7B6}"/>
              </a:ext>
            </a:extLst>
          </p:cNvPr>
          <p:cNvSpPr>
            <a:spLocks xmlns:a="http://schemas.openxmlformats.org/drawingml/2006/main" noGrp="1"/>
          </p:cNvSpPr>
          <p:nvPr/>
        </p:nvSpPr>
        <p:spPr>
          <a:xfrm xmlns:a="http://schemas.openxmlformats.org/drawingml/2006/main">
            <a:off x="2886075" y="2543175"/>
            <a:ext cx="1866900" cy="1371600"/>
          </a:xfrm>
          <a:prstGeom xmlns:a="http://schemas.openxmlformats.org/drawingml/2006/main" prst="rect">
            <a:avLst/>
          </a:prstGeom>
          <a:solidFill xmlns:a="http://schemas.openxmlformats.org/drawingml/2006/main">
            <a:srgbClr val="203C32"/>
          </a:solidFill>
          <a:ln xmlns:a="http://schemas.openxmlformats.org/drawingml/2006/main" w="0">
            <a:noFill/>
            <a:prstDash val="solid"/>
          </a:ln>
        </p:spPr>
      </p:sp>
      <p:sp>
        <p:nvSpPr>
          <p:cNvPr id="10" name="detect-title">
            <a:extLst xmlns:a="http://schemas.openxmlformats.org/drawingml/2006/main">
              <a:ext uri="{FF2B5EF4-FFF2-40B4-BE49-F238E27FC236}">
                <a16:creationId xmlns:a16="http://schemas.microsoft.com/office/drawing/2014/main" id="{B0DAC5F2-43F5-4DFF-BB08-DB699FD2A72D}"/>
              </a:ext>
            </a:extLst>
          </p:cNvPr>
          <p:cNvSpPr>
            <a:spLocks xmlns:a="http://schemas.openxmlformats.org/drawingml/2006/main" noGrp="1"/>
          </p:cNvSpPr>
          <p:nvPr/>
        </p:nvSpPr>
        <p:spPr>
          <a:xfrm xmlns:a="http://schemas.openxmlformats.org/drawingml/2006/main">
            <a:off x="3076575" y="2752725"/>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Detect</a:t>
            </a:r>
          </a:p>
        </p:txBody>
      </p:sp>
      <p:sp>
        <p:nvSpPr>
          <p:cNvPr id="11" name="detect-caption">
            <a:extLst xmlns:a="http://schemas.openxmlformats.org/drawingml/2006/main">
              <a:ext uri="{FF2B5EF4-FFF2-40B4-BE49-F238E27FC236}">
                <a16:creationId xmlns:a16="http://schemas.microsoft.com/office/drawing/2014/main" id="{763682B0-07AC-4AE4-B32D-05674E03937B}"/>
              </a:ext>
            </a:extLst>
          </p:cNvPr>
          <p:cNvSpPr>
            <a:spLocks xmlns:a="http://schemas.openxmlformats.org/drawingml/2006/main" noGrp="1"/>
          </p:cNvSpPr>
          <p:nvPr/>
        </p:nvSpPr>
        <p:spPr>
          <a:xfrm xmlns:a="http://schemas.openxmlformats.org/drawingml/2006/main">
            <a:off x="3076575" y="3476625"/>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BDD0C5"/>
                </a:solidFill>
                <a:latin typeface="Arial"/>
                <a:ea typeface="Arial"/>
                <a:cs typeface="Arial"/>
              </a:defRPr>
            </a:pPr>
            <a:r>
              <a:rPr sz="1350" b="0">
                <a:solidFill>
                  <a:srgbClr val="BDD0C5"/>
                </a:solidFill>
                <a:latin typeface="Arial"/>
                <a:ea typeface="Arial"/>
                <a:cs typeface="Arial"/>
              </a:rPr>
              <a:t>Explainable rules</a:t>
            </a:r>
          </a:p>
        </p:txBody>
      </p:sp>
      <p:sp>
        <p:nvSpPr>
          <p:cNvPr id="12" name="register">
            <a:extLst xmlns:a="http://schemas.openxmlformats.org/drawingml/2006/main">
              <a:ext uri="{FF2B5EF4-FFF2-40B4-BE49-F238E27FC236}">
                <a16:creationId xmlns:a16="http://schemas.microsoft.com/office/drawing/2014/main" id="{010FF240-B786-4949-A667-D162BC0FEFCD}"/>
              </a:ext>
            </a:extLst>
          </p:cNvPr>
          <p:cNvSpPr>
            <a:spLocks xmlns:a="http://schemas.openxmlformats.org/drawingml/2006/main" noGrp="1"/>
          </p:cNvSpPr>
          <p:nvPr/>
        </p:nvSpPr>
        <p:spPr>
          <a:xfrm xmlns:a="http://schemas.openxmlformats.org/drawingml/2006/main">
            <a:off x="5162550" y="2543175"/>
            <a:ext cx="1866900" cy="1371600"/>
          </a:xfrm>
          <a:prstGeom xmlns:a="http://schemas.openxmlformats.org/drawingml/2006/main" prst="rect">
            <a:avLst/>
          </a:prstGeom>
          <a:solidFill xmlns:a="http://schemas.openxmlformats.org/drawingml/2006/main">
            <a:srgbClr val="203C32"/>
          </a:solidFill>
          <a:ln xmlns:a="http://schemas.openxmlformats.org/drawingml/2006/main" w="0">
            <a:noFill/>
            <a:prstDash val="solid"/>
          </a:ln>
        </p:spPr>
      </p:sp>
      <p:sp>
        <p:nvSpPr>
          <p:cNvPr id="13" name="register-title">
            <a:extLst xmlns:a="http://schemas.openxmlformats.org/drawingml/2006/main">
              <a:ext uri="{FF2B5EF4-FFF2-40B4-BE49-F238E27FC236}">
                <a16:creationId xmlns:a16="http://schemas.microsoft.com/office/drawing/2014/main" id="{CA824F88-2F16-4391-A78D-77E9B32A29F2}"/>
              </a:ext>
            </a:extLst>
          </p:cNvPr>
          <p:cNvSpPr>
            <a:spLocks xmlns:a="http://schemas.openxmlformats.org/drawingml/2006/main" noGrp="1"/>
          </p:cNvSpPr>
          <p:nvPr/>
        </p:nvSpPr>
        <p:spPr>
          <a:xfrm xmlns:a="http://schemas.openxmlformats.org/drawingml/2006/main">
            <a:off x="5353050" y="2752725"/>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Register</a:t>
            </a:r>
          </a:p>
        </p:txBody>
      </p:sp>
      <p:sp>
        <p:nvSpPr>
          <p:cNvPr id="14" name="register-caption">
            <a:extLst xmlns:a="http://schemas.openxmlformats.org/drawingml/2006/main">
              <a:ext uri="{FF2B5EF4-FFF2-40B4-BE49-F238E27FC236}">
                <a16:creationId xmlns:a16="http://schemas.microsoft.com/office/drawing/2014/main" id="{3F05F549-7108-40A7-96BD-195224A25F8C}"/>
              </a:ext>
            </a:extLst>
          </p:cNvPr>
          <p:cNvSpPr>
            <a:spLocks xmlns:a="http://schemas.openxmlformats.org/drawingml/2006/main" noGrp="1"/>
          </p:cNvSpPr>
          <p:nvPr/>
        </p:nvSpPr>
        <p:spPr>
          <a:xfrm xmlns:a="http://schemas.openxmlformats.org/drawingml/2006/main">
            <a:off x="5353050" y="3476625"/>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BDD0C5"/>
                </a:solidFill>
                <a:latin typeface="Arial"/>
                <a:ea typeface="Arial"/>
                <a:cs typeface="Arial"/>
              </a:defRPr>
            </a:pPr>
            <a:r>
              <a:rPr sz="1425" b="0">
                <a:solidFill>
                  <a:srgbClr val="BDD0C5"/>
                </a:solidFill>
                <a:latin typeface="Arial"/>
                <a:ea typeface="Arial"/>
                <a:cs typeface="Arial"/>
              </a:rPr>
              <a:t>New alerts only</a:t>
            </a:r>
          </a:p>
        </p:txBody>
      </p:sp>
      <p:sp>
        <p:nvSpPr>
          <p:cNvPr id="15" name="mail">
            <a:extLst xmlns:a="http://schemas.openxmlformats.org/drawingml/2006/main">
              <a:ext uri="{FF2B5EF4-FFF2-40B4-BE49-F238E27FC236}">
                <a16:creationId xmlns:a16="http://schemas.microsoft.com/office/drawing/2014/main" id="{FA516508-CD32-4926-BDFF-0EBA7D64900E}"/>
              </a:ext>
            </a:extLst>
          </p:cNvPr>
          <p:cNvSpPr>
            <a:spLocks xmlns:a="http://schemas.openxmlformats.org/drawingml/2006/main" noGrp="1"/>
          </p:cNvSpPr>
          <p:nvPr/>
        </p:nvSpPr>
        <p:spPr>
          <a:xfrm xmlns:a="http://schemas.openxmlformats.org/drawingml/2006/main">
            <a:off x="7439025" y="2543175"/>
            <a:ext cx="1866900" cy="1371600"/>
          </a:xfrm>
          <a:prstGeom xmlns:a="http://schemas.openxmlformats.org/drawingml/2006/main" prst="rect">
            <a:avLst/>
          </a:prstGeom>
          <a:solidFill xmlns:a="http://schemas.openxmlformats.org/drawingml/2006/main">
            <a:srgbClr val="203C32"/>
          </a:solidFill>
          <a:ln xmlns:a="http://schemas.openxmlformats.org/drawingml/2006/main" w="0">
            <a:noFill/>
            <a:prstDash val="solid"/>
          </a:ln>
        </p:spPr>
      </p:sp>
      <p:sp>
        <p:nvSpPr>
          <p:cNvPr id="16" name="mail-title">
            <a:extLst xmlns:a="http://schemas.openxmlformats.org/drawingml/2006/main">
              <a:ext uri="{FF2B5EF4-FFF2-40B4-BE49-F238E27FC236}">
                <a16:creationId xmlns:a16="http://schemas.microsoft.com/office/drawing/2014/main" id="{60A74C50-BD7D-4C60-8199-F9093B06C863}"/>
              </a:ext>
            </a:extLst>
          </p:cNvPr>
          <p:cNvSpPr>
            <a:spLocks xmlns:a="http://schemas.openxmlformats.org/drawingml/2006/main" noGrp="1"/>
          </p:cNvSpPr>
          <p:nvPr/>
        </p:nvSpPr>
        <p:spPr>
          <a:xfrm xmlns:a="http://schemas.openxmlformats.org/drawingml/2006/main">
            <a:off x="7629525" y="2752725"/>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Draft email</a:t>
            </a:r>
          </a:p>
        </p:txBody>
      </p:sp>
      <p:sp>
        <p:nvSpPr>
          <p:cNvPr id="17" name="mail-caption">
            <a:extLst xmlns:a="http://schemas.openxmlformats.org/drawingml/2006/main">
              <a:ext uri="{FF2B5EF4-FFF2-40B4-BE49-F238E27FC236}">
                <a16:creationId xmlns:a16="http://schemas.microsoft.com/office/drawing/2014/main" id="{A2A3C2E2-036D-4936-A234-705EF5374335}"/>
              </a:ext>
            </a:extLst>
          </p:cNvPr>
          <p:cNvSpPr>
            <a:spLocks xmlns:a="http://schemas.openxmlformats.org/drawingml/2006/main" noGrp="1"/>
          </p:cNvSpPr>
          <p:nvPr/>
        </p:nvSpPr>
        <p:spPr>
          <a:xfrm xmlns:a="http://schemas.openxmlformats.org/drawingml/2006/main">
            <a:off x="7629525" y="3476625"/>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BDD0C5"/>
                </a:solidFill>
                <a:latin typeface="Arial"/>
                <a:ea typeface="Arial"/>
                <a:cs typeface="Arial"/>
              </a:defRPr>
            </a:pPr>
            <a:r>
              <a:rPr sz="1425" b="0">
                <a:solidFill>
                  <a:srgbClr val="BDD0C5"/>
                </a:solidFill>
                <a:latin typeface="Arial"/>
                <a:ea typeface="Arial"/>
                <a:cs typeface="Arial"/>
              </a:rPr>
              <a:t>Groq + checks</a:t>
            </a:r>
          </a:p>
        </p:txBody>
      </p:sp>
      <p:sp>
        <p:nvSpPr>
          <p:cNvPr id="18" name="deliver">
            <a:extLst xmlns:a="http://schemas.openxmlformats.org/drawingml/2006/main">
              <a:ext uri="{FF2B5EF4-FFF2-40B4-BE49-F238E27FC236}">
                <a16:creationId xmlns:a16="http://schemas.microsoft.com/office/drawing/2014/main" id="{86ED4F34-DFF1-42C3-AA77-6C3801BE1E43}"/>
              </a:ext>
            </a:extLst>
          </p:cNvPr>
          <p:cNvSpPr>
            <a:spLocks xmlns:a="http://schemas.openxmlformats.org/drawingml/2006/main" noGrp="1"/>
          </p:cNvSpPr>
          <p:nvPr/>
        </p:nvSpPr>
        <p:spPr>
          <a:xfrm xmlns:a="http://schemas.openxmlformats.org/drawingml/2006/main">
            <a:off x="9715500" y="2543175"/>
            <a:ext cx="1866900" cy="1371600"/>
          </a:xfrm>
          <a:prstGeom xmlns:a="http://schemas.openxmlformats.org/drawingml/2006/main" prst="rect">
            <a:avLst/>
          </a:prstGeom>
          <a:solidFill xmlns:a="http://schemas.openxmlformats.org/drawingml/2006/main">
            <a:srgbClr val="C6F244"/>
          </a:solidFill>
          <a:ln xmlns:a="http://schemas.openxmlformats.org/drawingml/2006/main" w="0">
            <a:noFill/>
            <a:prstDash val="solid"/>
          </a:ln>
        </p:spPr>
      </p:sp>
      <p:sp>
        <p:nvSpPr>
          <p:cNvPr id="19" name="deliver-title">
            <a:extLst xmlns:a="http://schemas.openxmlformats.org/drawingml/2006/main">
              <a:ext uri="{FF2B5EF4-FFF2-40B4-BE49-F238E27FC236}">
                <a16:creationId xmlns:a16="http://schemas.microsoft.com/office/drawing/2014/main" id="{17499951-B2BB-496B-B862-1BD5F9BD6C4C}"/>
              </a:ext>
            </a:extLst>
          </p:cNvPr>
          <p:cNvSpPr>
            <a:spLocks xmlns:a="http://schemas.openxmlformats.org/drawingml/2006/main" noGrp="1"/>
          </p:cNvSpPr>
          <p:nvPr/>
        </p:nvSpPr>
        <p:spPr>
          <a:xfrm xmlns:a="http://schemas.openxmlformats.org/drawingml/2006/main">
            <a:off x="9906000" y="2752725"/>
            <a:ext cx="1485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172421"/>
                </a:solidFill>
                <a:latin typeface="Arial"/>
                <a:ea typeface="Arial"/>
                <a:cs typeface="Arial"/>
              </a:defRPr>
            </a:pPr>
            <a:r>
              <a:rPr sz="1875" b="1">
                <a:solidFill>
                  <a:srgbClr val="172421"/>
                </a:solidFill>
                <a:latin typeface="Arial"/>
                <a:ea typeface="Arial"/>
                <a:cs typeface="Arial"/>
              </a:rPr>
              <a:t>Deliver</a:t>
            </a:r>
          </a:p>
        </p:txBody>
      </p:sp>
      <p:sp>
        <p:nvSpPr>
          <p:cNvPr id="20" name="deliver-caption">
            <a:extLst xmlns:a="http://schemas.openxmlformats.org/drawingml/2006/main">
              <a:ext uri="{FF2B5EF4-FFF2-40B4-BE49-F238E27FC236}">
                <a16:creationId xmlns:a16="http://schemas.microsoft.com/office/drawing/2014/main" id="{0923B929-B681-44FF-BFE8-DBC8F490A322}"/>
              </a:ext>
            </a:extLst>
          </p:cNvPr>
          <p:cNvSpPr>
            <a:spLocks xmlns:a="http://schemas.openxmlformats.org/drawingml/2006/main" noGrp="1"/>
          </p:cNvSpPr>
          <p:nvPr/>
        </p:nvSpPr>
        <p:spPr>
          <a:xfrm xmlns:a="http://schemas.openxmlformats.org/drawingml/2006/main">
            <a:off x="9906000" y="3476625"/>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172421"/>
                </a:solidFill>
                <a:latin typeface="Arial"/>
                <a:ea typeface="Arial"/>
                <a:cs typeface="Arial"/>
              </a:defRPr>
            </a:pPr>
            <a:r>
              <a:rPr sz="1350" b="0">
                <a:solidFill>
                  <a:srgbClr val="172421"/>
                </a:solidFill>
                <a:latin typeface="Arial"/>
                <a:ea typeface="Arial"/>
                <a:cs typeface="Arial"/>
              </a:rPr>
              <a:t>Mailpit test inbox</a:t>
            </a:r>
          </a:p>
        </p:txBody>
      </p:sp>
      <p:cxnSp>
        <p:nvCxnSpPr>
          <p:cNvPr id="50" name=""/>
          <p:cNvCxnSpPr>
            <a:stCxn xmlns:a="http://schemas.openxmlformats.org/drawingml/2006/main" id="6" idx="3"/>
            <a:endCxn xmlns:a="http://schemas.openxmlformats.org/drawingml/2006/main" id="9" idx="1"/>
          </p:cNvCxnSpPr>
          <p:nvPr/>
        </p:nvCxnSpPr>
        <p:spPr>
          <a:xfrm xmlns:a="http://schemas.openxmlformats.org/drawingml/2006/main">
            <a:off x="2476500" y="3228975"/>
            <a:ext cx="409575" cy="0"/>
          </a:xfrm>
          <a:prstGeom xmlns:a="http://schemas.openxmlformats.org/drawingml/2006/main" prst="straightConnector1">
            <a:avLst/>
          </a:prstGeom>
          <a:ln xmlns:a="http://schemas.openxmlformats.org/drawingml/2006/main" w="23813">
            <a:solidFill>
              <a:srgbClr val="C6F244"/>
            </a:solidFill>
            <a:prstDash val="solid"/>
            <a:tailEnd type="triangle" w="sm" len="sm"/>
          </a:ln>
        </p:spPr>
      </p:cxnSp>
      <p:cxnSp>
        <p:nvCxnSpPr>
          <p:cNvPr id="51" name=""/>
          <p:cNvCxnSpPr>
            <a:stCxn xmlns:a="http://schemas.openxmlformats.org/drawingml/2006/main" id="9" idx="3"/>
            <a:endCxn xmlns:a="http://schemas.openxmlformats.org/drawingml/2006/main" id="12" idx="1"/>
          </p:cNvCxnSpPr>
          <p:nvPr/>
        </p:nvCxnSpPr>
        <p:spPr>
          <a:xfrm xmlns:a="http://schemas.openxmlformats.org/drawingml/2006/main">
            <a:off x="4752975" y="3228975"/>
            <a:ext cx="409575" cy="0"/>
          </a:xfrm>
          <a:prstGeom xmlns:a="http://schemas.openxmlformats.org/drawingml/2006/main" prst="straightConnector1">
            <a:avLst/>
          </a:prstGeom>
          <a:ln xmlns:a="http://schemas.openxmlformats.org/drawingml/2006/main" w="23813">
            <a:solidFill>
              <a:srgbClr val="C6F244"/>
            </a:solidFill>
            <a:prstDash val="solid"/>
            <a:tailEnd type="triangle" w="sm" len="sm"/>
          </a:ln>
        </p:spPr>
      </p:cxnSp>
      <p:cxnSp>
        <p:nvCxnSpPr>
          <p:cNvPr id="52" name=""/>
          <p:cNvCxnSpPr>
            <a:stCxn xmlns:a="http://schemas.openxmlformats.org/drawingml/2006/main" id="12" idx="3"/>
            <a:endCxn xmlns:a="http://schemas.openxmlformats.org/drawingml/2006/main" id="15" idx="1"/>
          </p:cNvCxnSpPr>
          <p:nvPr/>
        </p:nvCxnSpPr>
        <p:spPr>
          <a:xfrm xmlns:a="http://schemas.openxmlformats.org/drawingml/2006/main">
            <a:off x="7029450" y="3228975"/>
            <a:ext cx="409575" cy="0"/>
          </a:xfrm>
          <a:prstGeom xmlns:a="http://schemas.openxmlformats.org/drawingml/2006/main" prst="straightConnector1">
            <a:avLst/>
          </a:prstGeom>
          <a:ln xmlns:a="http://schemas.openxmlformats.org/drawingml/2006/main" w="23813">
            <a:solidFill>
              <a:srgbClr val="C6F244"/>
            </a:solidFill>
            <a:prstDash val="solid"/>
            <a:tailEnd type="triangle" w="sm" len="sm"/>
          </a:ln>
        </p:spPr>
      </p:cxnSp>
      <p:cxnSp>
        <p:nvCxnSpPr>
          <p:cNvPr id="53" name=""/>
          <p:cNvCxnSpPr>
            <a:stCxn xmlns:a="http://schemas.openxmlformats.org/drawingml/2006/main" id="15" idx="3"/>
            <a:endCxn xmlns:a="http://schemas.openxmlformats.org/drawingml/2006/main" id="18" idx="1"/>
          </p:cNvCxnSpPr>
          <p:nvPr/>
        </p:nvCxnSpPr>
        <p:spPr>
          <a:xfrm xmlns:a="http://schemas.openxmlformats.org/drawingml/2006/main">
            <a:off x="9305925" y="3228975"/>
            <a:ext cx="409575" cy="0"/>
          </a:xfrm>
          <a:prstGeom xmlns:a="http://schemas.openxmlformats.org/drawingml/2006/main" prst="straightConnector1">
            <a:avLst/>
          </a:prstGeom>
          <a:ln xmlns:a="http://schemas.openxmlformats.org/drawingml/2006/main" w="23813">
            <a:solidFill>
              <a:srgbClr val="C6F244"/>
            </a:solidFill>
            <a:prstDash val="solid"/>
            <a:tailEnd type="triangle" w="sm" len="sm"/>
          </a:ln>
        </p:spPr>
      </p:cxnSp>
      <p:sp>
        <p:nvSpPr>
          <p:cNvPr id="25" name="customer-route">
            <a:extLst xmlns:a="http://schemas.openxmlformats.org/drawingml/2006/main">
              <a:ext uri="{FF2B5EF4-FFF2-40B4-BE49-F238E27FC236}">
                <a16:creationId xmlns:a16="http://schemas.microsoft.com/office/drawing/2014/main" id="{35370890-A48F-4504-91A2-422662D80A89}"/>
              </a:ext>
            </a:extLst>
          </p:cNvPr>
          <p:cNvSpPr>
            <a:spLocks xmlns:a="http://schemas.openxmlformats.org/drawingml/2006/main" noGrp="1"/>
          </p:cNvSpPr>
          <p:nvPr/>
        </p:nvSpPr>
        <p:spPr>
          <a:xfrm xmlns:a="http://schemas.openxmlformats.org/drawingml/2006/main">
            <a:off x="7000875" y="2152650"/>
            <a:ext cx="27717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BDD0C5"/>
                </a:solidFill>
                <a:latin typeface="Arial"/>
                <a:ea typeface="Arial"/>
                <a:cs typeface="Arial"/>
              </a:defRPr>
            </a:pPr>
            <a:r>
              <a:rPr sz="1350" b="0">
                <a:solidFill>
                  <a:srgbClr val="BDD0C5"/>
                </a:solidFill>
                <a:latin typeface="Arial"/>
                <a:ea typeface="Arial"/>
                <a:cs typeface="Arial"/>
              </a:rPr>
              <a:t>Customer alerts</a:t>
            </a:r>
          </a:p>
        </p:txBody>
      </p:sp>
      <p:sp>
        <p:nvSpPr>
          <p:cNvPr id="26" name="rule-details">
            <a:extLst xmlns:a="http://schemas.openxmlformats.org/drawingml/2006/main">
              <a:ext uri="{FF2B5EF4-FFF2-40B4-BE49-F238E27FC236}">
                <a16:creationId xmlns:a16="http://schemas.microsoft.com/office/drawing/2014/main" id="{B63BA7EE-EE84-48E5-8A15-DC19FE017A36}"/>
              </a:ext>
            </a:extLst>
          </p:cNvPr>
          <p:cNvSpPr>
            <a:spLocks xmlns:a="http://schemas.openxmlformats.org/drawingml/2006/main" noGrp="1"/>
          </p:cNvSpPr>
          <p:nvPr/>
        </p:nvSpPr>
        <p:spPr>
          <a:xfrm xmlns:a="http://schemas.openxmlformats.org/drawingml/2006/main">
            <a:off x="2886075" y="4324350"/>
            <a:ext cx="18669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BDD0C5"/>
                </a:solidFill>
                <a:latin typeface="Arial"/>
                <a:ea typeface="Arial"/>
                <a:cs typeface="Arial"/>
              </a:defRPr>
            </a:pPr>
            <a:r>
              <a:rPr sz="1650" b="0">
                <a:solidFill>
                  <a:srgbClr val="BDD0C5"/>
                </a:solidFill>
                <a:latin typeface="Arial"/>
                <a:ea typeface="Arial"/>
                <a:cs typeface="Arial"/>
              </a:rPr>
              <a:t>Amount</a:t>
            </a:r>
          </a:p>
          <a:p xmlns:a="http://schemas.openxmlformats.org/drawingml/2006/main">
            <a:pPr algn="l">
              <a:defRPr sz="1650" b="0">
                <a:solidFill>
                  <a:srgbClr val="BDD0C5"/>
                </a:solidFill>
                <a:latin typeface="Arial"/>
                <a:ea typeface="Arial"/>
                <a:cs typeface="Arial"/>
              </a:defRPr>
            </a:pPr>
            <a:r>
              <a:rPr sz="1650" b="0">
                <a:solidFill>
                  <a:srgbClr val="BDD0C5"/>
                </a:solidFill>
                <a:latin typeface="Arial"/>
                <a:ea typeface="Arial"/>
                <a:cs typeface="Arial"/>
              </a:rPr>
              <a:t>Time of day</a:t>
            </a:r>
          </a:p>
          <a:p xmlns:a="http://schemas.openxmlformats.org/drawingml/2006/main">
            <a:pPr algn="l">
              <a:defRPr sz="1650" b="0">
                <a:solidFill>
                  <a:srgbClr val="BDD0C5"/>
                </a:solidFill>
                <a:latin typeface="Arial"/>
                <a:ea typeface="Arial"/>
                <a:cs typeface="Arial"/>
              </a:defRPr>
            </a:pPr>
            <a:r>
              <a:rPr sz="1650" b="0">
                <a:solidFill>
                  <a:srgbClr val="BDD0C5"/>
                </a:solidFill>
                <a:latin typeface="Arial"/>
                <a:ea typeface="Arial"/>
                <a:cs typeface="Arial"/>
              </a:rPr>
              <a:t>Rapid activity</a:t>
            </a:r>
          </a:p>
        </p:txBody>
      </p:sp>
      <p:sp>
        <p:nvSpPr>
          <p:cNvPr id="27" name="bank-route">
            <a:extLst xmlns:a="http://schemas.openxmlformats.org/drawingml/2006/main">
              <a:ext uri="{FF2B5EF4-FFF2-40B4-BE49-F238E27FC236}">
                <a16:creationId xmlns:a16="http://schemas.microsoft.com/office/drawing/2014/main" id="{FC93BFB1-EE43-44C2-A0A8-20FD40556C3E}"/>
              </a:ext>
            </a:extLst>
          </p:cNvPr>
          <p:cNvSpPr>
            <a:spLocks xmlns:a="http://schemas.openxmlformats.org/drawingml/2006/main" noGrp="1"/>
          </p:cNvSpPr>
          <p:nvPr/>
        </p:nvSpPr>
        <p:spPr>
          <a:xfrm xmlns:a="http://schemas.openxmlformats.org/drawingml/2006/main">
            <a:off x="5162550" y="4562475"/>
            <a:ext cx="1866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BDD0C5"/>
                </a:solidFill>
                <a:latin typeface="Arial"/>
                <a:ea typeface="Arial"/>
                <a:cs typeface="Arial"/>
              </a:defRPr>
            </a:pPr>
            <a:r>
              <a:rPr sz="1425" b="0">
                <a:solidFill>
                  <a:srgbClr val="BDD0C5"/>
                </a:solidFill>
                <a:latin typeface="Arial"/>
                <a:ea typeface="Arial"/>
                <a:cs typeface="Arial"/>
              </a:rPr>
              <a:t>Bank review</a:t>
            </a:r>
          </a:p>
          <a:p xmlns:a="http://schemas.openxmlformats.org/drawingml/2006/main">
            <a:pPr algn="ctr">
              <a:defRPr sz="1425" b="0">
                <a:solidFill>
                  <a:srgbClr val="BDD0C5"/>
                </a:solidFill>
                <a:latin typeface="Arial"/>
                <a:ea typeface="Arial"/>
                <a:cs typeface="Arial"/>
              </a:defRPr>
            </a:pPr>
            <a:r>
              <a:rPr sz="1425" b="0">
                <a:solidFill>
                  <a:srgbClr val="BDD0C5"/>
                </a:solidFill>
                <a:latin typeface="Arial"/>
                <a:ea typeface="Arial"/>
                <a:cs typeface="Arial"/>
              </a:rPr>
              <a:t>Stored for follow-up</a:t>
            </a:r>
          </a:p>
        </p:txBody>
      </p:sp>
      <p:cxnSp>
        <p:nvCxnSpPr>
          <p:cNvPr id="57" name=""/>
          <p:cNvCxnSpPr>
            <a:stCxn xmlns:a="http://schemas.openxmlformats.org/drawingml/2006/main" id="12" idx="2"/>
            <a:endCxn xmlns:a="http://schemas.openxmlformats.org/drawingml/2006/main" id="27" idx="0"/>
          </p:cNvCxnSpPr>
          <p:nvPr/>
        </p:nvCxnSpPr>
        <p:spPr>
          <a:xfrm xmlns:a="http://schemas.openxmlformats.org/drawingml/2006/main">
            <a:off x="6096000" y="3914775"/>
            <a:ext cx="0" cy="647700"/>
          </a:xfrm>
          <a:prstGeom xmlns:a="http://schemas.openxmlformats.org/drawingml/2006/main" prst="straightConnector1">
            <a:avLst/>
          </a:prstGeom>
          <a:ln xmlns:a="http://schemas.openxmlformats.org/drawingml/2006/main" w="23813">
            <a:solidFill>
              <a:srgbClr val="BDD0C5"/>
            </a:solidFill>
            <a:prstDash val="solid"/>
            <a:tailEnd type="triangle" w="sm" len="sm"/>
          </a:ln>
        </p:spPr>
      </p:cxnSp>
      <p:sp>
        <p:nvSpPr>
          <p:cNvPr id="29" name="nonduplicate">
            <a:extLst xmlns:a="http://schemas.openxmlformats.org/drawingml/2006/main">
              <a:ext uri="{FF2B5EF4-FFF2-40B4-BE49-F238E27FC236}">
                <a16:creationId xmlns:a16="http://schemas.microsoft.com/office/drawing/2014/main" id="{C589E165-EB05-41FF-B5D3-F49B950A9281}"/>
              </a:ext>
            </a:extLst>
          </p:cNvPr>
          <p:cNvSpPr>
            <a:spLocks xmlns:a="http://schemas.openxmlformats.org/drawingml/2006/main" noGrp="1"/>
          </p:cNvSpPr>
          <p:nvPr/>
        </p:nvSpPr>
        <p:spPr>
          <a:xfrm xmlns:a="http://schemas.openxmlformats.org/drawingml/2006/main">
            <a:off x="609600" y="5686425"/>
            <a:ext cx="10972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Each transaction is registered once. Sent alerts are not resent.</a:t>
            </a:r>
          </a:p>
        </p:txBody>
      </p:sp>
    </p:spTree>
    <p:extLst>
      <p:ext uri="{BB962C8B-B14F-4D97-AF65-F5344CB8AC3E}">
        <p14:creationId xmlns:p14="http://schemas.microsoft.com/office/powerpoint/2010/main" val="20405341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2026-09-29T15:13:31.4630000Z</dcterms:created>
  <dcterms:modified xsi:type="dcterms:W3CDTF">2026-09-29T15:13:31.4630000Z</dcterms:modified>
</coreProperties>
</file>