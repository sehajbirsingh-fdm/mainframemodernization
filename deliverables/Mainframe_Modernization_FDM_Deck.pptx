
<file path=[Content_Types].xml><?xml version="1.0" encoding="utf-8"?>
<Types xmlns="http://schemas.openxmlformats.org/package/2006/content-types">
  <Default Extension="fntdata" ContentType="application/x-fontdata"/>
  <Default Extension="org&amp;utm_campaign=index&amp;utm_content=thumbnail" ContentType="image/pn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embeddedFontLst>
    <p:embeddedFont>
      <p:font typeface="Impact" panose="020B0806030902050204" pitchFamily="34" charset="0"/>
      <p:regular r:id="rId8"/>
    </p:embeddedFont>
    <p:embeddedFont>
      <p:font typeface="Inter" panose="02000503000000020004" pitchFamily="2" charset="0"/>
      <p:regular r:id="rId9"/>
      <p:bold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p:restoredTop sz="76339"/>
  </p:normalViewPr>
  <p:slideViewPr>
    <p:cSldViewPr snapToGrid="0">
      <p:cViewPr>
        <p:scale>
          <a:sx n="96" d="100"/>
          <a:sy n="96" d="100"/>
        </p:scale>
        <p:origin x="-1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pod established the modernization foundation before my additions. It used AI-assisted analysis and a modernization agent framework to interpret COBOL programs and copybooks, recover business rules and mappings, and produce reviewable specifications. Specification-driven development then guided the Spring Boot services and React frontend, with reviews and tests tied to the requirements. This is a working proof of concept with local and mock integration boundaries. The objective is to preserve legacy behaviour while moving implementation to a modern application. We are not presenting a completed production migration or verified cost savings.</a:t>
            </a:r>
          </a:p>
          <a:p>
            <a:r>
              <a:t>Sources</a:t>
            </a:r>
          </a:p>
          <a:p>
            <a:r>
              <a:t>/Users/temp/Downloads/Mainframe Modernization Powered by AI‑Enabled SDLC.pptx, slides 3, 7, 9, 11 and 18</a:t>
            </a:r>
          </a:p>
          <a:p>
            <a:r>
              <a:t>/Users/temp/Documents/pod/MainframeModernization/PROJECT_ONBOARDING_GUIDE.md, sections 1–5 and 7–9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My work adds two capabilities to the application the pod already built. The Code Assistant helps new developers and colleagues working on unfamiliar features ask natural-language questions about the frontend, backend, APIs and end-to-end workflows. Its explanations include code snippets and supporting file references. The second capability demonstrates transaction anomaly detection, persistent alert tracking and customer email notifications. The transaction data is synthetic, and Mailpit captures test emails locally. These are capability demonstrations, without a measured onboarding-time reduction or production fraud-detection claim.</a:t>
            </a:r>
          </a:p>
          <a:p>
            <a:r>
              <a:t>Sources</a:t>
            </a:r>
          </a:p>
          <a:p>
            <a:r>
              <a:t>/Users/temp/Documents/pod/MainframeModernization/rag/README.md</a:t>
            </a:r>
          </a:p>
          <a:p>
            <a:r>
              <a:t>/Users/temp/Documents/pod/MainframeModernization/rag/api.py</a:t>
            </a:r>
          </a:p>
          <a:p>
            <a:r>
              <a:t>/Users/temp/Documents/pod/MainframeModernization/anomaly_detection/README.md</a:t>
            </a:r>
          </a:p>
          <a:p>
            <a:r>
              <a:t>Codex task: Recall RAG implementation work, 01a0a5a7-67d3-75a0-b53b-b2b54de438d2</a:t>
            </a:r>
          </a:p>
          <a:p>
            <a:r>
              <a:t>Codex task: Investigate anomaly monitoring, 01a0a15a-49ab-7cb2-b5b7-36aef8a526af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RAG means retrieval-augmented generation: the assistant first finds project evidence before generating an explanation. This slide covers knowledge preparation. CocoIndex detects additions, edits and deletions. Tree-sitter identifies code structure, and chunks retain links to their files and callable nodes. Groq creates file and function summaries, which enrich the chunks. CodeRankEmbed converts them into vectors stored in LanceDB. Incremental refresh reuses unchanged vectors, updates new or changed chunks and removes deleted chunks. Refreshing the index is an explicit pipeline operation after code changes, rather than an always-running synchronization service.</a:t>
            </a:r>
          </a:p>
          <a:p>
            <a:r>
              <a:t>Sources</a:t>
            </a:r>
          </a:p>
          <a:p>
            <a:r>
              <a:t>/Users/temp/Documents/pod/MainframeModernization/rag/README.md, Full Incremental Pipeline and Chunking And Incremental Identity</a:t>
            </a:r>
          </a:p>
          <a:p>
            <a:r>
              <a:t>/Users/temp/Documents/pod/MainframeModernization/rag/ingestion.py</a:t>
            </a:r>
          </a:p>
          <a:p>
            <a:r>
              <a:t>/Users/temp/Documents/pod/MainframeModernization/rag/sync_embedding_table.py</a:t>
            </a:r>
          </a:p>
          <a:p>
            <a:r>
              <a:t>Codex task: Design RAG indexing strategy, 01a00fff-937d-78e1-a308-a0fa4a73a0d4</a:t>
            </a:r>
          </a:p>
          <a:p>
            <a:r>
              <a:t>User-supplied indexing workflow image: codex-clipboard-eda13267-d0b7-4dcb-8785-1d80f56b4148.png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 developer asks a question in the integrated React Code Assistant. Gemini first decides whether the request can be answered, needs clarification or should be declined. For an answerable question, </a:t>
            </a:r>
            <a:r>
              <a:rPr dirty="0" err="1"/>
              <a:t>CodeRankEmbed</a:t>
            </a:r>
            <a:r>
              <a:rPr dirty="0"/>
              <a:t> and </a:t>
            </a:r>
            <a:r>
              <a:rPr dirty="0" err="1"/>
              <a:t>LanceDB</a:t>
            </a:r>
            <a:r>
              <a:rPr dirty="0"/>
              <a:t> retrieve the top ten semantic code chunks. </a:t>
            </a:r>
            <a:r>
              <a:rPr dirty="0" err="1"/>
              <a:t>Groq</a:t>
            </a:r>
            <a:r>
              <a:rPr dirty="0"/>
              <a:t> generates a response using that evidence. Gemini then checks the response against the retrieved code and chooses pass, revise or block. If needed, </a:t>
            </a:r>
            <a:r>
              <a:rPr dirty="0" err="1"/>
              <a:t>Groq</a:t>
            </a:r>
            <a:r>
              <a:rPr dirty="0"/>
              <a:t> revises once using the feedback and Gemini checks it again. Only an approved answer is returned as the substantive explanation. Validation reduces unsupported answers but is not a guarantee of correctness. </a:t>
            </a:r>
            <a:r>
              <a:rPr dirty="0" err="1"/>
              <a:t>Promptfoo</a:t>
            </a:r>
            <a:r>
              <a:rPr dirty="0"/>
              <a:t> and a separate grounded test set support offline evaluation. Hybrid retrieval and reranking were experiments and are not the live retrieval path.</a:t>
            </a:r>
          </a:p>
          <a:p>
            <a:endParaRPr dirty="0"/>
          </a:p>
          <a:p>
            <a:r>
              <a:rPr dirty="0"/>
              <a:t>Diagram detail: The question and indexed code use the same pinned </a:t>
            </a:r>
            <a:r>
              <a:rPr dirty="0" err="1"/>
              <a:t>CodeRankEmbed</a:t>
            </a:r>
            <a:r>
              <a:rPr dirty="0"/>
              <a:t> model. Retrieval matches normalized vectors using cosine similarity and returns the top 10 chunks. Evidence contains raw code, file and node summaries, file paths and line ranges. The answer validator sees the question, answer and retrieved evidence. Offline </a:t>
            </a:r>
            <a:r>
              <a:rPr dirty="0" err="1"/>
              <a:t>Promptfoo</a:t>
            </a:r>
            <a:r>
              <a:rPr dirty="0"/>
              <a:t> evaluation is separate from this runtime loop.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simulator creates synthetic transactions through the real Spring Boot API while the banking interface can display the data. The detector scans the current API records whenever the processing command runs. It flags unusually large debits or credits, early-hour activity and rapid transaction bursts. SQLite persists findings with a unique transaction ID to prevent duplicate registration. Large credits are retained for bank review and do not enter automatic customer email delivery. For eligible new customer alerts, Groq drafts the wording, and Python validates required transaction facts before sending to Mailpit. Mailpit is a local test inbox, not delivery to real customers. Successful delivery changes the status to SENT. The default end-to-end demo sends the newest customer alert from the current scan. Detection is rule-based. Isolation Forest and UI alert badges in the earlier diagram are future work, not implemented capabilities.</a:t>
            </a:r>
          </a:p>
          <a:p>
            <a:r>
              <a:t>Sources</a:t>
            </a:r>
          </a:p>
          <a:p>
            <a:r>
              <a:t>/Users/temp/Documents/pod/MainframeModernization/anomaly_detection/README.md</a:t>
            </a:r>
          </a:p>
          <a:p>
            <a:r>
              <a:t>/Users/temp/Documents/pod/MainframeModernization/anomaly_detection/realtime.py</a:t>
            </a:r>
          </a:p>
          <a:p>
            <a:r>
              <a:t>/Users/temp/Documents/pod/MainframeModernization/anomaly_detection/detect.py</a:t>
            </a:r>
          </a:p>
          <a:p>
            <a:r>
              <a:t>/Users/temp/Documents/pod/MainframeModernization/anomaly_detection/alerts.py</a:t>
            </a:r>
          </a:p>
          <a:p>
            <a:r>
              <a:t>/Users/temp/Documents/pod/MainframeModernization/anomaly_detection/notification.py</a:t>
            </a:r>
          </a:p>
          <a:p>
            <a:r>
              <a:t>/Users/temp/Documents/pod/MainframeModernization/anomaly_detection/main.py</a:t>
            </a:r>
          </a:p>
          <a:p>
            <a:r>
              <a:t>Codex task: Investigate anomaly monitoring, 01a0a15a-49ab-7cb2-b5b7-36aef8a526af</a:t>
            </a:r>
          </a:p>
          <a:p>
            <a:r>
              <a:t>User-supplied anomaly workflow image: codex-clipboard-5231e874-b5c5-41e1-9c80-eaa27bcf8e7a.png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F0497-6FF6-7897-CE29-ECF0197074FC}"/>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A3369BE1-A372-84EC-1808-53B8280F4AD0}"/>
              </a:ext>
            </a:extLst>
          </p:cNvPr>
          <p:cNvSpPr>
            <a:spLocks noGrp="1"/>
          </p:cNvSpPr>
          <p:nvPr>
            <p:ph type="dt" idx="10"/>
          </p:nvPr>
        </p:nvSpPr>
        <p:spPr/>
        <p:txBody>
          <a:bodyPr/>
          <a:lstStyle/>
          <a:p>
            <a:fld id="{E58A487E-9681-4F16-AC17-2EF072BCE5A1}" type="datetimeFigureOut">
              <a:t>9/29/26</a:t>
            </a:fld>
            <a:endParaRPr/>
          </a:p>
        </p:txBody>
      </p:sp>
      <p:sp>
        <p:nvSpPr>
          <p:cNvPr id="4" name="Footer Placeholder 3">
            <a:extLst>
              <a:ext uri="{FF2B5EF4-FFF2-40B4-BE49-F238E27FC236}">
                <a16:creationId xmlns:a16="http://schemas.microsoft.com/office/drawing/2014/main" id="{44492CBE-89B4-2690-C75E-25C6F232A4F0}"/>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7B08EAC8-3A99-DAB7-A82E-762ECCE9F378}"/>
              </a:ext>
            </a:extLst>
          </p:cNvPr>
          <p:cNvSpPr>
            <a:spLocks noGrp="1"/>
          </p:cNvSpPr>
          <p:nvPr>
            <p:ph type="sldNum" idx="12"/>
          </p:nvPr>
        </p:nvSpPr>
        <p:spPr/>
        <p:txBody>
          <a:bodyPr/>
          <a:lstStyle/>
          <a:p>
            <a:fld id="{B68849AB-B212-4526-B8DA-C7DF27E939C0}"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 name="Google Shape;10;p1">
            <a:extLst>
              <a:ext uri="{FF2B5EF4-FFF2-40B4-BE49-F238E27FC236}">
                <a16:creationId xmlns:a16="http://schemas.microsoft.com/office/drawing/2014/main" id="{CB28DBF2-8F3B-4EF9-BE44-CB3F1985D2EF}"/>
              </a:ext>
            </a:extLst>
          </p:cNvPr>
          <p:cNvSpPr>
            <a:spLocks noGrp="1"/>
          </p:cNvSpPr>
          <p:nvPr/>
        </p:nvSpPr>
        <p:spPr>
          <a:xfrm>
            <a:off x="0" y="6386520"/>
            <a:ext cx="12192000" cy="474871"/>
          </a:xfrm>
          <a:prstGeom prst="rect">
            <a:avLst/>
          </a:prstGeom>
          <a:solidFill>
            <a:srgbClr val="EFECEA"/>
          </a:solidFill>
          <a:ln>
            <a:noFill/>
          </a:ln>
        </p:spPr>
        <p:txBody>
          <a:bodyPr spcFirstLastPara="1" wrap="square" lIns="91425" tIns="45700" rIns="91425" bIns="45700" anchor="ctr">
            <a:noAutofit/>
          </a:bodyPr>
          <a:lstStyle/>
          <a:p>
            <a:pPr marL="0" marR="0" lvl="0" indent="0" algn="ctr">
              <a:spcBef>
                <a:spcPts val="0"/>
              </a:spcBef>
              <a:spcAft>
                <a:spcPts val="0"/>
              </a:spcAft>
              <a:buNone/>
            </a:pPr>
            <a:endParaRPr sz="1200" b="0" i="0" u="none" cap="none">
              <a:solidFill>
                <a:schemeClr val="lt1"/>
              </a:solidFill>
              <a:latin typeface="Arial"/>
              <a:ea typeface="Arial"/>
              <a:cs typeface="Arial"/>
            </a:endParaRPr>
          </a:p>
        </p:txBody>
      </p:sp>
      <p:sp>
        <p:nvSpPr>
          <p:cNvPr id="11" name="Google Shape;11;p1">
            <a:extLst>
              <a:ext uri="{FF2B5EF4-FFF2-40B4-BE49-F238E27FC236}">
                <a16:creationId xmlns:a16="http://schemas.microsoft.com/office/drawing/2014/main" id="{D56A471A-FDE3-42EB-9E03-D6157DCE15AB}"/>
              </a:ext>
            </a:extLst>
          </p:cNvPr>
          <p:cNvSpPr>
            <a:spLocks noGrp="1"/>
          </p:cNvSpPr>
          <p:nvPr>
            <p:ph type="title"/>
          </p:nvPr>
        </p:nvSpPr>
        <p:spPr>
          <a:xfrm>
            <a:off x="635793" y="638722"/>
            <a:ext cx="10920600" cy="888859"/>
          </a:xfrm>
          <a:prstGeom prst="rect">
            <a:avLst/>
          </a:prstGeom>
          <a:noFill/>
          <a:ln>
            <a:noFill/>
          </a:ln>
        </p:spPr>
        <p:txBody>
          <a:bodyPr spcFirstLastPara="1" wrap="square" lIns="0" tIns="0" rIns="0" bIns="0" anchor="t">
            <a:noAutofit/>
          </a:bodyPr>
          <a:lstStyle>
            <a:lvl1pPr marR="0" algn="l">
              <a:lnSpc>
                <a:spcPct val="90000"/>
              </a:lnSpc>
              <a:spcBef>
                <a:spcPts val="0"/>
              </a:spcBef>
              <a:spcAft>
                <a:spcPts val="0"/>
              </a:spcAft>
              <a:buClr>
                <a:schemeClr val="dk1"/>
              </a:buClr>
              <a:buSzPts val="3000"/>
              <a:buFont typeface="Impact"/>
              <a:buNone/>
              <a:defRPr sz="3000" b="0" i="0" u="none" cap="none">
                <a:solidFill>
                  <a:schemeClr val="dk1"/>
                </a:solidFill>
                <a:latin typeface="Impact"/>
                <a:ea typeface="Impact"/>
                <a:cs typeface="Impact"/>
              </a:defRPr>
            </a:lvl1pPr>
            <a:lvl2pPr>
              <a:spcBef>
                <a:spcPts val="0"/>
              </a:spcBef>
              <a:spcAft>
                <a:spcPts val="0"/>
              </a:spcAft>
              <a:buSzPts val="1400"/>
              <a:buNone/>
              <a:defRPr sz="1800"/>
            </a:lvl2pPr>
            <a:lvl3pPr>
              <a:spcBef>
                <a:spcPts val="0"/>
              </a:spcBef>
              <a:spcAft>
                <a:spcPts val="0"/>
              </a:spcAft>
              <a:buSzPts val="1400"/>
              <a:buNone/>
              <a:defRPr sz="1800"/>
            </a:lvl3pPr>
            <a:lvl4pPr>
              <a:spcBef>
                <a:spcPts val="0"/>
              </a:spcBef>
              <a:spcAft>
                <a:spcPts val="0"/>
              </a:spcAft>
              <a:buSzPts val="1400"/>
              <a:buNone/>
              <a:defRPr sz="1800"/>
            </a:lvl4pPr>
            <a:lvl5pPr>
              <a:spcBef>
                <a:spcPts val="0"/>
              </a:spcBef>
              <a:spcAft>
                <a:spcPts val="0"/>
              </a:spcAft>
              <a:buSzPts val="1400"/>
              <a:buNone/>
              <a:defRPr sz="1800"/>
            </a:lvl5pPr>
            <a:lvl6pPr>
              <a:spcBef>
                <a:spcPts val="0"/>
              </a:spcBef>
              <a:spcAft>
                <a:spcPts val="0"/>
              </a:spcAft>
              <a:buSzPts val="1400"/>
              <a:buNone/>
              <a:defRPr sz="1800"/>
            </a:lvl6pPr>
            <a:lvl7pPr>
              <a:spcBef>
                <a:spcPts val="0"/>
              </a:spcBef>
              <a:spcAft>
                <a:spcPts val="0"/>
              </a:spcAft>
              <a:buSzPts val="1400"/>
              <a:buNone/>
              <a:defRPr sz="1800"/>
            </a:lvl7pPr>
            <a:lvl8pPr>
              <a:spcBef>
                <a:spcPts val="0"/>
              </a:spcBef>
              <a:spcAft>
                <a:spcPts val="0"/>
              </a:spcAft>
              <a:buSzPts val="1400"/>
              <a:buNone/>
              <a:defRPr sz="1800"/>
            </a:lvl8pPr>
            <a:lvl9pPr>
              <a:spcBef>
                <a:spcPts val="0"/>
              </a:spcBef>
              <a:spcAft>
                <a:spcPts val="0"/>
              </a:spcAft>
              <a:buSzPts val="1400"/>
              <a:buNone/>
              <a:defRPr sz="1800"/>
            </a:lvl9pPr>
          </a:lstStyle>
          <a:p>
            <a:endParaRPr/>
          </a:p>
        </p:txBody>
      </p:sp>
      <p:sp>
        <p:nvSpPr>
          <p:cNvPr id="12" name="Google Shape;12;p1">
            <a:extLst>
              <a:ext uri="{FF2B5EF4-FFF2-40B4-BE49-F238E27FC236}">
                <a16:creationId xmlns:a16="http://schemas.microsoft.com/office/drawing/2014/main" id="{24C6F143-9146-4E32-B63E-1F73EE496130}"/>
              </a:ext>
            </a:extLst>
          </p:cNvPr>
          <p:cNvSpPr>
            <a:spLocks noGrp="1"/>
          </p:cNvSpPr>
          <p:nvPr>
            <p:ph type="body" idx="1"/>
          </p:nvPr>
        </p:nvSpPr>
        <p:spPr>
          <a:xfrm>
            <a:off x="635793" y="1962151"/>
            <a:ext cx="10920600" cy="4095751"/>
          </a:xfrm>
          <a:prstGeom prst="rect">
            <a:avLst/>
          </a:prstGeom>
          <a:noFill/>
          <a:ln>
            <a:noFill/>
          </a:ln>
        </p:spPr>
        <p:txBody>
          <a:bodyPr spcFirstLastPara="1" wrap="square" lIns="0" tIns="0" rIns="0" bIns="0" anchor="t">
            <a:noAutofit/>
          </a:bodyPr>
          <a:lstStyle>
            <a:lvl1pPr marL="457200" marR="0" indent="-228600" algn="l">
              <a:lnSpc>
                <a:spcPct val="105000"/>
              </a:lnSpc>
              <a:spcBef>
                <a:spcPts val="0"/>
              </a:spcBef>
              <a:spcAft>
                <a:spcPts val="0"/>
              </a:spcAft>
              <a:buClr>
                <a:schemeClr val="dk1"/>
              </a:buClr>
              <a:buSzPts val="1200"/>
              <a:buFont typeface="Arial"/>
              <a:buNone/>
              <a:defRPr sz="1200" b="0" i="0" u="none" cap="none">
                <a:solidFill>
                  <a:schemeClr val="dk1"/>
                </a:solidFill>
                <a:latin typeface="Inter"/>
                <a:ea typeface="Inter"/>
                <a:cs typeface="Inter"/>
              </a:defRPr>
            </a:lvl1pPr>
            <a:lvl2pPr marL="914400" marR="0" indent="-228600" algn="l">
              <a:lnSpc>
                <a:spcPct val="105000"/>
              </a:lnSpc>
              <a:spcBef>
                <a:spcPts val="1488"/>
              </a:spcBef>
              <a:spcAft>
                <a:spcPts val="0"/>
              </a:spcAft>
              <a:buClr>
                <a:schemeClr val="dk1"/>
              </a:buClr>
              <a:buSzPts val="1200"/>
              <a:buFont typeface="Arial"/>
              <a:buNone/>
              <a:defRPr sz="1200" b="1" i="0" u="none" cap="none">
                <a:solidFill>
                  <a:schemeClr val="dk1"/>
                </a:solidFill>
                <a:latin typeface="Inter"/>
                <a:ea typeface="Inter"/>
                <a:cs typeface="Inter"/>
              </a:defRPr>
            </a:lvl2pPr>
            <a:lvl3pPr marL="1371600" marR="0" indent="-304800" algn="l">
              <a:lnSpc>
                <a:spcPct val="105000"/>
              </a:lnSpc>
              <a:spcBef>
                <a:spcPts val="241"/>
              </a:spcBef>
              <a:spcAft>
                <a:spcPts val="0"/>
              </a:spcAft>
              <a:buClr>
                <a:schemeClr val="dk1"/>
              </a:buClr>
              <a:buSzPts val="1200"/>
              <a:buFont typeface="Arial"/>
              <a:buChar char="•"/>
              <a:defRPr sz="1200" b="0" i="0" u="none" cap="none">
                <a:solidFill>
                  <a:schemeClr val="dk1"/>
                </a:solidFill>
                <a:latin typeface="Inter"/>
                <a:ea typeface="Inter"/>
                <a:cs typeface="Inter"/>
              </a:defRPr>
            </a:lvl3pPr>
            <a:lvl4pPr marL="1828800" marR="0" indent="-304800" algn="l">
              <a:lnSpc>
                <a:spcPct val="105000"/>
              </a:lnSpc>
              <a:spcBef>
                <a:spcPts val="496"/>
              </a:spcBef>
              <a:spcAft>
                <a:spcPts val="0"/>
              </a:spcAft>
              <a:buClr>
                <a:schemeClr val="dk1"/>
              </a:buClr>
              <a:buSzPts val="1200"/>
              <a:buFont typeface="Arial"/>
              <a:buChar char="•"/>
              <a:defRPr sz="1200" b="0" i="0" u="none" cap="none">
                <a:solidFill>
                  <a:schemeClr val="dk1"/>
                </a:solidFill>
                <a:latin typeface="Inter"/>
                <a:ea typeface="Inter"/>
                <a:cs typeface="Inter"/>
              </a:defRPr>
            </a:lvl4pPr>
            <a:lvl5pPr marL="2286000" marR="0" indent="-304800" algn="l">
              <a:lnSpc>
                <a:spcPct val="105000"/>
              </a:lnSpc>
              <a:spcBef>
                <a:spcPts val="496"/>
              </a:spcBef>
              <a:spcAft>
                <a:spcPts val="0"/>
              </a:spcAft>
              <a:buClr>
                <a:schemeClr val="dk1"/>
              </a:buClr>
              <a:buSzPts val="1200"/>
              <a:buFont typeface="Arial"/>
              <a:buChar char="•"/>
              <a:defRPr sz="1200" b="0" i="0" u="none" cap="none">
                <a:solidFill>
                  <a:schemeClr val="dk1"/>
                </a:solidFill>
                <a:latin typeface="Inter"/>
                <a:ea typeface="Inter"/>
                <a:cs typeface="Inter"/>
              </a:defRPr>
            </a:lvl5pPr>
            <a:lvl6pPr marL="2743200" marR="0" indent="-304800" algn="l">
              <a:lnSpc>
                <a:spcPct val="105000"/>
              </a:lnSpc>
              <a:spcBef>
                <a:spcPts val="496"/>
              </a:spcBef>
              <a:spcAft>
                <a:spcPts val="0"/>
              </a:spcAft>
              <a:buClr>
                <a:schemeClr val="dk1"/>
              </a:buClr>
              <a:buSzPts val="1200"/>
              <a:buFont typeface="Arial"/>
              <a:buChar char="•"/>
              <a:defRPr sz="1200" b="0" i="0" u="none" cap="none">
                <a:solidFill>
                  <a:schemeClr val="dk1"/>
                </a:solidFill>
                <a:latin typeface="Arial"/>
                <a:ea typeface="Arial"/>
                <a:cs typeface="Arial"/>
              </a:defRPr>
            </a:lvl6pPr>
            <a:lvl7pPr marL="3200400" marR="0" indent="-304800" algn="l">
              <a:lnSpc>
                <a:spcPct val="105000"/>
              </a:lnSpc>
              <a:spcBef>
                <a:spcPts val="496"/>
              </a:spcBef>
              <a:spcAft>
                <a:spcPts val="0"/>
              </a:spcAft>
              <a:buClr>
                <a:schemeClr val="dk1"/>
              </a:buClr>
              <a:buSzPts val="1200"/>
              <a:buFont typeface="Impact"/>
              <a:buAutoNum type="arabicPeriod"/>
              <a:defRPr sz="1200" b="0" i="0" u="none" cap="none">
                <a:solidFill>
                  <a:schemeClr val="dk1"/>
                </a:solidFill>
                <a:latin typeface="Arial"/>
                <a:ea typeface="Arial"/>
                <a:cs typeface="Arial"/>
              </a:defRPr>
            </a:lvl7pPr>
            <a:lvl8pPr marL="3657600" marR="0" indent="-304800" algn="l">
              <a:lnSpc>
                <a:spcPct val="105000"/>
              </a:lnSpc>
              <a:spcBef>
                <a:spcPts val="496"/>
              </a:spcBef>
              <a:spcAft>
                <a:spcPts val="0"/>
              </a:spcAft>
              <a:buClr>
                <a:schemeClr val="dk1"/>
              </a:buClr>
              <a:buSzPts val="1200"/>
              <a:buFont typeface="Impact"/>
              <a:buAutoNum type="arabicPeriod"/>
              <a:defRPr sz="1200" b="0" i="0" u="none" cap="none">
                <a:solidFill>
                  <a:schemeClr val="dk1"/>
                </a:solidFill>
                <a:latin typeface="Arial"/>
                <a:ea typeface="Arial"/>
                <a:cs typeface="Arial"/>
              </a:defRPr>
            </a:lvl8pPr>
            <a:lvl9pPr marL="4114800" marR="0" indent="-304800" algn="l">
              <a:lnSpc>
                <a:spcPct val="105000"/>
              </a:lnSpc>
              <a:spcBef>
                <a:spcPts val="496"/>
              </a:spcBef>
              <a:spcAft>
                <a:spcPts val="496"/>
              </a:spcAft>
              <a:buClr>
                <a:schemeClr val="dk1"/>
              </a:buClr>
              <a:buSzPts val="1200"/>
              <a:buFont typeface="Impact"/>
              <a:buAutoNum type="arabicPeriod"/>
              <a:defRPr sz="1200" b="0" i="0" u="none" cap="none">
                <a:solidFill>
                  <a:schemeClr val="dk1"/>
                </a:solidFill>
                <a:latin typeface="Arial"/>
                <a:ea typeface="Arial"/>
                <a:cs typeface="Arial"/>
              </a:defRPr>
            </a:lvl9pPr>
          </a:lstStyle>
          <a:p>
            <a:endParaRPr/>
          </a:p>
        </p:txBody>
      </p:sp>
      <p:sp>
        <p:nvSpPr>
          <p:cNvPr id="13" name="Google Shape;13;p1">
            <a:extLst>
              <a:ext uri="{FF2B5EF4-FFF2-40B4-BE49-F238E27FC236}">
                <a16:creationId xmlns:a16="http://schemas.microsoft.com/office/drawing/2014/main" id="{E3BD5B9F-3FCC-4BE1-AC3E-D342C61E2F86}"/>
              </a:ext>
            </a:extLst>
          </p:cNvPr>
          <p:cNvSpPr>
            <a:spLocks noGrp="1"/>
          </p:cNvSpPr>
          <p:nvPr>
            <p:ph type="ftr" idx="11"/>
          </p:nvPr>
        </p:nvSpPr>
        <p:spPr>
          <a:xfrm>
            <a:off x="635794" y="6463801"/>
            <a:ext cx="5460206" cy="254509"/>
          </a:xfrm>
          <a:prstGeom prst="rect">
            <a:avLst/>
          </a:prstGeom>
          <a:noFill/>
          <a:ln>
            <a:noFill/>
          </a:ln>
        </p:spPr>
        <p:txBody>
          <a:bodyPr spcFirstLastPara="1" wrap="square" lIns="0" tIns="0" rIns="0" bIns="0" anchor="ctr">
            <a:noAutofit/>
          </a:bodyPr>
          <a:lstStyle>
            <a:lvl1pPr marR="0" algn="l">
              <a:spcBef>
                <a:spcPts val="0"/>
              </a:spcBef>
              <a:spcAft>
                <a:spcPts val="0"/>
              </a:spcAft>
              <a:buSzPts val="1400"/>
              <a:buNone/>
              <a:defRPr sz="900" b="0" i="0" u="none" cap="none">
                <a:solidFill>
                  <a:schemeClr val="dk1"/>
                </a:solidFill>
                <a:latin typeface="Inter"/>
                <a:ea typeface="Inter"/>
                <a:cs typeface="Inter"/>
              </a:defRPr>
            </a:lvl1pPr>
            <a:lvl2pPr marR="0" algn="l">
              <a:spcBef>
                <a:spcPts val="0"/>
              </a:spcBef>
              <a:spcAft>
                <a:spcPts val="0"/>
              </a:spcAft>
              <a:buSzPts val="1400"/>
              <a:buNone/>
              <a:defRPr sz="1800" b="0" i="0" u="none" cap="none">
                <a:solidFill>
                  <a:schemeClr val="dk1"/>
                </a:solidFill>
                <a:latin typeface="Arial"/>
                <a:ea typeface="Arial"/>
                <a:cs typeface="Arial"/>
              </a:defRPr>
            </a:lvl2pPr>
            <a:lvl3pPr marR="0" algn="l">
              <a:spcBef>
                <a:spcPts val="0"/>
              </a:spcBef>
              <a:spcAft>
                <a:spcPts val="0"/>
              </a:spcAft>
              <a:buSzPts val="1400"/>
              <a:buNone/>
              <a:defRPr sz="1800" b="0" i="0" u="none" cap="none">
                <a:solidFill>
                  <a:schemeClr val="dk1"/>
                </a:solidFill>
                <a:latin typeface="Arial"/>
                <a:ea typeface="Arial"/>
                <a:cs typeface="Arial"/>
              </a:defRPr>
            </a:lvl3pPr>
            <a:lvl4pPr marR="0" algn="l">
              <a:spcBef>
                <a:spcPts val="0"/>
              </a:spcBef>
              <a:spcAft>
                <a:spcPts val="0"/>
              </a:spcAft>
              <a:buSzPts val="1400"/>
              <a:buNone/>
              <a:defRPr sz="1800" b="0" i="0" u="none" cap="none">
                <a:solidFill>
                  <a:schemeClr val="dk1"/>
                </a:solidFill>
                <a:latin typeface="Arial"/>
                <a:ea typeface="Arial"/>
                <a:cs typeface="Arial"/>
              </a:defRPr>
            </a:lvl4pPr>
            <a:lvl5pPr marR="0" algn="l">
              <a:spcBef>
                <a:spcPts val="0"/>
              </a:spcBef>
              <a:spcAft>
                <a:spcPts val="0"/>
              </a:spcAft>
              <a:buSzPts val="1400"/>
              <a:buNone/>
              <a:defRPr sz="1800" b="0" i="0" u="none" cap="none">
                <a:solidFill>
                  <a:schemeClr val="dk1"/>
                </a:solidFill>
                <a:latin typeface="Arial"/>
                <a:ea typeface="Arial"/>
                <a:cs typeface="Arial"/>
              </a:defRPr>
            </a:lvl5pPr>
            <a:lvl6pPr marR="0" algn="l">
              <a:spcBef>
                <a:spcPts val="0"/>
              </a:spcBef>
              <a:spcAft>
                <a:spcPts val="0"/>
              </a:spcAft>
              <a:buSzPts val="1400"/>
              <a:buNone/>
              <a:defRPr sz="1800" b="0" i="0" u="none" cap="none">
                <a:solidFill>
                  <a:schemeClr val="dk1"/>
                </a:solidFill>
                <a:latin typeface="Arial"/>
                <a:ea typeface="Arial"/>
                <a:cs typeface="Arial"/>
              </a:defRPr>
            </a:lvl6pPr>
            <a:lvl7pPr marR="0" algn="l">
              <a:spcBef>
                <a:spcPts val="0"/>
              </a:spcBef>
              <a:spcAft>
                <a:spcPts val="0"/>
              </a:spcAft>
              <a:buSzPts val="1400"/>
              <a:buNone/>
              <a:defRPr sz="1800" b="0" i="0" u="none" cap="none">
                <a:solidFill>
                  <a:schemeClr val="dk1"/>
                </a:solidFill>
                <a:latin typeface="Arial"/>
                <a:ea typeface="Arial"/>
                <a:cs typeface="Arial"/>
              </a:defRPr>
            </a:lvl7pPr>
            <a:lvl8pPr marR="0" algn="l">
              <a:spcBef>
                <a:spcPts val="0"/>
              </a:spcBef>
              <a:spcAft>
                <a:spcPts val="0"/>
              </a:spcAft>
              <a:buSzPts val="1400"/>
              <a:buNone/>
              <a:defRPr sz="1800" b="0" i="0" u="none" cap="none">
                <a:solidFill>
                  <a:schemeClr val="dk1"/>
                </a:solidFill>
                <a:latin typeface="Arial"/>
                <a:ea typeface="Arial"/>
                <a:cs typeface="Arial"/>
              </a:defRPr>
            </a:lvl8pPr>
            <a:lvl9pPr marR="0" algn="l">
              <a:spcBef>
                <a:spcPts val="0"/>
              </a:spcBef>
              <a:spcAft>
                <a:spcPts val="0"/>
              </a:spcAft>
              <a:buSzPts val="1400"/>
              <a:buNone/>
              <a:defRPr sz="1800" b="0" i="0" u="none" cap="none">
                <a:solidFill>
                  <a:schemeClr val="dk1"/>
                </a:solidFill>
                <a:latin typeface="Arial"/>
                <a:ea typeface="Arial"/>
                <a:cs typeface="Arial"/>
              </a:defRPr>
            </a:lvl9pPr>
          </a:lstStyle>
          <a:p>
            <a:endParaRPr/>
          </a:p>
        </p:txBody>
      </p:sp>
      <p:sp>
        <p:nvSpPr>
          <p:cNvPr id="14" name="Google Shape;14;p1">
            <a:extLst>
              <a:ext uri="{FF2B5EF4-FFF2-40B4-BE49-F238E27FC236}">
                <a16:creationId xmlns:a16="http://schemas.microsoft.com/office/drawing/2014/main" id="{975C1387-FA98-4710-91A4-BAC541F264FC}"/>
              </a:ext>
            </a:extLst>
          </p:cNvPr>
          <p:cNvSpPr>
            <a:spLocks noGrp="1"/>
          </p:cNvSpPr>
          <p:nvPr>
            <p:ph type="sldNum" idx="12"/>
          </p:nvPr>
        </p:nvSpPr>
        <p:spPr>
          <a:xfrm>
            <a:off x="315001" y="6463801"/>
            <a:ext cx="248137" cy="254509"/>
          </a:xfrm>
          <a:prstGeom prst="rect">
            <a:avLst/>
          </a:prstGeom>
          <a:noFill/>
          <a:ln>
            <a:noFill/>
          </a:ln>
        </p:spPr>
        <p:txBody>
          <a:bodyPr spcFirstLastPara="1" wrap="square" lIns="0" tIns="0" rIns="0" bIns="0" anchor="ctr">
            <a:noAutofit/>
          </a:bodyPr>
          <a:lstStyle>
            <a:lvl1pPr marL="0" marR="0" indent="0" algn="l">
              <a:spcBef>
                <a:spcPts val="0"/>
              </a:spcBef>
              <a:buNone/>
              <a:defRPr sz="900" b="1" i="0" u="none" cap="none">
                <a:solidFill>
                  <a:schemeClr val="dk1"/>
                </a:solidFill>
                <a:latin typeface="Inter"/>
                <a:ea typeface="Inter"/>
                <a:cs typeface="Inter"/>
              </a:defRPr>
            </a:lvl1pPr>
            <a:lvl2pPr marL="0" marR="0" indent="0" algn="l">
              <a:spcBef>
                <a:spcPts val="0"/>
              </a:spcBef>
              <a:buNone/>
              <a:defRPr sz="900" b="1" i="0" u="none" cap="none">
                <a:solidFill>
                  <a:schemeClr val="dk1"/>
                </a:solidFill>
                <a:latin typeface="Inter"/>
                <a:ea typeface="Inter"/>
                <a:cs typeface="Inter"/>
              </a:defRPr>
            </a:lvl2pPr>
            <a:lvl3pPr marL="0" marR="0" indent="0" algn="l">
              <a:spcBef>
                <a:spcPts val="0"/>
              </a:spcBef>
              <a:buNone/>
              <a:defRPr sz="900" b="1" i="0" u="none" cap="none">
                <a:solidFill>
                  <a:schemeClr val="dk1"/>
                </a:solidFill>
                <a:latin typeface="Inter"/>
                <a:ea typeface="Inter"/>
                <a:cs typeface="Inter"/>
              </a:defRPr>
            </a:lvl3pPr>
            <a:lvl4pPr marL="0" marR="0" indent="0" algn="l">
              <a:spcBef>
                <a:spcPts val="0"/>
              </a:spcBef>
              <a:buNone/>
              <a:defRPr sz="900" b="1" i="0" u="none" cap="none">
                <a:solidFill>
                  <a:schemeClr val="dk1"/>
                </a:solidFill>
                <a:latin typeface="Inter"/>
                <a:ea typeface="Inter"/>
                <a:cs typeface="Inter"/>
              </a:defRPr>
            </a:lvl4pPr>
            <a:lvl5pPr marL="0" marR="0" indent="0" algn="l">
              <a:spcBef>
                <a:spcPts val="0"/>
              </a:spcBef>
              <a:buNone/>
              <a:defRPr sz="900" b="1" i="0" u="none" cap="none">
                <a:solidFill>
                  <a:schemeClr val="dk1"/>
                </a:solidFill>
                <a:latin typeface="Inter"/>
                <a:ea typeface="Inter"/>
                <a:cs typeface="Inter"/>
              </a:defRPr>
            </a:lvl5pPr>
            <a:lvl6pPr marL="0" marR="0" indent="0" algn="l">
              <a:spcBef>
                <a:spcPts val="0"/>
              </a:spcBef>
              <a:buNone/>
              <a:defRPr sz="900" b="1" i="0" u="none" cap="none">
                <a:solidFill>
                  <a:schemeClr val="dk1"/>
                </a:solidFill>
                <a:latin typeface="Inter"/>
                <a:ea typeface="Inter"/>
                <a:cs typeface="Inter"/>
              </a:defRPr>
            </a:lvl6pPr>
            <a:lvl7pPr marL="0" marR="0" indent="0" algn="l">
              <a:spcBef>
                <a:spcPts val="0"/>
              </a:spcBef>
              <a:buNone/>
              <a:defRPr sz="900" b="1" i="0" u="none" cap="none">
                <a:solidFill>
                  <a:schemeClr val="dk1"/>
                </a:solidFill>
                <a:latin typeface="Inter"/>
                <a:ea typeface="Inter"/>
                <a:cs typeface="Inter"/>
              </a:defRPr>
            </a:lvl7pPr>
            <a:lvl8pPr marL="0" marR="0" indent="0" algn="l">
              <a:spcBef>
                <a:spcPts val="0"/>
              </a:spcBef>
              <a:buNone/>
              <a:defRPr sz="900" b="1" i="0" u="none" cap="none">
                <a:solidFill>
                  <a:schemeClr val="dk1"/>
                </a:solidFill>
                <a:latin typeface="Inter"/>
                <a:ea typeface="Inter"/>
                <a:cs typeface="Inter"/>
              </a:defRPr>
            </a:lvl8pPr>
            <a:lvl9pPr marL="0" marR="0" indent="0" algn="l">
              <a:spcBef>
                <a:spcPts val="0"/>
              </a:spcBef>
              <a:buNone/>
              <a:defRPr sz="900" b="1" i="0" u="none" cap="none">
                <a:solidFill>
                  <a:schemeClr val="dk1"/>
                </a:solidFill>
                <a:latin typeface="Inter"/>
                <a:ea typeface="Inter"/>
                <a:cs typeface="Inter"/>
              </a:defRPr>
            </a:lvl9pPr>
          </a:lstStyle>
          <a:p>
            <a:pPr marL="0" lvl="0" indent="0" algn="l">
              <a:spcBef>
                <a:spcPts val="0"/>
              </a:spcBef>
              <a:spcAft>
                <a:spcPts val="0"/>
              </a:spcAft>
              <a:buNone/>
            </a:pPr>
            <a:fld id="{00000000-1234-1234-1234-123412341234}" type="slidenum">
              <a:t>‹#›</a:t>
            </a:fld>
            <a:endParaRPr/>
          </a:p>
        </p:txBody>
      </p:sp>
      <p:pic>
        <p:nvPicPr>
          <p:cNvPr id="21" name="Google Shape;15;p1"/>
          <p:cNvPicPr>
            <a:picLocks noChangeAspect="1"/>
          </p:cNvPicPr>
          <p:nvPr/>
        </p:nvPicPr>
        <p:blipFill rotWithShape="1">
          <a:blip r:embed="rId3">
            <a:alphaModFix/>
          </a:blip>
          <a:srcRect/>
          <a:stretch/>
        </p:blipFill>
        <p:spPr>
          <a:xfrm>
            <a:off x="11206535" y="6480225"/>
            <a:ext cx="662665" cy="208800"/>
          </a:xfrm>
          <a:prstGeom prst="rect">
            <a:avLst/>
          </a:prstGeom>
          <a:ln>
            <a:noFill/>
          </a:ln>
        </p:spPr>
      </p:pic>
    </p:spTree>
  </p:cSld>
  <p:clrMap bg1="lt1" tx1="dk1" bg2="dk2" tx2="lt2" accent1="accent1" accent2="accent2" accent3="accent3" accent4="accent4" accent5="accent5" accent6="accent6" hlink="hlink" folHlink="folHlink"/>
  <p:sldLayoutIdLst>
    <p:sldLayoutId id="2147483649" r:id="rId1"/>
  </p:sldLayoutIdLst>
  <p:hf hdr="0" ftr="0" dt="0"/>
  <p:txStyles>
    <p:title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guide id="3" pos="401">
          <p15:clr>
            <a:srgbClr val="F26B43"/>
          </p15:clr>
        </p15:guide>
        <p15:guide id="4" pos="7279">
          <p15:clr>
            <a:srgbClr val="F26B43"/>
          </p15:clr>
        </p15:guide>
        <p15:guide id="5" orient="horz" pos="510">
          <p15:clr>
            <a:srgbClr val="F26B43"/>
          </p15:clr>
        </p15:guide>
        <p15:guide id="6" orient="horz" pos="4065">
          <p15:clr>
            <a:srgbClr val="F26B43"/>
          </p15:clr>
        </p15:guide>
        <p15:guide id="7" orient="horz" pos="3816">
          <p15:clr>
            <a:srgbClr val="F26B43"/>
          </p15:clr>
        </p15:guide>
        <p15:guide id="8" orient="horz" pos="1236">
          <p15:clr>
            <a:srgbClr val="F26B43"/>
          </p15:clr>
        </p15:guide>
        <p15:guide id="9" orient="horz" pos="25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org&amp;utm_campaign=index&amp;utm_content=thumbnail"/><Relationship Id="rId5" Type="http://schemas.openxmlformats.org/officeDocument/2006/relationships/image" Target="../media/image10.sv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5.org&amp;utm_campaign=index&amp;utm_content=thumbnai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0.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0" name="Title">
            <a:extLst>
              <a:ext uri="{FF2B5EF4-FFF2-40B4-BE49-F238E27FC236}">
                <a16:creationId xmlns:a16="http://schemas.microsoft.com/office/drawing/2014/main" id="{E7E89F8C-6493-4290-A6E8-080507336A6A}"/>
              </a:ext>
            </a:extLst>
          </p:cNvPr>
          <p:cNvSpPr>
            <a:spLocks noGrp="1"/>
          </p:cNvSpPr>
          <p:nvPr/>
        </p:nvSpPr>
        <p:spPr>
          <a:xfrm>
            <a:off x="509865" y="380000"/>
            <a:ext cx="11172270" cy="560000"/>
          </a:xfrm>
          <a:prstGeom prst="rect">
            <a:avLst/>
          </a:prstGeom>
        </p:spPr>
        <p:txBody>
          <a:bodyPr wrap="square" lIns="91440" tIns="45720" rIns="91440" bIns="45720" anchor="t"/>
          <a:lstStyle/>
          <a:p>
            <a:pPr algn="l">
              <a:buNone/>
            </a:pPr>
            <a:r>
              <a:rPr sz="2400" b="1" dirty="0">
                <a:solidFill>
                  <a:srgbClr val="000000"/>
                </a:solidFill>
                <a:latin typeface="Inter"/>
                <a:ea typeface="Inter"/>
                <a:cs typeface="Inter"/>
              </a:rPr>
              <a:t>Spec</a:t>
            </a:r>
            <a:r>
              <a:rPr lang="en-CA" sz="2400" b="1" dirty="0">
                <a:solidFill>
                  <a:srgbClr val="000000"/>
                </a:solidFill>
                <a:latin typeface="Inter"/>
                <a:ea typeface="Inter"/>
                <a:cs typeface="Inter"/>
              </a:rPr>
              <a:t>s</a:t>
            </a:r>
            <a:r>
              <a:rPr sz="2400" b="1" dirty="0">
                <a:solidFill>
                  <a:srgbClr val="000000"/>
                </a:solidFill>
                <a:latin typeface="Inter"/>
                <a:ea typeface="Inter"/>
                <a:cs typeface="Inter"/>
              </a:rPr>
              <a:t>-driven mainframe modernization</a:t>
            </a:r>
          </a:p>
        </p:txBody>
      </p:sp>
      <p:sp>
        <p:nvSpPr>
          <p:cNvPr id="9101" name="Accent">
            <a:extLst>
              <a:ext uri="{FF2B5EF4-FFF2-40B4-BE49-F238E27FC236}">
                <a16:creationId xmlns:a16="http://schemas.microsoft.com/office/drawing/2014/main" id="{4521394B-A644-4F23-AB01-393CD9936336}"/>
              </a:ext>
            </a:extLst>
          </p:cNvPr>
          <p:cNvSpPr>
            <a:spLocks noGrp="1"/>
          </p:cNvSpPr>
          <p:nvPr/>
        </p:nvSpPr>
        <p:spPr>
          <a:xfrm>
            <a:off x="520000" y="970000"/>
            <a:ext cx="560000" cy="72000"/>
          </a:xfrm>
          <a:prstGeom prst="rect">
            <a:avLst/>
          </a:prstGeom>
          <a:solidFill>
            <a:srgbClr val="C5FF00"/>
          </a:solidFill>
        </p:spPr>
        <p:txBody>
          <a:bodyPr wrap="square" lIns="91440" tIns="45720" rIns="91440" bIns="45720" anchor="t"/>
          <a:lstStyle/>
          <a:p>
            <a:pPr algn="l">
              <a:buNone/>
            </a:pPr>
            <a:endParaRPr/>
          </a:p>
        </p:txBody>
      </p:sp>
      <p:sp>
        <p:nvSpPr>
          <p:cNvPr id="6" name="legacy-document">
            <a:extLst>
              <a:ext uri="{FF2B5EF4-FFF2-40B4-BE49-F238E27FC236}">
                <a16:creationId xmlns:a16="http://schemas.microsoft.com/office/drawing/2014/main" id="{743515F0-8413-4C20-A5AF-79012001F140}"/>
              </a:ext>
            </a:extLst>
          </p:cNvPr>
          <p:cNvSpPr>
            <a:spLocks noGrp="1"/>
          </p:cNvSpPr>
          <p:nvPr/>
        </p:nvSpPr>
        <p:spPr>
          <a:xfrm>
            <a:off x="520000" y="1180968"/>
            <a:ext cx="1261852" cy="1329690"/>
          </a:xfrm>
          <a:prstGeom prst="foldedCorner">
            <a:avLst/>
          </a:prstGeom>
          <a:solidFill>
            <a:srgbClr val="FFFFFF"/>
          </a:solidFill>
          <a:ln w="13716">
            <a:solidFill>
              <a:srgbClr val="D5D5D1"/>
            </a:solidFill>
            <a:prstDash val="solid"/>
          </a:ln>
        </p:spPr>
      </p:sp>
      <p:sp>
        <p:nvSpPr>
          <p:cNvPr id="5" name="legacy-heading">
            <a:extLst>
              <a:ext uri="{FF2B5EF4-FFF2-40B4-BE49-F238E27FC236}">
                <a16:creationId xmlns:a16="http://schemas.microsoft.com/office/drawing/2014/main" id="{9C471C47-31E0-4315-B354-9196AADC735F}"/>
              </a:ext>
            </a:extLst>
          </p:cNvPr>
          <p:cNvSpPr>
            <a:spLocks noGrp="1"/>
          </p:cNvSpPr>
          <p:nvPr/>
        </p:nvSpPr>
        <p:spPr>
          <a:xfrm>
            <a:off x="563129" y="1211669"/>
            <a:ext cx="1239433" cy="203000"/>
          </a:xfrm>
          <a:prstGeom prst="rect">
            <a:avLst/>
          </a:prstGeom>
          <a:noFill/>
          <a:ln w="0">
            <a:noFill/>
            <a:prstDash val="solid"/>
          </a:ln>
        </p:spPr>
        <p:txBody>
          <a:bodyPr wrap="none" lIns="0" tIns="0" rIns="0" bIns="0" anchor="ctr">
            <a:noAutofit/>
          </a:bodyPr>
          <a:lstStyle/>
          <a:p>
            <a:pPr algn="l">
              <a:defRPr sz="1200" b="1">
                <a:solidFill>
                  <a:srgbClr val="646464"/>
                </a:solidFill>
                <a:latin typeface="Inter"/>
                <a:ea typeface="Inter"/>
                <a:cs typeface="Inter"/>
              </a:defRPr>
            </a:pPr>
            <a:r>
              <a:rPr sz="850" b="1" dirty="0">
                <a:solidFill>
                  <a:srgbClr val="646464"/>
                </a:solidFill>
                <a:latin typeface="Inter"/>
                <a:ea typeface="Inter"/>
                <a:cs typeface="Inter"/>
              </a:rPr>
              <a:t>LEGACY KNOWLEDGE</a:t>
            </a:r>
          </a:p>
        </p:txBody>
      </p:sp>
      <p:sp>
        <p:nvSpPr>
          <p:cNvPr id="7" name="legacy-code">
            <a:extLst>
              <a:ext uri="{FF2B5EF4-FFF2-40B4-BE49-F238E27FC236}">
                <a16:creationId xmlns:a16="http://schemas.microsoft.com/office/drawing/2014/main" id="{8ADFD75C-6DE2-46A0-9494-2E42E02B6538}"/>
              </a:ext>
            </a:extLst>
          </p:cNvPr>
          <p:cNvSpPr>
            <a:spLocks noGrp="1"/>
          </p:cNvSpPr>
          <p:nvPr/>
        </p:nvSpPr>
        <p:spPr>
          <a:xfrm>
            <a:off x="603820" y="1374761"/>
            <a:ext cx="1478280" cy="342900"/>
          </a:xfrm>
          <a:prstGeom prst="rect">
            <a:avLst/>
          </a:prstGeom>
          <a:noFill/>
          <a:ln w="0">
            <a:noFill/>
            <a:prstDash val="solid"/>
          </a:ln>
        </p:spPr>
        <p:txBody>
          <a:bodyPr wrap="none" lIns="0" tIns="0" rIns="0" bIns="0" anchor="ctr">
            <a:noAutofit/>
          </a:bodyPr>
          <a:lstStyle/>
          <a:p>
            <a:pPr algn="l">
              <a:defRPr sz="2280" b="1">
                <a:solidFill>
                  <a:srgbClr val="1E1E1E"/>
                </a:solidFill>
                <a:latin typeface="Inter"/>
                <a:ea typeface="Inter"/>
                <a:cs typeface="Inter"/>
              </a:defRPr>
            </a:pPr>
            <a:r>
              <a:rPr sz="2000" b="1" dirty="0">
                <a:solidFill>
                  <a:srgbClr val="1E1E1E"/>
                </a:solidFill>
                <a:latin typeface="Inter"/>
                <a:ea typeface="Inter"/>
                <a:cs typeface="Inter"/>
              </a:rPr>
              <a:t>COBOL</a:t>
            </a:r>
          </a:p>
        </p:txBody>
      </p:sp>
      <p:sp>
        <p:nvSpPr>
          <p:cNvPr id="8" name="legacy-input">
            <a:extLst>
              <a:ext uri="{FF2B5EF4-FFF2-40B4-BE49-F238E27FC236}">
                <a16:creationId xmlns:a16="http://schemas.microsoft.com/office/drawing/2014/main" id="{448E883D-DCCF-426E-9DF9-6B15C09213AA}"/>
              </a:ext>
            </a:extLst>
          </p:cNvPr>
          <p:cNvSpPr>
            <a:spLocks noGrp="1"/>
          </p:cNvSpPr>
          <p:nvPr/>
        </p:nvSpPr>
        <p:spPr>
          <a:xfrm>
            <a:off x="603578" y="1812157"/>
            <a:ext cx="1478280" cy="594360"/>
          </a:xfrm>
          <a:prstGeom prst="rect">
            <a:avLst/>
          </a:prstGeom>
          <a:noFill/>
          <a:ln w="0">
            <a:noFill/>
            <a:prstDash val="solid"/>
          </a:ln>
        </p:spPr>
        <p:txBody>
          <a:bodyPr wrap="none" lIns="0" tIns="0" rIns="0" bIns="0" anchor="ctr">
            <a:noAutofit/>
          </a:bodyPr>
          <a:lstStyle/>
          <a:p>
            <a:pPr algn="l">
              <a:defRPr sz="1560" b="0">
                <a:solidFill>
                  <a:srgbClr val="646464"/>
                </a:solidFill>
                <a:latin typeface="Inter"/>
                <a:ea typeface="Inter"/>
                <a:cs typeface="Inter"/>
              </a:defRPr>
            </a:pPr>
            <a:r>
              <a:rPr sz="1050" b="0" dirty="0">
                <a:solidFill>
                  <a:srgbClr val="646464"/>
                </a:solidFill>
                <a:latin typeface="Inter"/>
                <a:ea typeface="Inter"/>
                <a:cs typeface="Inter"/>
              </a:rPr>
              <a:t>Programs</a:t>
            </a:r>
            <a:endParaRPr sz="1000" b="0" dirty="0">
              <a:solidFill>
                <a:srgbClr val="646464"/>
              </a:solidFill>
              <a:latin typeface="Inter"/>
              <a:ea typeface="Inter"/>
              <a:cs typeface="Inter"/>
            </a:endParaRPr>
          </a:p>
          <a:p>
            <a:pPr algn="l">
              <a:defRPr sz="1560" b="0">
                <a:solidFill>
                  <a:srgbClr val="646464"/>
                </a:solidFill>
                <a:latin typeface="Inter"/>
                <a:ea typeface="Inter"/>
                <a:cs typeface="Inter"/>
              </a:defRPr>
            </a:pPr>
            <a:r>
              <a:rPr sz="1000" b="0" dirty="0">
                <a:solidFill>
                  <a:srgbClr val="646464"/>
                </a:solidFill>
                <a:latin typeface="Inter"/>
                <a:ea typeface="Inter"/>
                <a:cs typeface="Inter"/>
              </a:rPr>
              <a:t>Copybooks</a:t>
            </a:r>
          </a:p>
        </p:txBody>
      </p:sp>
      <p:sp>
        <p:nvSpPr>
          <p:cNvPr id="9" name="agents">
            <a:extLst>
              <a:ext uri="{FF2B5EF4-FFF2-40B4-BE49-F238E27FC236}">
                <a16:creationId xmlns:a16="http://schemas.microsoft.com/office/drawing/2014/main" id="{1C529468-D25E-4A39-B0F2-D66F7C6AD2AB}"/>
              </a:ext>
            </a:extLst>
          </p:cNvPr>
          <p:cNvSpPr>
            <a:spLocks noGrp="1"/>
          </p:cNvSpPr>
          <p:nvPr/>
        </p:nvSpPr>
        <p:spPr>
          <a:xfrm>
            <a:off x="2436284" y="1319161"/>
            <a:ext cx="3062321" cy="1041752"/>
          </a:xfrm>
          <a:prstGeom prst="roundRect">
            <a:avLst>
              <a:gd name="adj" fmla="val 8696"/>
            </a:avLst>
          </a:prstGeom>
          <a:solidFill>
            <a:srgbClr val="1E1E1E"/>
          </a:solidFill>
          <a:ln w="11430">
            <a:solidFill>
              <a:srgbClr val="1E1E1E"/>
            </a:solidFill>
            <a:prstDash val="solid"/>
          </a:ln>
        </p:spPr>
      </p:sp>
      <p:sp>
        <p:nvSpPr>
          <p:cNvPr id="10" name="agents-name">
            <a:extLst>
              <a:ext uri="{FF2B5EF4-FFF2-40B4-BE49-F238E27FC236}">
                <a16:creationId xmlns:a16="http://schemas.microsoft.com/office/drawing/2014/main" id="{54B8AF2A-B4FD-4C45-A9A7-1DE138690E72}"/>
              </a:ext>
            </a:extLst>
          </p:cNvPr>
          <p:cNvSpPr>
            <a:spLocks noGrp="1"/>
          </p:cNvSpPr>
          <p:nvPr/>
        </p:nvSpPr>
        <p:spPr>
          <a:xfrm>
            <a:off x="2555326" y="1419759"/>
            <a:ext cx="2267639" cy="316268"/>
          </a:xfrm>
          <a:prstGeom prst="rect">
            <a:avLst/>
          </a:prstGeom>
          <a:noFill/>
          <a:ln w="0">
            <a:noFill/>
            <a:prstDash val="solid"/>
          </a:ln>
        </p:spPr>
        <p:txBody>
          <a:bodyPr wrap="none" lIns="0" tIns="0" rIns="0" bIns="0" anchor="ctr">
            <a:noAutofit/>
          </a:bodyPr>
          <a:lstStyle/>
          <a:p>
            <a:pPr algn="l">
              <a:defRPr sz="1900" b="1">
                <a:solidFill>
                  <a:srgbClr val="FFFFFF"/>
                </a:solidFill>
                <a:latin typeface="Inter"/>
                <a:ea typeface="Inter"/>
                <a:cs typeface="Inter"/>
              </a:defRPr>
            </a:pPr>
            <a:r>
              <a:rPr sz="1700" b="1" dirty="0">
                <a:solidFill>
                  <a:srgbClr val="FFFFFF"/>
                </a:solidFill>
                <a:latin typeface="Inter"/>
                <a:ea typeface="Inter"/>
                <a:cs typeface="Inter"/>
              </a:rPr>
              <a:t>Modernization agents</a:t>
            </a:r>
          </a:p>
        </p:txBody>
      </p:sp>
      <p:sp>
        <p:nvSpPr>
          <p:cNvPr id="11" name="agents-sub">
            <a:extLst>
              <a:ext uri="{FF2B5EF4-FFF2-40B4-BE49-F238E27FC236}">
                <a16:creationId xmlns:a16="http://schemas.microsoft.com/office/drawing/2014/main" id="{B80F54C9-2C2F-4826-AD9D-25AED832D54D}"/>
              </a:ext>
            </a:extLst>
          </p:cNvPr>
          <p:cNvSpPr>
            <a:spLocks noGrp="1"/>
          </p:cNvSpPr>
          <p:nvPr/>
        </p:nvSpPr>
        <p:spPr>
          <a:xfrm>
            <a:off x="2534425" y="1613904"/>
            <a:ext cx="2964180" cy="975169"/>
          </a:xfrm>
          <a:prstGeom prst="rect">
            <a:avLst/>
          </a:prstGeom>
          <a:noFill/>
          <a:ln w="0">
            <a:noFill/>
            <a:prstDash val="solid"/>
          </a:ln>
        </p:spPr>
        <p:txBody>
          <a:bodyPr wrap="none" lIns="0" tIns="0" rIns="0" bIns="0" anchor="ctr">
            <a:noAutofit/>
          </a:bodyPr>
          <a:lstStyle/>
          <a:p>
            <a:pPr>
              <a:defRPr sz="1380" b="0">
                <a:solidFill>
                  <a:srgbClr val="BBBBBB"/>
                </a:solidFill>
                <a:latin typeface="Inter"/>
                <a:ea typeface="Inter"/>
                <a:cs typeface="Inter"/>
              </a:defRPr>
            </a:pPr>
            <a:r>
              <a:rPr lang="en-CA" sz="1100" dirty="0"/>
              <a:t>Extracts business rules, </a:t>
            </a:r>
          </a:p>
          <a:p>
            <a:pPr>
              <a:defRPr sz="1380" b="0">
                <a:solidFill>
                  <a:srgbClr val="BBBBBB"/>
                </a:solidFill>
                <a:latin typeface="Inter"/>
                <a:ea typeface="Inter"/>
                <a:cs typeface="Inter"/>
              </a:defRPr>
            </a:pPr>
            <a:r>
              <a:rPr lang="en-CA" sz="1100" dirty="0"/>
              <a:t>Dependencies and data mappings</a:t>
            </a:r>
            <a:endParaRPr sz="900" b="0" dirty="0">
              <a:solidFill>
                <a:srgbClr val="BBBBBB"/>
              </a:solidFill>
              <a:latin typeface="Inter"/>
              <a:ea typeface="Inter"/>
              <a:cs typeface="Inter"/>
            </a:endParaRPr>
          </a:p>
        </p:txBody>
      </p:sp>
      <p:sp>
        <p:nvSpPr>
          <p:cNvPr id="12" name="specs">
            <a:extLst>
              <a:ext uri="{FF2B5EF4-FFF2-40B4-BE49-F238E27FC236}">
                <a16:creationId xmlns:a16="http://schemas.microsoft.com/office/drawing/2014/main" id="{CFA1CB47-701F-434B-A930-0D0B3E73BB01}"/>
              </a:ext>
            </a:extLst>
          </p:cNvPr>
          <p:cNvSpPr>
            <a:spLocks noGrp="1"/>
          </p:cNvSpPr>
          <p:nvPr/>
        </p:nvSpPr>
        <p:spPr>
          <a:xfrm>
            <a:off x="1220684" y="3031534"/>
            <a:ext cx="3113234" cy="1051560"/>
          </a:xfrm>
          <a:prstGeom prst="roundRect">
            <a:avLst>
              <a:gd name="adj" fmla="val 8696"/>
            </a:avLst>
          </a:prstGeom>
          <a:solidFill>
            <a:srgbClr val="FFFFFF"/>
          </a:solidFill>
          <a:ln w="11430">
            <a:solidFill>
              <a:srgbClr val="C5FF00"/>
            </a:solidFill>
            <a:prstDash val="solid"/>
          </a:ln>
        </p:spPr>
      </p:sp>
      <p:sp>
        <p:nvSpPr>
          <p:cNvPr id="13" name="specs-name">
            <a:extLst>
              <a:ext uri="{FF2B5EF4-FFF2-40B4-BE49-F238E27FC236}">
                <a16:creationId xmlns:a16="http://schemas.microsoft.com/office/drawing/2014/main" id="{478CD8CF-F022-42A8-9793-97964166181D}"/>
              </a:ext>
            </a:extLst>
          </p:cNvPr>
          <p:cNvSpPr>
            <a:spLocks noGrp="1"/>
          </p:cNvSpPr>
          <p:nvPr/>
        </p:nvSpPr>
        <p:spPr>
          <a:xfrm>
            <a:off x="1650836" y="3041748"/>
            <a:ext cx="2964180" cy="381000"/>
          </a:xfrm>
          <a:prstGeom prst="rect">
            <a:avLst/>
          </a:prstGeom>
          <a:noFill/>
          <a:ln w="0">
            <a:noFill/>
            <a:prstDash val="solid"/>
          </a:ln>
        </p:spPr>
        <p:txBody>
          <a:bodyPr wrap="none" lIns="0" tIns="0" rIns="0" bIns="0" anchor="ctr">
            <a:noAutofit/>
          </a:bodyPr>
          <a:lstStyle/>
          <a:p>
            <a:pPr algn="l">
              <a:defRPr sz="1700" b="1">
                <a:solidFill>
                  <a:srgbClr val="1E1E1E"/>
                </a:solidFill>
                <a:latin typeface="Inter"/>
                <a:ea typeface="Inter"/>
                <a:cs typeface="Inter"/>
              </a:defRPr>
            </a:pPr>
            <a:r>
              <a:rPr sz="1700" b="1" dirty="0">
                <a:solidFill>
                  <a:srgbClr val="1E1E1E"/>
                </a:solidFill>
                <a:latin typeface="Inter"/>
                <a:ea typeface="Inter"/>
                <a:cs typeface="Inter"/>
              </a:rPr>
              <a:t>Reviewed specifications</a:t>
            </a:r>
          </a:p>
        </p:txBody>
      </p:sp>
      <p:sp>
        <p:nvSpPr>
          <p:cNvPr id="14" name="specs-sub">
            <a:extLst>
              <a:ext uri="{FF2B5EF4-FFF2-40B4-BE49-F238E27FC236}">
                <a16:creationId xmlns:a16="http://schemas.microsoft.com/office/drawing/2014/main" id="{E138504C-22C1-4676-A001-379ECAFFAD81}"/>
              </a:ext>
            </a:extLst>
          </p:cNvPr>
          <p:cNvSpPr>
            <a:spLocks noGrp="1"/>
          </p:cNvSpPr>
          <p:nvPr/>
        </p:nvSpPr>
        <p:spPr>
          <a:xfrm>
            <a:off x="1650953" y="3658050"/>
            <a:ext cx="2964180" cy="388620"/>
          </a:xfrm>
          <a:prstGeom prst="rect">
            <a:avLst/>
          </a:prstGeom>
          <a:noFill/>
          <a:ln w="0">
            <a:noFill/>
            <a:prstDash val="solid"/>
          </a:ln>
        </p:spPr>
        <p:txBody>
          <a:bodyPr wrap="none" lIns="0" tIns="0" rIns="0" bIns="0" anchor="ctr">
            <a:noAutofit/>
          </a:bodyPr>
          <a:lstStyle/>
          <a:p>
            <a:pPr>
              <a:defRPr sz="1380" b="0">
                <a:solidFill>
                  <a:srgbClr val="646464"/>
                </a:solidFill>
                <a:latin typeface="Inter"/>
                <a:ea typeface="Inter"/>
                <a:cs typeface="Inter"/>
              </a:defRPr>
            </a:pPr>
            <a:r>
              <a:rPr lang="en-CA" sz="1100" dirty="0"/>
              <a:t>Define expected behaviour, </a:t>
            </a:r>
          </a:p>
          <a:p>
            <a:pPr>
              <a:defRPr sz="1380" b="0">
                <a:solidFill>
                  <a:srgbClr val="646464"/>
                </a:solidFill>
                <a:latin typeface="Inter"/>
                <a:ea typeface="Inter"/>
                <a:cs typeface="Inter"/>
              </a:defRPr>
            </a:pPr>
            <a:r>
              <a:rPr lang="en-CA" sz="1100" dirty="0"/>
              <a:t>test requirements</a:t>
            </a:r>
            <a:endParaRPr sz="1100" b="0" dirty="0">
              <a:solidFill>
                <a:srgbClr val="646464"/>
              </a:solidFill>
              <a:latin typeface="Inter"/>
              <a:ea typeface="Inter"/>
              <a:cs typeface="Inter"/>
            </a:endParaRPr>
          </a:p>
        </p:txBody>
      </p:sp>
      <p:cxnSp>
        <p:nvCxnSpPr>
          <p:cNvPr id="9215" name="Elbow Connector 9214"/>
          <p:cNvCxnSpPr>
            <a:cxnSpLocks/>
            <a:stCxn id="6" idx="3"/>
            <a:endCxn id="9" idx="1"/>
          </p:cNvCxnSpPr>
          <p:nvPr/>
        </p:nvCxnSpPr>
        <p:spPr>
          <a:xfrm flipV="1">
            <a:off x="1781852" y="1840037"/>
            <a:ext cx="654432" cy="5776"/>
          </a:xfrm>
          <a:prstGeom prst="curvedConnector3">
            <a:avLst/>
          </a:prstGeom>
          <a:ln w="22860">
            <a:solidFill>
              <a:srgbClr val="C5FF00"/>
            </a:solidFill>
            <a:prstDash val="solid"/>
            <a:tailEnd type="triangle" w="lg" len="lg"/>
          </a:ln>
        </p:spPr>
      </p:cxnSp>
      <p:cxnSp>
        <p:nvCxnSpPr>
          <p:cNvPr id="9216" name="Straight Arrow Connector 9215"/>
          <p:cNvCxnSpPr>
            <a:cxnSpLocks/>
            <a:stCxn id="9" idx="2"/>
            <a:endCxn id="12" idx="0"/>
          </p:cNvCxnSpPr>
          <p:nvPr/>
        </p:nvCxnSpPr>
        <p:spPr>
          <a:xfrm flipH="1">
            <a:off x="2777301" y="2360913"/>
            <a:ext cx="1190144" cy="670621"/>
          </a:xfrm>
          <a:prstGeom prst="straightConnector1">
            <a:avLst/>
          </a:prstGeom>
          <a:ln w="22860" cap="rnd">
            <a:solidFill>
              <a:srgbClr val="C5FF00"/>
            </a:solidFill>
            <a:prstDash val="solid"/>
            <a:tailEnd type="triangle" w="lg" len="lg"/>
          </a:ln>
        </p:spPr>
      </p:cxnSp>
      <p:sp>
        <p:nvSpPr>
          <p:cNvPr id="17" name="human-review">
            <a:extLst>
              <a:ext uri="{FF2B5EF4-FFF2-40B4-BE49-F238E27FC236}">
                <a16:creationId xmlns:a16="http://schemas.microsoft.com/office/drawing/2014/main" id="{16B62214-189F-4351-AF17-B91D6A01E064}"/>
              </a:ext>
            </a:extLst>
          </p:cNvPr>
          <p:cNvSpPr>
            <a:spLocks noGrp="1"/>
          </p:cNvSpPr>
          <p:nvPr/>
        </p:nvSpPr>
        <p:spPr>
          <a:xfrm>
            <a:off x="2838721" y="2500490"/>
            <a:ext cx="1371600" cy="266700"/>
          </a:xfrm>
          <a:prstGeom prst="rect">
            <a:avLst/>
          </a:prstGeom>
          <a:noFill/>
          <a:ln w="0">
            <a:noFill/>
            <a:prstDash val="solid"/>
          </a:ln>
        </p:spPr>
        <p:txBody>
          <a:bodyPr wrap="none" lIns="0" tIns="0" rIns="0" bIns="0" anchor="ctr">
            <a:noAutofit/>
          </a:bodyPr>
          <a:lstStyle/>
          <a:p>
            <a:pPr algn="l">
              <a:defRPr sz="1380" b="0">
                <a:solidFill>
                  <a:srgbClr val="646464"/>
                </a:solidFill>
                <a:latin typeface="Inter"/>
                <a:ea typeface="Inter"/>
                <a:cs typeface="Inter"/>
              </a:defRPr>
            </a:pPr>
            <a:r>
              <a:rPr sz="1380" b="0" dirty="0">
                <a:solidFill>
                  <a:srgbClr val="646464"/>
                </a:solidFill>
                <a:latin typeface="Inter"/>
                <a:ea typeface="Inter"/>
                <a:cs typeface="Inter"/>
              </a:rPr>
              <a:t>Human review</a:t>
            </a:r>
          </a:p>
        </p:txBody>
      </p:sp>
      <p:sp>
        <p:nvSpPr>
          <p:cNvPr id="18" name="build">
            <a:extLst>
              <a:ext uri="{FF2B5EF4-FFF2-40B4-BE49-F238E27FC236}">
                <a16:creationId xmlns:a16="http://schemas.microsoft.com/office/drawing/2014/main" id="{597AED0F-FCF6-475A-A1A9-62B2ACEDD399}"/>
              </a:ext>
            </a:extLst>
          </p:cNvPr>
          <p:cNvSpPr>
            <a:spLocks noGrp="1"/>
          </p:cNvSpPr>
          <p:nvPr/>
        </p:nvSpPr>
        <p:spPr>
          <a:xfrm>
            <a:off x="438430" y="4333739"/>
            <a:ext cx="2533370" cy="1051560"/>
          </a:xfrm>
          <a:prstGeom prst="roundRect">
            <a:avLst>
              <a:gd name="adj" fmla="val 8696"/>
            </a:avLst>
          </a:prstGeom>
          <a:solidFill>
            <a:srgbClr val="F3FFC2"/>
          </a:solidFill>
          <a:ln w="11430">
            <a:solidFill>
              <a:srgbClr val="F3FFC2"/>
            </a:solidFill>
            <a:prstDash val="solid"/>
          </a:ln>
        </p:spPr>
      </p:sp>
      <p:sp>
        <p:nvSpPr>
          <p:cNvPr id="19" name="build-name">
            <a:extLst>
              <a:ext uri="{FF2B5EF4-FFF2-40B4-BE49-F238E27FC236}">
                <a16:creationId xmlns:a16="http://schemas.microsoft.com/office/drawing/2014/main" id="{48672529-E339-47B7-9795-BAF5AAB36493}"/>
              </a:ext>
            </a:extLst>
          </p:cNvPr>
          <p:cNvSpPr>
            <a:spLocks noGrp="1"/>
          </p:cNvSpPr>
          <p:nvPr/>
        </p:nvSpPr>
        <p:spPr>
          <a:xfrm>
            <a:off x="649605" y="4326572"/>
            <a:ext cx="3208020" cy="627950"/>
          </a:xfrm>
          <a:prstGeom prst="rect">
            <a:avLst/>
          </a:prstGeom>
          <a:noFill/>
          <a:ln w="0">
            <a:noFill/>
            <a:prstDash val="solid"/>
          </a:ln>
        </p:spPr>
        <p:txBody>
          <a:bodyPr wrap="none" lIns="0" tIns="0" rIns="0" bIns="0" anchor="ctr">
            <a:noAutofit/>
          </a:bodyPr>
          <a:lstStyle/>
          <a:p>
            <a:pPr>
              <a:defRPr sz="1980" b="1">
                <a:solidFill>
                  <a:srgbClr val="1E1E1E"/>
                </a:solidFill>
                <a:latin typeface="Inter"/>
                <a:ea typeface="Inter"/>
                <a:cs typeface="Inter"/>
              </a:defRPr>
            </a:pPr>
            <a:r>
              <a:rPr lang="en-CA" sz="1700" b="1" dirty="0"/>
              <a:t>Spec-driven build </a:t>
            </a:r>
          </a:p>
          <a:p>
            <a:pPr>
              <a:defRPr sz="1980" b="1">
                <a:solidFill>
                  <a:srgbClr val="1E1E1E"/>
                </a:solidFill>
                <a:latin typeface="Inter"/>
                <a:ea typeface="Inter"/>
                <a:cs typeface="Inter"/>
              </a:defRPr>
            </a:pPr>
            <a:r>
              <a:rPr lang="en-CA" sz="1700" b="1" dirty="0"/>
              <a:t>+ verification</a:t>
            </a:r>
            <a:endParaRPr sz="1700" b="1" dirty="0">
              <a:solidFill>
                <a:srgbClr val="1E1E1E"/>
              </a:solidFill>
              <a:latin typeface="Inter"/>
              <a:ea typeface="Inter"/>
              <a:cs typeface="Inter"/>
            </a:endParaRPr>
          </a:p>
        </p:txBody>
      </p:sp>
      <p:sp>
        <p:nvSpPr>
          <p:cNvPr id="20" name="build-sub">
            <a:extLst>
              <a:ext uri="{FF2B5EF4-FFF2-40B4-BE49-F238E27FC236}">
                <a16:creationId xmlns:a16="http://schemas.microsoft.com/office/drawing/2014/main" id="{992A6AA3-85A2-42CB-BFFA-71303F6E85AA}"/>
              </a:ext>
            </a:extLst>
          </p:cNvPr>
          <p:cNvSpPr>
            <a:spLocks noGrp="1"/>
          </p:cNvSpPr>
          <p:nvPr/>
        </p:nvSpPr>
        <p:spPr>
          <a:xfrm>
            <a:off x="520000" y="4983480"/>
            <a:ext cx="3208020" cy="388620"/>
          </a:xfrm>
          <a:prstGeom prst="rect">
            <a:avLst/>
          </a:prstGeom>
          <a:noFill/>
          <a:ln w="0">
            <a:noFill/>
            <a:prstDash val="solid"/>
          </a:ln>
        </p:spPr>
        <p:txBody>
          <a:bodyPr wrap="none" lIns="0" tIns="0" rIns="0" bIns="0" anchor="ctr">
            <a:noAutofit/>
          </a:bodyPr>
          <a:lstStyle/>
          <a:p>
            <a:r>
              <a:rPr lang="en-CA" sz="1100" dirty="0"/>
              <a:t>Generate code from the specifications, </a:t>
            </a:r>
          </a:p>
          <a:p>
            <a:r>
              <a:rPr lang="en-CA" sz="1100" dirty="0"/>
              <a:t>then review and test it</a:t>
            </a:r>
          </a:p>
        </p:txBody>
      </p:sp>
      <p:sp>
        <p:nvSpPr>
          <p:cNvPr id="21" name="modern-app">
            <a:extLst>
              <a:ext uri="{FF2B5EF4-FFF2-40B4-BE49-F238E27FC236}">
                <a16:creationId xmlns:a16="http://schemas.microsoft.com/office/drawing/2014/main" id="{E7E02115-01EC-4173-82A4-FB92C1919C4E}"/>
              </a:ext>
            </a:extLst>
          </p:cNvPr>
          <p:cNvSpPr>
            <a:spLocks noGrp="1"/>
          </p:cNvSpPr>
          <p:nvPr/>
        </p:nvSpPr>
        <p:spPr>
          <a:xfrm>
            <a:off x="3814325" y="4361165"/>
            <a:ext cx="2261117" cy="1051560"/>
          </a:xfrm>
          <a:prstGeom prst="roundRect">
            <a:avLst>
              <a:gd name="adj" fmla="val 8696"/>
            </a:avLst>
          </a:prstGeom>
          <a:solidFill>
            <a:srgbClr val="C5FF00"/>
          </a:solidFill>
          <a:ln w="11430">
            <a:solidFill>
              <a:srgbClr val="C5FF00"/>
            </a:solidFill>
            <a:prstDash val="solid"/>
          </a:ln>
        </p:spPr>
      </p:sp>
      <p:sp>
        <p:nvSpPr>
          <p:cNvPr id="22" name="modern-app-name">
            <a:extLst>
              <a:ext uri="{FF2B5EF4-FFF2-40B4-BE49-F238E27FC236}">
                <a16:creationId xmlns:a16="http://schemas.microsoft.com/office/drawing/2014/main" id="{108071CD-C365-4398-96B1-405A3F2FAB1A}"/>
              </a:ext>
            </a:extLst>
          </p:cNvPr>
          <p:cNvSpPr>
            <a:spLocks noGrp="1"/>
          </p:cNvSpPr>
          <p:nvPr/>
        </p:nvSpPr>
        <p:spPr>
          <a:xfrm>
            <a:off x="3894595" y="4366676"/>
            <a:ext cx="3208020" cy="381000"/>
          </a:xfrm>
          <a:prstGeom prst="rect">
            <a:avLst/>
          </a:prstGeom>
          <a:noFill/>
          <a:ln w="0">
            <a:noFill/>
            <a:prstDash val="solid"/>
          </a:ln>
        </p:spPr>
        <p:txBody>
          <a:bodyPr wrap="none" lIns="0" tIns="0" rIns="0" bIns="0" anchor="ctr">
            <a:noAutofit/>
          </a:bodyPr>
          <a:lstStyle/>
          <a:p>
            <a:pPr algn="l">
              <a:defRPr sz="1900" b="1">
                <a:solidFill>
                  <a:srgbClr val="1E1E1E"/>
                </a:solidFill>
                <a:latin typeface="Inter"/>
                <a:ea typeface="Inter"/>
                <a:cs typeface="Inter"/>
              </a:defRPr>
            </a:pPr>
            <a:r>
              <a:rPr sz="1700" b="1" dirty="0">
                <a:solidFill>
                  <a:srgbClr val="1E1E1E"/>
                </a:solidFill>
                <a:latin typeface="Inter"/>
                <a:ea typeface="Inter"/>
                <a:cs typeface="Inter"/>
              </a:rPr>
              <a:t>Spring Boot + React</a:t>
            </a:r>
          </a:p>
        </p:txBody>
      </p:sp>
      <p:sp>
        <p:nvSpPr>
          <p:cNvPr id="23" name="modern-app-sub">
            <a:extLst>
              <a:ext uri="{FF2B5EF4-FFF2-40B4-BE49-F238E27FC236}">
                <a16:creationId xmlns:a16="http://schemas.microsoft.com/office/drawing/2014/main" id="{D312CA7F-30FB-4746-9086-0FAADD6374F9}"/>
              </a:ext>
            </a:extLst>
          </p:cNvPr>
          <p:cNvSpPr>
            <a:spLocks noGrp="1"/>
          </p:cNvSpPr>
          <p:nvPr/>
        </p:nvSpPr>
        <p:spPr>
          <a:xfrm>
            <a:off x="4016429" y="5021511"/>
            <a:ext cx="3208020" cy="388620"/>
          </a:xfrm>
          <a:prstGeom prst="rect">
            <a:avLst/>
          </a:prstGeom>
          <a:noFill/>
          <a:ln w="0">
            <a:noFill/>
            <a:prstDash val="solid"/>
          </a:ln>
        </p:spPr>
        <p:txBody>
          <a:bodyPr wrap="none" lIns="0" tIns="0" rIns="0" bIns="0" anchor="ctr">
            <a:noAutofit/>
          </a:bodyPr>
          <a:lstStyle/>
          <a:p>
            <a:pPr algn="l">
              <a:defRPr sz="1380" b="0">
                <a:solidFill>
                  <a:srgbClr val="1E1E1E"/>
                </a:solidFill>
                <a:latin typeface="Inter"/>
                <a:ea typeface="Inter"/>
                <a:cs typeface="Inter"/>
              </a:defRPr>
            </a:pPr>
            <a:r>
              <a:rPr sz="1100" b="0" dirty="0">
                <a:solidFill>
                  <a:srgbClr val="1E1E1E"/>
                </a:solidFill>
                <a:latin typeface="Inter"/>
                <a:ea typeface="Inter"/>
                <a:cs typeface="Inter"/>
              </a:rPr>
              <a:t>Modern banking application</a:t>
            </a:r>
          </a:p>
        </p:txBody>
      </p:sp>
      <p:sp>
        <p:nvSpPr>
          <p:cNvPr id="24" name="spec-to-build0">
            <a:extLst>
              <a:ext uri="{FF2B5EF4-FFF2-40B4-BE49-F238E27FC236}">
                <a16:creationId xmlns:a16="http://schemas.microsoft.com/office/drawing/2014/main" id="{5C0FF2D9-6130-4A5B-A77E-51B4ED66F716}"/>
              </a:ext>
            </a:extLst>
          </p:cNvPr>
          <p:cNvSpPr>
            <a:spLocks noGrp="1"/>
          </p:cNvSpPr>
          <p:nvPr/>
        </p:nvSpPr>
        <p:spPr>
          <a:xfrm>
            <a:off x="6598920" y="4282440"/>
            <a:ext cx="15240" cy="15240"/>
          </a:xfrm>
          <a:prstGeom prst="rect">
            <a:avLst/>
          </a:prstGeom>
          <a:noFill/>
          <a:ln w="0">
            <a:noFill/>
            <a:prstDash val="solid"/>
          </a:ln>
        </p:spPr>
      </p:sp>
      <p:sp>
        <p:nvSpPr>
          <p:cNvPr id="25" name="spec-to-build1">
            <a:extLst>
              <a:ext uri="{FF2B5EF4-FFF2-40B4-BE49-F238E27FC236}">
                <a16:creationId xmlns:a16="http://schemas.microsoft.com/office/drawing/2014/main" id="{09C67520-D348-47A4-9FFA-118A35C02BF8}"/>
              </a:ext>
            </a:extLst>
          </p:cNvPr>
          <p:cNvSpPr>
            <a:spLocks noGrp="1"/>
          </p:cNvSpPr>
          <p:nvPr/>
        </p:nvSpPr>
        <p:spPr>
          <a:xfrm>
            <a:off x="7345680" y="4282440"/>
            <a:ext cx="15240" cy="15240"/>
          </a:xfrm>
          <a:prstGeom prst="rect">
            <a:avLst/>
          </a:prstGeom>
          <a:noFill/>
          <a:ln w="0">
            <a:noFill/>
            <a:prstDash val="solid"/>
          </a:ln>
        </p:spPr>
      </p:sp>
      <p:sp>
        <p:nvSpPr>
          <p:cNvPr id="26" name="spec-to-build2">
            <a:extLst>
              <a:ext uri="{FF2B5EF4-FFF2-40B4-BE49-F238E27FC236}">
                <a16:creationId xmlns:a16="http://schemas.microsoft.com/office/drawing/2014/main" id="{A37B9674-636C-4A12-85B5-7260A21FB9DE}"/>
              </a:ext>
            </a:extLst>
          </p:cNvPr>
          <p:cNvSpPr>
            <a:spLocks noGrp="1"/>
          </p:cNvSpPr>
          <p:nvPr/>
        </p:nvSpPr>
        <p:spPr>
          <a:xfrm>
            <a:off x="7345680" y="2720340"/>
            <a:ext cx="15240" cy="15240"/>
          </a:xfrm>
          <a:prstGeom prst="rect">
            <a:avLst/>
          </a:prstGeom>
          <a:noFill/>
          <a:ln w="0">
            <a:noFill/>
            <a:prstDash val="solid"/>
          </a:ln>
        </p:spPr>
      </p:sp>
      <p:sp>
        <p:nvSpPr>
          <p:cNvPr id="27" name="spec-to-build3">
            <a:extLst>
              <a:ext uri="{FF2B5EF4-FFF2-40B4-BE49-F238E27FC236}">
                <a16:creationId xmlns:a16="http://schemas.microsoft.com/office/drawing/2014/main" id="{762A623D-2B8F-4F20-A5BA-F1548CBA19E1}"/>
              </a:ext>
            </a:extLst>
          </p:cNvPr>
          <p:cNvSpPr>
            <a:spLocks noGrp="1"/>
          </p:cNvSpPr>
          <p:nvPr/>
        </p:nvSpPr>
        <p:spPr>
          <a:xfrm>
            <a:off x="8092440" y="2720340"/>
            <a:ext cx="15240" cy="15240"/>
          </a:xfrm>
          <a:prstGeom prst="rect">
            <a:avLst/>
          </a:prstGeom>
          <a:noFill/>
          <a:ln w="0">
            <a:noFill/>
            <a:prstDash val="solid"/>
          </a:ln>
        </p:spPr>
      </p:sp>
      <p:cxnSp>
        <p:nvCxnSpPr>
          <p:cNvPr id="9231" name="Straight Arrow Connector 9230"/>
          <p:cNvCxnSpPr>
            <a:cxnSpLocks/>
            <a:endCxn id="21" idx="1"/>
          </p:cNvCxnSpPr>
          <p:nvPr/>
        </p:nvCxnSpPr>
        <p:spPr>
          <a:xfrm>
            <a:off x="2993450" y="4886945"/>
            <a:ext cx="820875" cy="0"/>
          </a:xfrm>
          <a:prstGeom prst="straightConnector1">
            <a:avLst/>
          </a:prstGeom>
          <a:ln w="22860">
            <a:solidFill>
              <a:srgbClr val="C5FF00"/>
            </a:solidFill>
            <a:prstDash val="solid"/>
            <a:tailEnd type="triangle" w="lg" len="lg"/>
          </a:ln>
        </p:spPr>
      </p:cxnSp>
      <p:sp>
        <p:nvSpPr>
          <p:cNvPr id="32" name="qa-return0">
            <a:extLst>
              <a:ext uri="{FF2B5EF4-FFF2-40B4-BE49-F238E27FC236}">
                <a16:creationId xmlns:a16="http://schemas.microsoft.com/office/drawing/2014/main" id="{8E2587E0-B1CA-463F-AF68-127610849335}"/>
              </a:ext>
            </a:extLst>
          </p:cNvPr>
          <p:cNvSpPr>
            <a:spLocks noGrp="1"/>
          </p:cNvSpPr>
          <p:nvPr/>
        </p:nvSpPr>
        <p:spPr>
          <a:xfrm>
            <a:off x="9860280" y="4808220"/>
            <a:ext cx="15240" cy="15240"/>
          </a:xfrm>
          <a:prstGeom prst="rect">
            <a:avLst/>
          </a:prstGeom>
          <a:noFill/>
          <a:ln w="0">
            <a:noFill/>
            <a:prstDash val="solid"/>
          </a:ln>
        </p:spPr>
      </p:sp>
      <p:sp>
        <p:nvSpPr>
          <p:cNvPr id="33" name="qa-return1">
            <a:extLst>
              <a:ext uri="{FF2B5EF4-FFF2-40B4-BE49-F238E27FC236}">
                <a16:creationId xmlns:a16="http://schemas.microsoft.com/office/drawing/2014/main" id="{4F4D0645-E877-4FE3-8DAB-F64A8B4D72CF}"/>
              </a:ext>
            </a:extLst>
          </p:cNvPr>
          <p:cNvSpPr>
            <a:spLocks noGrp="1"/>
          </p:cNvSpPr>
          <p:nvPr/>
        </p:nvSpPr>
        <p:spPr>
          <a:xfrm>
            <a:off x="9860280" y="5372100"/>
            <a:ext cx="15240" cy="15240"/>
          </a:xfrm>
          <a:prstGeom prst="rect">
            <a:avLst/>
          </a:prstGeom>
          <a:noFill/>
          <a:ln w="0">
            <a:noFill/>
            <a:prstDash val="solid"/>
          </a:ln>
        </p:spPr>
      </p:sp>
      <p:sp>
        <p:nvSpPr>
          <p:cNvPr id="34" name="qa-return2">
            <a:extLst>
              <a:ext uri="{FF2B5EF4-FFF2-40B4-BE49-F238E27FC236}">
                <a16:creationId xmlns:a16="http://schemas.microsoft.com/office/drawing/2014/main" id="{36BC8CDB-6D35-4133-ABFC-17F72D16001D}"/>
              </a:ext>
            </a:extLst>
          </p:cNvPr>
          <p:cNvSpPr>
            <a:spLocks noGrp="1"/>
          </p:cNvSpPr>
          <p:nvPr/>
        </p:nvSpPr>
        <p:spPr>
          <a:xfrm>
            <a:off x="4945380" y="5372100"/>
            <a:ext cx="15240" cy="15240"/>
          </a:xfrm>
          <a:prstGeom prst="rect">
            <a:avLst/>
          </a:prstGeom>
          <a:noFill/>
          <a:ln w="0">
            <a:noFill/>
            <a:prstDash val="solid"/>
          </a:ln>
        </p:spPr>
      </p:sp>
      <p:sp>
        <p:nvSpPr>
          <p:cNvPr id="35" name="qa-return3">
            <a:extLst>
              <a:ext uri="{FF2B5EF4-FFF2-40B4-BE49-F238E27FC236}">
                <a16:creationId xmlns:a16="http://schemas.microsoft.com/office/drawing/2014/main" id="{1C435125-CAA9-4F6E-A695-E4F9A522F6A5}"/>
              </a:ext>
            </a:extLst>
          </p:cNvPr>
          <p:cNvSpPr>
            <a:spLocks noGrp="1"/>
          </p:cNvSpPr>
          <p:nvPr/>
        </p:nvSpPr>
        <p:spPr>
          <a:xfrm>
            <a:off x="4945380" y="4808220"/>
            <a:ext cx="15240" cy="15240"/>
          </a:xfrm>
          <a:prstGeom prst="rect">
            <a:avLst/>
          </a:prstGeom>
          <a:noFill/>
          <a:ln w="0">
            <a:noFill/>
            <a:prstDash val="solid"/>
          </a:ln>
        </p:spPr>
      </p:sp>
      <p:cxnSp>
        <p:nvCxnSpPr>
          <p:cNvPr id="9236" name="Straight Arrow Connector 9235"/>
          <p:cNvCxnSpPr>
            <a:cxnSpLocks/>
          </p:cNvCxnSpPr>
          <p:nvPr/>
        </p:nvCxnSpPr>
        <p:spPr>
          <a:xfrm>
            <a:off x="2278245" y="5407608"/>
            <a:ext cx="0" cy="417929"/>
          </a:xfrm>
          <a:prstGeom prst="straightConnector1">
            <a:avLst/>
          </a:prstGeom>
          <a:ln w="22860">
            <a:solidFill>
              <a:srgbClr val="646464"/>
            </a:solidFill>
            <a:prstDash val="dash"/>
            <a:headEnd type="triangle" w="lg" len="med"/>
            <a:tailEnd type="none" w="lg" len="lg"/>
          </a:ln>
        </p:spPr>
      </p:cxnSp>
      <p:cxnSp>
        <p:nvCxnSpPr>
          <p:cNvPr id="9237" name="Straight Arrow Connector 9236"/>
          <p:cNvCxnSpPr>
            <a:cxnSpLocks/>
          </p:cNvCxnSpPr>
          <p:nvPr/>
        </p:nvCxnSpPr>
        <p:spPr>
          <a:xfrm flipH="1" flipV="1">
            <a:off x="1063456" y="5817917"/>
            <a:ext cx="1202055" cy="7620"/>
          </a:xfrm>
          <a:prstGeom prst="straightConnector1">
            <a:avLst/>
          </a:prstGeom>
          <a:ln w="22860">
            <a:solidFill>
              <a:srgbClr val="646464"/>
            </a:solidFill>
            <a:prstDash val="dash"/>
            <a:tailEnd type="none" w="sm" len="sm"/>
          </a:ln>
        </p:spPr>
      </p:cxnSp>
      <p:cxnSp>
        <p:nvCxnSpPr>
          <p:cNvPr id="9238" name="Straight Arrow Connector 9237"/>
          <p:cNvCxnSpPr>
            <a:cxnSpLocks/>
          </p:cNvCxnSpPr>
          <p:nvPr/>
        </p:nvCxnSpPr>
        <p:spPr>
          <a:xfrm flipV="1">
            <a:off x="1063807" y="5392368"/>
            <a:ext cx="0" cy="406452"/>
          </a:xfrm>
          <a:prstGeom prst="straightConnector1">
            <a:avLst/>
          </a:prstGeom>
          <a:ln w="22860">
            <a:solidFill>
              <a:srgbClr val="646464"/>
            </a:solidFill>
            <a:prstDash val="dash"/>
            <a:headEnd type="none"/>
            <a:tailEnd type="triangle" w="lg" len="med"/>
          </a:ln>
        </p:spPr>
      </p:cxnSp>
      <p:sp>
        <p:nvSpPr>
          <p:cNvPr id="39" name="test-loop">
            <a:extLst>
              <a:ext uri="{FF2B5EF4-FFF2-40B4-BE49-F238E27FC236}">
                <a16:creationId xmlns:a16="http://schemas.microsoft.com/office/drawing/2014/main" id="{76301EC7-B56F-4BBF-8685-1E72E7AE739B}"/>
              </a:ext>
            </a:extLst>
          </p:cNvPr>
          <p:cNvSpPr>
            <a:spLocks noGrp="1"/>
          </p:cNvSpPr>
          <p:nvPr/>
        </p:nvSpPr>
        <p:spPr>
          <a:xfrm>
            <a:off x="1014770" y="5862322"/>
            <a:ext cx="1380690" cy="159519"/>
          </a:xfrm>
          <a:prstGeom prst="rect">
            <a:avLst/>
          </a:prstGeom>
          <a:noFill/>
          <a:ln w="0">
            <a:noFill/>
            <a:prstDash val="solid"/>
          </a:ln>
        </p:spPr>
        <p:txBody>
          <a:bodyPr wrap="none" lIns="0" tIns="0" rIns="0" bIns="0" anchor="ctr">
            <a:noAutofit/>
          </a:bodyPr>
          <a:lstStyle/>
          <a:p>
            <a:pPr algn="ctr">
              <a:defRPr sz="1500" b="0">
                <a:solidFill>
                  <a:srgbClr val="646464"/>
                </a:solidFill>
                <a:latin typeface="Inter"/>
                <a:ea typeface="Inter"/>
                <a:cs typeface="Inter"/>
              </a:defRPr>
            </a:pPr>
            <a:r>
              <a:rPr lang="en-CA" sz="1100" dirty="0"/>
              <a:t>Fix issues and retest </a:t>
            </a:r>
            <a:endParaRPr sz="1100" b="0" dirty="0">
              <a:solidFill>
                <a:srgbClr val="646464"/>
              </a:solidFill>
              <a:latin typeface="Inter"/>
              <a:ea typeface="Inter"/>
              <a:cs typeface="Inter"/>
            </a:endParaRPr>
          </a:p>
        </p:txBody>
      </p:sp>
      <p:sp>
        <p:nvSpPr>
          <p:cNvPr id="40" name="preserve">
            <a:extLst>
              <a:ext uri="{FF2B5EF4-FFF2-40B4-BE49-F238E27FC236}">
                <a16:creationId xmlns:a16="http://schemas.microsoft.com/office/drawing/2014/main" id="{2A12093E-70DA-4917-983C-AC8E0D6A6769}"/>
              </a:ext>
            </a:extLst>
          </p:cNvPr>
          <p:cNvSpPr>
            <a:spLocks noGrp="1"/>
          </p:cNvSpPr>
          <p:nvPr/>
        </p:nvSpPr>
        <p:spPr>
          <a:xfrm>
            <a:off x="1962150" y="6131318"/>
            <a:ext cx="2019300" cy="342484"/>
          </a:xfrm>
          <a:prstGeom prst="rect">
            <a:avLst/>
          </a:prstGeom>
          <a:noFill/>
          <a:ln w="0">
            <a:noFill/>
            <a:prstDash val="solid"/>
          </a:ln>
        </p:spPr>
        <p:txBody>
          <a:bodyPr wrap="none" lIns="0" tIns="0" rIns="0" bIns="0" anchor="ctr">
            <a:noAutofit/>
          </a:bodyPr>
          <a:lstStyle/>
          <a:p>
            <a:pPr algn="l">
              <a:defRPr sz="2100" b="1">
                <a:solidFill>
                  <a:srgbClr val="1E1E1E"/>
                </a:solidFill>
                <a:latin typeface="Inter"/>
                <a:ea typeface="Inter"/>
                <a:cs typeface="Inter"/>
              </a:defRPr>
            </a:pPr>
            <a:r>
              <a:rPr sz="1100" b="1" dirty="0">
                <a:solidFill>
                  <a:srgbClr val="1E1E1E"/>
                </a:solidFill>
                <a:latin typeface="Inter"/>
                <a:ea typeface="Inter"/>
                <a:cs typeface="Inter"/>
              </a:rPr>
              <a:t>Preserve</a:t>
            </a:r>
            <a:r>
              <a:rPr lang="en-CA" sz="1100" b="1" dirty="0">
                <a:solidFill>
                  <a:srgbClr val="1E1E1E"/>
                </a:solidFill>
                <a:latin typeface="Inter"/>
                <a:ea typeface="Inter"/>
                <a:cs typeface="Inter"/>
              </a:rPr>
              <a:t>s</a:t>
            </a:r>
            <a:r>
              <a:rPr sz="1100" b="1" dirty="0">
                <a:solidFill>
                  <a:srgbClr val="1E1E1E"/>
                </a:solidFill>
                <a:latin typeface="Inter"/>
                <a:ea typeface="Inter"/>
                <a:cs typeface="Inter"/>
              </a:rPr>
              <a:t> the business rules</a:t>
            </a:r>
          </a:p>
        </p:txBody>
      </p:sp>
      <p:sp>
        <p:nvSpPr>
          <p:cNvPr id="41" name="preserve-detail">
            <a:extLst>
              <a:ext uri="{FF2B5EF4-FFF2-40B4-BE49-F238E27FC236}">
                <a16:creationId xmlns:a16="http://schemas.microsoft.com/office/drawing/2014/main" id="{1B4CD854-0889-455B-AC3A-39DD490503C9}"/>
              </a:ext>
            </a:extLst>
          </p:cNvPr>
          <p:cNvSpPr>
            <a:spLocks noGrp="1"/>
          </p:cNvSpPr>
          <p:nvPr/>
        </p:nvSpPr>
        <p:spPr>
          <a:xfrm>
            <a:off x="5821680" y="6552044"/>
            <a:ext cx="4038600" cy="266700"/>
          </a:xfrm>
          <a:prstGeom prst="rect">
            <a:avLst/>
          </a:prstGeom>
          <a:noFill/>
          <a:ln w="0">
            <a:noFill/>
            <a:prstDash val="solid"/>
          </a:ln>
        </p:spPr>
        <p:txBody>
          <a:bodyPr wrap="none" lIns="0" tIns="0" rIns="0" bIns="0" anchor="ctr">
            <a:noAutofit/>
          </a:bodyPr>
          <a:lstStyle/>
          <a:p>
            <a:pPr algn="l">
              <a:defRPr sz="1560" b="0">
                <a:solidFill>
                  <a:srgbClr val="646464"/>
                </a:solidFill>
                <a:latin typeface="Inter"/>
                <a:ea typeface="Inter"/>
                <a:cs typeface="Inter"/>
              </a:defRPr>
            </a:pPr>
            <a:r>
              <a:rPr lang="en-CA" sz="1560" b="0" dirty="0">
                <a:solidFill>
                  <a:srgbClr val="646464"/>
                </a:solidFill>
                <a:latin typeface="Inter"/>
                <a:ea typeface="Inter"/>
                <a:cs typeface="Inter"/>
              </a:rPr>
              <a:t>Modernizes</a:t>
            </a:r>
            <a:r>
              <a:rPr sz="1560" b="0" dirty="0">
                <a:solidFill>
                  <a:srgbClr val="646464"/>
                </a:solidFill>
                <a:latin typeface="Inter"/>
                <a:ea typeface="Inter"/>
                <a:cs typeface="Inter"/>
              </a:rPr>
              <a:t> the implementation</a:t>
            </a:r>
          </a:p>
        </p:txBody>
      </p:sp>
      <p:sp>
        <p:nvSpPr>
          <p:cNvPr id="9201" name="Slide Number Placeholder 3">
            <a:extLst>
              <a:ext uri="{FF2B5EF4-FFF2-40B4-BE49-F238E27FC236}">
                <a16:creationId xmlns:a16="http://schemas.microsoft.com/office/drawing/2014/main" id="{E98A4731-19CE-28F0-6564-BE2C1D1F52D4}"/>
              </a:ext>
            </a:extLst>
          </p:cNvPr>
          <p:cNvSpPr>
            <a:spLocks noGrp="1"/>
          </p:cNvSpPr>
          <p:nvPr>
            <p:ph type="sldNum" idx="12"/>
          </p:nvPr>
        </p:nvSpPr>
        <p:spPr>
          <a:xfrm>
            <a:off x="315001" y="6463801"/>
            <a:ext cx="248137" cy="254509"/>
          </a:xfrm>
        </p:spPr>
        <p:txBody>
          <a:bodyPr/>
          <a:lstStyle/>
          <a:p>
            <a:pPr marL="0" marR="0" indent="0" algn="l">
              <a:spcBef>
                <a:spcPts val="0"/>
              </a:spcBef>
              <a:buNone/>
              <a:defRPr sz="900" b="1" i="0" u="none" cap="none">
                <a:solidFill>
                  <a:schemeClr val="dk1"/>
                </a:solidFill>
                <a:latin typeface="Inter"/>
                <a:ea typeface="Inter"/>
                <a:cs typeface="Inter"/>
              </a:defRPr>
            </a:pPr>
            <a:fld id="{CBA53E11-492D-48B3-9F9B-09541CA2A39A}" type="slidenum">
              <a:rPr sz="900" b="1" i="0" u="none" cap="none">
                <a:solidFill>
                  <a:schemeClr val="dk1"/>
                </a:solidFill>
                <a:latin typeface="Inter"/>
                <a:ea typeface="Inter"/>
                <a:cs typeface="Inter"/>
              </a:rPr>
              <a:t>1</a:t>
            </a:fld>
            <a:endParaRPr/>
          </a:p>
        </p:txBody>
      </p:sp>
      <p:sp>
        <p:nvSpPr>
          <p:cNvPr id="3" name="Oval 2">
            <a:extLst>
              <a:ext uri="{FF2B5EF4-FFF2-40B4-BE49-F238E27FC236}">
                <a16:creationId xmlns:a16="http://schemas.microsoft.com/office/drawing/2014/main" id="{26690F10-AAAD-D034-DA3A-218826718C3F}"/>
              </a:ext>
            </a:extLst>
          </p:cNvPr>
          <p:cNvSpPr/>
          <p:nvPr/>
        </p:nvSpPr>
        <p:spPr>
          <a:xfrm>
            <a:off x="4898529" y="1319161"/>
            <a:ext cx="1176913" cy="1041752"/>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9B2BDEFF-64C5-2E43-8A24-9A73BCFB62D3}"/>
              </a:ext>
            </a:extLst>
          </p:cNvPr>
          <p:cNvPicPr>
            <a:picLocks noChangeAspect="1"/>
          </p:cNvPicPr>
          <p:nvPr/>
        </p:nvPicPr>
        <p:blipFill>
          <a:blip r:embed="rId3"/>
          <a:srcRect t="4885" b="4884"/>
          <a:stretch>
            <a:fillRect/>
          </a:stretch>
        </p:blipFill>
        <p:spPr>
          <a:xfrm>
            <a:off x="5030517" y="1399861"/>
            <a:ext cx="912779" cy="823610"/>
          </a:xfrm>
          <a:prstGeom prst="rect">
            <a:avLst/>
          </a:prstGeom>
        </p:spPr>
      </p:pic>
      <p:sp>
        <p:nvSpPr>
          <p:cNvPr id="15" name="Oval 14">
            <a:extLst>
              <a:ext uri="{FF2B5EF4-FFF2-40B4-BE49-F238E27FC236}">
                <a16:creationId xmlns:a16="http://schemas.microsoft.com/office/drawing/2014/main" id="{C5174D5F-351D-D0EC-C5FF-E5A7E91D81A7}"/>
              </a:ext>
            </a:extLst>
          </p:cNvPr>
          <p:cNvSpPr/>
          <p:nvPr/>
        </p:nvSpPr>
        <p:spPr>
          <a:xfrm>
            <a:off x="438430" y="3004918"/>
            <a:ext cx="1176913" cy="1041752"/>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b="1">
              <a:solidFill>
                <a:srgbClr val="252424"/>
              </a:solidFill>
              <a:latin typeface="Inter"/>
              <a:cs typeface="Inter"/>
            </a:endParaRPr>
          </a:p>
        </p:txBody>
      </p:sp>
      <p:pic>
        <p:nvPicPr>
          <p:cNvPr id="16" name="Picture 15">
            <a:extLst>
              <a:ext uri="{FF2B5EF4-FFF2-40B4-BE49-F238E27FC236}">
                <a16:creationId xmlns:a16="http://schemas.microsoft.com/office/drawing/2014/main" id="{B249C8AF-9375-4400-1E61-7A6235971213}"/>
              </a:ext>
            </a:extLst>
          </p:cNvPr>
          <p:cNvPicPr>
            <a:picLocks noChangeAspect="1"/>
          </p:cNvPicPr>
          <p:nvPr/>
        </p:nvPicPr>
        <p:blipFill>
          <a:blip r:embed="rId4"/>
          <a:srcRect t="3521" b="3521"/>
          <a:stretch>
            <a:fillRect/>
          </a:stretch>
        </p:blipFill>
        <p:spPr>
          <a:xfrm>
            <a:off x="562310" y="3085617"/>
            <a:ext cx="920886" cy="856036"/>
          </a:xfrm>
          <a:prstGeom prst="rect">
            <a:avLst/>
          </a:prstGeom>
        </p:spPr>
      </p:pic>
      <p:pic>
        <p:nvPicPr>
          <p:cNvPr id="56" name="Picture 55" descr="Code Legacy Icons - Free SVG &amp; PNG Code Legacy Images - Noun Project">
            <a:extLst>
              <a:ext uri="{FF2B5EF4-FFF2-40B4-BE49-F238E27FC236}">
                <a16:creationId xmlns:a16="http://schemas.microsoft.com/office/drawing/2014/main" id="{C0B5FDE3-5800-32FA-D1DF-8AD4A1E951F2}"/>
              </a:ext>
            </a:extLst>
          </p:cNvPr>
          <p:cNvPicPr>
            <a:picLocks noChangeAspect="1"/>
          </p:cNvPicPr>
          <p:nvPr/>
        </p:nvPicPr>
        <p:blipFill>
          <a:blip r:embed="rId5"/>
          <a:stretch>
            <a:fillRect/>
          </a:stretch>
        </p:blipFill>
        <p:spPr>
          <a:xfrm>
            <a:off x="1258010" y="1872429"/>
            <a:ext cx="765610" cy="765610"/>
          </a:xfrm>
          <a:prstGeom prst="rect">
            <a:avLst/>
          </a:prstGeom>
        </p:spPr>
      </p:pic>
      <p:cxnSp>
        <p:nvCxnSpPr>
          <p:cNvPr id="9096" name="Straight Arrow Connector 9095">
            <a:extLst>
              <a:ext uri="{FF2B5EF4-FFF2-40B4-BE49-F238E27FC236}">
                <a16:creationId xmlns:a16="http://schemas.microsoft.com/office/drawing/2014/main" id="{A629F48C-B1EB-8F8F-7756-59FF4ABAE7BB}"/>
              </a:ext>
            </a:extLst>
          </p:cNvPr>
          <p:cNvCxnSpPr>
            <a:cxnSpLocks/>
          </p:cNvCxnSpPr>
          <p:nvPr/>
        </p:nvCxnSpPr>
        <p:spPr>
          <a:xfrm flipV="1">
            <a:off x="2971800" y="4079519"/>
            <a:ext cx="1301557" cy="547472"/>
          </a:xfrm>
          <a:prstGeom prst="straightConnector1">
            <a:avLst/>
          </a:prstGeom>
          <a:ln w="22860">
            <a:solidFill>
              <a:srgbClr val="C5FF00"/>
            </a:solidFill>
            <a:prstDash val="solid"/>
            <a:headEnd type="triangle" w="lg" len="lg"/>
            <a:tailEnd type="none" w="lg" len="lg"/>
          </a:ln>
        </p:spPr>
      </p:cxnSp>
      <p:pic>
        <p:nvPicPr>
          <p:cNvPr id="9103" name="Picture 9102">
            <a:extLst>
              <a:ext uri="{FF2B5EF4-FFF2-40B4-BE49-F238E27FC236}">
                <a16:creationId xmlns:a16="http://schemas.microsoft.com/office/drawing/2014/main" id="{7B4A54A9-F15D-3D76-416E-D2923E24F50E}"/>
              </a:ext>
            </a:extLst>
          </p:cNvPr>
          <p:cNvPicPr>
            <a:picLocks noChangeAspect="1"/>
          </p:cNvPicPr>
          <p:nvPr/>
        </p:nvPicPr>
        <p:blipFill>
          <a:blip r:embed="rId6"/>
          <a:stretch>
            <a:fillRect/>
          </a:stretch>
        </p:blipFill>
        <p:spPr>
          <a:xfrm>
            <a:off x="6319870" y="1319161"/>
            <a:ext cx="5596293" cy="4068179"/>
          </a:xfrm>
          <a:prstGeom prst="rect">
            <a:avLst/>
          </a:prstGeom>
        </p:spPr>
      </p:pic>
    </p:spTree>
    <p:extLst>
      <p:ext uri="{BB962C8B-B14F-4D97-AF65-F5344CB8AC3E}">
        <p14:creationId xmlns:p14="http://schemas.microsoft.com/office/powerpoint/2010/main" val="1842394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5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0" name="Title">
            <a:extLst>
              <a:ext uri="{FF2B5EF4-FFF2-40B4-BE49-F238E27FC236}">
                <a16:creationId xmlns:a16="http://schemas.microsoft.com/office/drawing/2014/main" id="{E7E89F8C-6493-4290-A6E8-080507336A6A}"/>
              </a:ext>
            </a:extLst>
          </p:cNvPr>
          <p:cNvSpPr>
            <a:spLocks noGrp="1"/>
          </p:cNvSpPr>
          <p:nvPr/>
        </p:nvSpPr>
        <p:spPr>
          <a:xfrm>
            <a:off x="509865" y="380000"/>
            <a:ext cx="11172270" cy="560000"/>
          </a:xfrm>
          <a:prstGeom prst="rect">
            <a:avLst/>
          </a:prstGeom>
        </p:spPr>
        <p:txBody>
          <a:bodyPr wrap="square" lIns="91440" tIns="45720" rIns="91440" bIns="45720" anchor="t"/>
          <a:lstStyle/>
          <a:p>
            <a:pPr algn="l">
              <a:buNone/>
            </a:pPr>
            <a:r>
              <a:rPr lang="en-CA" sz="2400" b="1" dirty="0">
                <a:solidFill>
                  <a:srgbClr val="000000"/>
                </a:solidFill>
                <a:latin typeface="Inter"/>
                <a:ea typeface="Inter"/>
                <a:cs typeface="Inter"/>
              </a:rPr>
              <a:t>A</a:t>
            </a:r>
            <a:r>
              <a:rPr sz="2400" b="1" dirty="0" err="1">
                <a:solidFill>
                  <a:srgbClr val="000000"/>
                </a:solidFill>
                <a:latin typeface="Inter"/>
                <a:ea typeface="Inter"/>
                <a:cs typeface="Inter"/>
              </a:rPr>
              <a:t>ddition</a:t>
            </a:r>
            <a:r>
              <a:rPr sz="2400" b="1" dirty="0">
                <a:solidFill>
                  <a:srgbClr val="000000"/>
                </a:solidFill>
                <a:latin typeface="Inter"/>
                <a:ea typeface="Inter"/>
                <a:cs typeface="Inter"/>
              </a:rPr>
              <a:t> to the modernized application</a:t>
            </a:r>
          </a:p>
        </p:txBody>
      </p:sp>
      <p:sp>
        <p:nvSpPr>
          <p:cNvPr id="9101" name="Accent">
            <a:extLst>
              <a:ext uri="{FF2B5EF4-FFF2-40B4-BE49-F238E27FC236}">
                <a16:creationId xmlns:a16="http://schemas.microsoft.com/office/drawing/2014/main" id="{4521394B-A644-4F23-AB01-393CD9936336}"/>
              </a:ext>
            </a:extLst>
          </p:cNvPr>
          <p:cNvSpPr>
            <a:spLocks noGrp="1"/>
          </p:cNvSpPr>
          <p:nvPr/>
        </p:nvSpPr>
        <p:spPr>
          <a:xfrm>
            <a:off x="520000" y="970000"/>
            <a:ext cx="560000" cy="72000"/>
          </a:xfrm>
          <a:prstGeom prst="rect">
            <a:avLst/>
          </a:prstGeom>
          <a:solidFill>
            <a:srgbClr val="C5FF00"/>
          </a:solidFill>
        </p:spPr>
        <p:txBody>
          <a:bodyPr wrap="square" lIns="91440" tIns="45720" rIns="91440" bIns="45720" anchor="t"/>
          <a:lstStyle/>
          <a:p>
            <a:pPr algn="l">
              <a:buNone/>
            </a:pPr>
            <a:endParaRPr/>
          </a:p>
        </p:txBody>
      </p:sp>
      <p:sp>
        <p:nvSpPr>
          <p:cNvPr id="2" name="subtitle">
            <a:extLst>
              <a:ext uri="{FF2B5EF4-FFF2-40B4-BE49-F238E27FC236}">
                <a16:creationId xmlns:a16="http://schemas.microsoft.com/office/drawing/2014/main" id="{4FCD47FF-4DA7-4834-A8D5-B8C25BE06332}"/>
              </a:ext>
            </a:extLst>
          </p:cNvPr>
          <p:cNvSpPr>
            <a:spLocks noGrp="1"/>
          </p:cNvSpPr>
          <p:nvPr/>
        </p:nvSpPr>
        <p:spPr>
          <a:xfrm>
            <a:off x="563880" y="1089660"/>
            <a:ext cx="11049000" cy="304800"/>
          </a:xfrm>
          <a:prstGeom prst="rect">
            <a:avLst/>
          </a:prstGeom>
          <a:noFill/>
          <a:ln w="0">
            <a:noFill/>
            <a:prstDash val="solid"/>
          </a:ln>
        </p:spPr>
        <p:txBody>
          <a:bodyPr wrap="none" lIns="0" tIns="0" rIns="0" bIns="0" anchor="ctr">
            <a:noAutofit/>
          </a:bodyPr>
          <a:lstStyle/>
          <a:p>
            <a:pPr algn="l">
              <a:defRPr sz="1600" b="0">
                <a:solidFill>
                  <a:srgbClr val="646464"/>
                </a:solidFill>
                <a:latin typeface="Inter"/>
                <a:ea typeface="Inter"/>
                <a:cs typeface="Inter"/>
              </a:defRPr>
            </a:pPr>
            <a:r>
              <a:rPr sz="1400" b="0" dirty="0">
                <a:solidFill>
                  <a:srgbClr val="646464"/>
                </a:solidFill>
                <a:latin typeface="Inter"/>
                <a:ea typeface="Inter"/>
                <a:cs typeface="Inter"/>
              </a:rPr>
              <a:t>Developer understanding and transaction oversight</a:t>
            </a:r>
          </a:p>
        </p:txBody>
      </p:sp>
      <p:sp>
        <p:nvSpPr>
          <p:cNvPr id="5" name="split">
            <a:extLst>
              <a:ext uri="{FF2B5EF4-FFF2-40B4-BE49-F238E27FC236}">
                <a16:creationId xmlns:a16="http://schemas.microsoft.com/office/drawing/2014/main" id="{DB560E4E-6065-463F-81B3-013D77EA0A50}"/>
              </a:ext>
            </a:extLst>
          </p:cNvPr>
          <p:cNvSpPr>
            <a:spLocks noGrp="1"/>
          </p:cNvSpPr>
          <p:nvPr/>
        </p:nvSpPr>
        <p:spPr>
          <a:xfrm>
            <a:off x="6096000" y="1828800"/>
            <a:ext cx="0" cy="4191000"/>
          </a:xfrm>
          <a:prstGeom prst="line">
            <a:avLst/>
          </a:prstGeom>
          <a:noFill/>
          <a:ln w="11430">
            <a:solidFill>
              <a:srgbClr val="D5D5D1"/>
            </a:solidFill>
            <a:prstDash val="solid"/>
          </a:ln>
        </p:spPr>
      </p:sp>
      <p:sp>
        <p:nvSpPr>
          <p:cNvPr id="6" name="assistant-index">
            <a:extLst>
              <a:ext uri="{FF2B5EF4-FFF2-40B4-BE49-F238E27FC236}">
                <a16:creationId xmlns:a16="http://schemas.microsoft.com/office/drawing/2014/main" id="{236902B3-6204-431C-8FF0-B2E9DFF82A48}"/>
              </a:ext>
            </a:extLst>
          </p:cNvPr>
          <p:cNvSpPr>
            <a:spLocks noGrp="1"/>
          </p:cNvSpPr>
          <p:nvPr/>
        </p:nvSpPr>
        <p:spPr>
          <a:xfrm>
            <a:off x="548640" y="1790700"/>
            <a:ext cx="914400" cy="502920"/>
          </a:xfrm>
          <a:prstGeom prst="rect">
            <a:avLst/>
          </a:prstGeom>
          <a:noFill/>
          <a:ln w="0">
            <a:noFill/>
            <a:prstDash val="solid"/>
          </a:ln>
        </p:spPr>
        <p:txBody>
          <a:bodyPr wrap="none" lIns="0" tIns="0" rIns="0" bIns="0" anchor="ctr">
            <a:noAutofit/>
          </a:bodyPr>
          <a:lstStyle/>
          <a:p>
            <a:pPr algn="l">
              <a:defRPr sz="3360" b="1">
                <a:solidFill>
                  <a:srgbClr val="4B6000"/>
                </a:solidFill>
                <a:latin typeface="Inter"/>
                <a:ea typeface="Inter"/>
                <a:cs typeface="Inter"/>
              </a:defRPr>
            </a:pPr>
            <a:r>
              <a:rPr sz="2400" b="1" dirty="0">
                <a:solidFill>
                  <a:srgbClr val="4B6000"/>
                </a:solidFill>
                <a:latin typeface="Inter"/>
                <a:ea typeface="Inter"/>
                <a:cs typeface="Inter"/>
              </a:rPr>
              <a:t>01</a:t>
            </a:r>
          </a:p>
        </p:txBody>
      </p:sp>
      <p:sp>
        <p:nvSpPr>
          <p:cNvPr id="7" name="assistant-title">
            <a:extLst>
              <a:ext uri="{FF2B5EF4-FFF2-40B4-BE49-F238E27FC236}">
                <a16:creationId xmlns:a16="http://schemas.microsoft.com/office/drawing/2014/main" id="{037C6098-82A4-48AC-B05B-D2CC57E7AA13}"/>
              </a:ext>
            </a:extLst>
          </p:cNvPr>
          <p:cNvSpPr>
            <a:spLocks noGrp="1"/>
          </p:cNvSpPr>
          <p:nvPr/>
        </p:nvSpPr>
        <p:spPr>
          <a:xfrm>
            <a:off x="1264920" y="1790700"/>
            <a:ext cx="5029200" cy="510540"/>
          </a:xfrm>
          <a:prstGeom prst="rect">
            <a:avLst/>
          </a:prstGeom>
          <a:noFill/>
          <a:ln w="0">
            <a:noFill/>
            <a:prstDash val="solid"/>
          </a:ln>
        </p:spPr>
        <p:txBody>
          <a:bodyPr wrap="none" lIns="0" tIns="0" rIns="0" bIns="0" anchor="ctr">
            <a:noAutofit/>
          </a:bodyPr>
          <a:lstStyle/>
          <a:p>
            <a:pPr algn="l">
              <a:defRPr sz="2580" b="1">
                <a:solidFill>
                  <a:srgbClr val="1E1E1E"/>
                </a:solidFill>
                <a:latin typeface="Inter"/>
                <a:ea typeface="Inter"/>
                <a:cs typeface="Inter"/>
              </a:defRPr>
            </a:pPr>
            <a:r>
              <a:rPr sz="2400" b="1" dirty="0">
                <a:solidFill>
                  <a:srgbClr val="1E1E1E"/>
                </a:solidFill>
                <a:latin typeface="Inter"/>
                <a:ea typeface="Inter"/>
                <a:cs typeface="Inter"/>
              </a:rPr>
              <a:t>Code Assistant</a:t>
            </a:r>
          </a:p>
        </p:txBody>
      </p:sp>
      <p:sp>
        <p:nvSpPr>
          <p:cNvPr id="8" name="assistant-value">
            <a:extLst>
              <a:ext uri="{FF2B5EF4-FFF2-40B4-BE49-F238E27FC236}">
                <a16:creationId xmlns:a16="http://schemas.microsoft.com/office/drawing/2014/main" id="{B3E4ED9B-EC92-457F-BA35-6442625BA34A}"/>
              </a:ext>
            </a:extLst>
          </p:cNvPr>
          <p:cNvSpPr>
            <a:spLocks noGrp="1"/>
          </p:cNvSpPr>
          <p:nvPr/>
        </p:nvSpPr>
        <p:spPr>
          <a:xfrm>
            <a:off x="520000" y="2301240"/>
            <a:ext cx="5029200" cy="624840"/>
          </a:xfrm>
          <a:prstGeom prst="rect">
            <a:avLst/>
          </a:prstGeom>
          <a:noFill/>
          <a:ln w="0">
            <a:noFill/>
            <a:prstDash val="solid"/>
          </a:ln>
        </p:spPr>
        <p:txBody>
          <a:bodyPr wrap="none" lIns="0" tIns="0" rIns="0" bIns="0" anchor="ctr">
            <a:noAutofit/>
          </a:bodyPr>
          <a:lstStyle/>
          <a:p>
            <a:pPr algn="l">
              <a:defRPr sz="1800" b="0">
                <a:solidFill>
                  <a:srgbClr val="646464"/>
                </a:solidFill>
                <a:latin typeface="Inter"/>
                <a:ea typeface="Inter"/>
                <a:cs typeface="Inter"/>
              </a:defRPr>
            </a:pPr>
            <a:r>
              <a:rPr sz="1400" b="0" dirty="0">
                <a:solidFill>
                  <a:srgbClr val="646464"/>
                </a:solidFill>
                <a:latin typeface="Inter"/>
                <a:ea typeface="Inter"/>
                <a:cs typeface="Inter"/>
              </a:rPr>
              <a:t>Helps developers understand</a:t>
            </a:r>
            <a:r>
              <a:rPr lang="en-CA" sz="1400" b="0" dirty="0">
                <a:solidFill>
                  <a:srgbClr val="646464"/>
                </a:solidFill>
                <a:latin typeface="Inter"/>
                <a:ea typeface="Inter"/>
                <a:cs typeface="Inter"/>
              </a:rPr>
              <a:t> </a:t>
            </a:r>
            <a:r>
              <a:rPr sz="1400" b="0" dirty="0">
                <a:solidFill>
                  <a:srgbClr val="646464"/>
                </a:solidFill>
                <a:latin typeface="Inter"/>
                <a:ea typeface="Inter"/>
                <a:cs typeface="Inter"/>
              </a:rPr>
              <a:t>unfamiliar features and workflows</a:t>
            </a:r>
          </a:p>
        </p:txBody>
      </p:sp>
      <p:sp>
        <p:nvSpPr>
          <p:cNvPr id="9" name="question-example">
            <a:extLst>
              <a:ext uri="{FF2B5EF4-FFF2-40B4-BE49-F238E27FC236}">
                <a16:creationId xmlns:a16="http://schemas.microsoft.com/office/drawing/2014/main" id="{C067EB8C-C3E4-496C-B02D-DCAB16FDFD53}"/>
              </a:ext>
            </a:extLst>
          </p:cNvPr>
          <p:cNvSpPr>
            <a:spLocks noGrp="1"/>
          </p:cNvSpPr>
          <p:nvPr/>
        </p:nvSpPr>
        <p:spPr>
          <a:xfrm>
            <a:off x="1463041" y="2851248"/>
            <a:ext cx="3272725" cy="2262451"/>
          </a:xfrm>
          <a:prstGeom prst="roundRect">
            <a:avLst>
              <a:gd name="adj" fmla="val 10000"/>
            </a:avLst>
          </a:prstGeom>
          <a:solidFill>
            <a:srgbClr val="F3FFC2"/>
          </a:solidFill>
          <a:ln w="11430">
            <a:solidFill>
              <a:srgbClr val="F3FFC2"/>
            </a:solidFill>
            <a:prstDash val="solid"/>
          </a:ln>
        </p:spPr>
      </p:sp>
      <p:sp>
        <p:nvSpPr>
          <p:cNvPr id="10" name="question-example-name">
            <a:extLst>
              <a:ext uri="{FF2B5EF4-FFF2-40B4-BE49-F238E27FC236}">
                <a16:creationId xmlns:a16="http://schemas.microsoft.com/office/drawing/2014/main" id="{7393D37F-7BD6-442F-B3BB-AED2140A7B28}"/>
              </a:ext>
            </a:extLst>
          </p:cNvPr>
          <p:cNvSpPr>
            <a:spLocks noGrp="1"/>
          </p:cNvSpPr>
          <p:nvPr/>
        </p:nvSpPr>
        <p:spPr>
          <a:xfrm>
            <a:off x="716280" y="4198620"/>
            <a:ext cx="4663440" cy="381000"/>
          </a:xfrm>
          <a:prstGeom prst="rect">
            <a:avLst/>
          </a:prstGeom>
          <a:noFill/>
          <a:ln w="0">
            <a:noFill/>
            <a:prstDash val="solid"/>
          </a:ln>
        </p:spPr>
        <p:txBody>
          <a:bodyPr wrap="none" lIns="0" tIns="0" rIns="0" bIns="0" anchor="ctr">
            <a:noAutofit/>
          </a:bodyPr>
          <a:lstStyle/>
          <a:p>
            <a:pPr algn="l">
              <a:defRPr sz="1600" b="1">
                <a:solidFill>
                  <a:srgbClr val="1E1E1E"/>
                </a:solidFill>
                <a:latin typeface="Inter"/>
                <a:ea typeface="Inter"/>
                <a:cs typeface="Inter"/>
              </a:defRPr>
            </a:pPr>
            <a:endParaRPr sz="1600" b="1" dirty="0">
              <a:solidFill>
                <a:srgbClr val="1E1E1E"/>
              </a:solidFill>
              <a:latin typeface="Inter"/>
              <a:ea typeface="Inter"/>
              <a:cs typeface="Inter"/>
            </a:endParaRPr>
          </a:p>
        </p:txBody>
      </p:sp>
      <p:sp>
        <p:nvSpPr>
          <p:cNvPr id="11" name="question-example-sub">
            <a:extLst>
              <a:ext uri="{FF2B5EF4-FFF2-40B4-BE49-F238E27FC236}">
                <a16:creationId xmlns:a16="http://schemas.microsoft.com/office/drawing/2014/main" id="{04D563DE-15D9-4E54-A7EF-D0692EAE13AD}"/>
              </a:ext>
            </a:extLst>
          </p:cNvPr>
          <p:cNvSpPr>
            <a:spLocks noGrp="1"/>
          </p:cNvSpPr>
          <p:nvPr/>
        </p:nvSpPr>
        <p:spPr>
          <a:xfrm>
            <a:off x="509865" y="2772429"/>
            <a:ext cx="4663440" cy="251460"/>
          </a:xfrm>
          <a:prstGeom prst="rect">
            <a:avLst/>
          </a:prstGeom>
          <a:noFill/>
          <a:ln w="0">
            <a:noFill/>
            <a:prstDash val="solid"/>
          </a:ln>
        </p:spPr>
        <p:txBody>
          <a:bodyPr wrap="none" lIns="0" tIns="0" rIns="0" bIns="0" anchor="ctr">
            <a:noAutofit/>
          </a:bodyPr>
          <a:lstStyle/>
          <a:p>
            <a:pPr algn="l">
              <a:defRPr sz="1380" b="0">
                <a:solidFill>
                  <a:srgbClr val="646464"/>
                </a:solidFill>
                <a:latin typeface="Inter"/>
                <a:ea typeface="Inter"/>
                <a:cs typeface="Inter"/>
              </a:defRPr>
            </a:pPr>
            <a:endParaRPr sz="1380" b="0" dirty="0">
              <a:solidFill>
                <a:srgbClr val="646464"/>
              </a:solidFill>
              <a:latin typeface="Inter"/>
              <a:ea typeface="Inter"/>
              <a:cs typeface="Inter"/>
            </a:endParaRPr>
          </a:p>
        </p:txBody>
      </p:sp>
      <p:sp>
        <p:nvSpPr>
          <p:cNvPr id="12" name="assistant-result">
            <a:extLst>
              <a:ext uri="{FF2B5EF4-FFF2-40B4-BE49-F238E27FC236}">
                <a16:creationId xmlns:a16="http://schemas.microsoft.com/office/drawing/2014/main" id="{6CE356D1-FE3F-4447-B9D2-4611E95EBF50}"/>
              </a:ext>
            </a:extLst>
          </p:cNvPr>
          <p:cNvSpPr>
            <a:spLocks noGrp="1"/>
          </p:cNvSpPr>
          <p:nvPr/>
        </p:nvSpPr>
        <p:spPr>
          <a:xfrm>
            <a:off x="899161" y="5544801"/>
            <a:ext cx="4998720" cy="419100"/>
          </a:xfrm>
          <a:prstGeom prst="rect">
            <a:avLst/>
          </a:prstGeom>
          <a:noFill/>
          <a:ln w="0">
            <a:noFill/>
            <a:prstDash val="solid"/>
          </a:ln>
        </p:spPr>
        <p:txBody>
          <a:bodyPr wrap="none" lIns="0" tIns="0" rIns="0" bIns="0" anchor="ctr">
            <a:noAutofit/>
          </a:bodyPr>
          <a:lstStyle/>
          <a:p>
            <a:pPr algn="l">
              <a:defRPr sz="1500" b="1">
                <a:solidFill>
                  <a:srgbClr val="4B6000"/>
                </a:solidFill>
                <a:latin typeface="Inter"/>
                <a:ea typeface="Inter"/>
                <a:cs typeface="Inter"/>
              </a:defRPr>
            </a:pPr>
            <a:r>
              <a:rPr sz="1400" b="1" dirty="0">
                <a:solidFill>
                  <a:srgbClr val="4B6000"/>
                </a:solidFill>
                <a:latin typeface="Inter"/>
                <a:ea typeface="Inter"/>
                <a:cs typeface="Inter"/>
              </a:rPr>
              <a:t>Explanation + code snippets + source files</a:t>
            </a:r>
          </a:p>
        </p:txBody>
      </p:sp>
      <p:cxnSp>
        <p:nvCxnSpPr>
          <p:cNvPr id="9213" name="Straight Arrow Connector 9212"/>
          <p:cNvCxnSpPr>
            <a:cxnSpLocks/>
            <a:stCxn id="9" idx="2"/>
          </p:cNvCxnSpPr>
          <p:nvPr/>
        </p:nvCxnSpPr>
        <p:spPr>
          <a:xfrm>
            <a:off x="3099404" y="5113699"/>
            <a:ext cx="0" cy="431102"/>
          </a:xfrm>
          <a:prstGeom prst="straightConnector1">
            <a:avLst/>
          </a:prstGeom>
          <a:ln w="22860">
            <a:solidFill>
              <a:srgbClr val="C5FF00"/>
            </a:solidFill>
            <a:prstDash val="solid"/>
            <a:tailEnd type="triangle" w="lg" len="med"/>
          </a:ln>
        </p:spPr>
      </p:cxnSp>
      <p:sp>
        <p:nvSpPr>
          <p:cNvPr id="14" name="anomaly-index">
            <a:extLst>
              <a:ext uri="{FF2B5EF4-FFF2-40B4-BE49-F238E27FC236}">
                <a16:creationId xmlns:a16="http://schemas.microsoft.com/office/drawing/2014/main" id="{F21AF3EC-E91E-4CFE-939B-DF073D922D1F}"/>
              </a:ext>
            </a:extLst>
          </p:cNvPr>
          <p:cNvSpPr>
            <a:spLocks noGrp="1"/>
          </p:cNvSpPr>
          <p:nvPr/>
        </p:nvSpPr>
        <p:spPr>
          <a:xfrm>
            <a:off x="6644640" y="1790700"/>
            <a:ext cx="914400" cy="502920"/>
          </a:xfrm>
          <a:prstGeom prst="rect">
            <a:avLst/>
          </a:prstGeom>
          <a:noFill/>
          <a:ln w="0">
            <a:noFill/>
            <a:prstDash val="solid"/>
          </a:ln>
        </p:spPr>
        <p:txBody>
          <a:bodyPr wrap="none" lIns="0" tIns="0" rIns="0" bIns="0" anchor="ctr">
            <a:noAutofit/>
          </a:bodyPr>
          <a:lstStyle/>
          <a:p>
            <a:pPr algn="l">
              <a:defRPr sz="3360" b="1">
                <a:solidFill>
                  <a:srgbClr val="9A5100"/>
                </a:solidFill>
                <a:latin typeface="Inter"/>
                <a:ea typeface="Inter"/>
                <a:cs typeface="Inter"/>
              </a:defRPr>
            </a:pPr>
            <a:r>
              <a:rPr sz="2400" b="1" dirty="0">
                <a:solidFill>
                  <a:srgbClr val="9A5100"/>
                </a:solidFill>
                <a:latin typeface="Inter"/>
                <a:ea typeface="Inter"/>
                <a:cs typeface="Inter"/>
              </a:rPr>
              <a:t>02</a:t>
            </a:r>
          </a:p>
        </p:txBody>
      </p:sp>
      <p:sp>
        <p:nvSpPr>
          <p:cNvPr id="15" name="anomaly-title">
            <a:extLst>
              <a:ext uri="{FF2B5EF4-FFF2-40B4-BE49-F238E27FC236}">
                <a16:creationId xmlns:a16="http://schemas.microsoft.com/office/drawing/2014/main" id="{DADF6605-4CFF-4AD7-87C7-F25CAB833914}"/>
              </a:ext>
            </a:extLst>
          </p:cNvPr>
          <p:cNvSpPr>
            <a:spLocks noGrp="1"/>
          </p:cNvSpPr>
          <p:nvPr/>
        </p:nvSpPr>
        <p:spPr>
          <a:xfrm>
            <a:off x="7436210" y="1778644"/>
            <a:ext cx="4998720" cy="510540"/>
          </a:xfrm>
          <a:prstGeom prst="rect">
            <a:avLst/>
          </a:prstGeom>
          <a:noFill/>
          <a:ln w="0">
            <a:noFill/>
            <a:prstDash val="solid"/>
          </a:ln>
        </p:spPr>
        <p:txBody>
          <a:bodyPr wrap="none" lIns="0" tIns="0" rIns="0" bIns="0" anchor="ctr">
            <a:noAutofit/>
          </a:bodyPr>
          <a:lstStyle/>
          <a:p>
            <a:pPr algn="l">
              <a:defRPr sz="2580" b="1">
                <a:solidFill>
                  <a:srgbClr val="1E1E1E"/>
                </a:solidFill>
                <a:latin typeface="Inter"/>
                <a:ea typeface="Inter"/>
                <a:cs typeface="Inter"/>
              </a:defRPr>
            </a:pPr>
            <a:r>
              <a:rPr sz="2400" b="1" dirty="0">
                <a:solidFill>
                  <a:srgbClr val="1E1E1E"/>
                </a:solidFill>
                <a:latin typeface="Inter"/>
                <a:ea typeface="Inter"/>
                <a:cs typeface="Inter"/>
              </a:rPr>
              <a:t>Anomaly monitoring</a:t>
            </a:r>
          </a:p>
        </p:txBody>
      </p:sp>
      <p:sp>
        <p:nvSpPr>
          <p:cNvPr id="16" name="anomaly-value">
            <a:extLst>
              <a:ext uri="{FF2B5EF4-FFF2-40B4-BE49-F238E27FC236}">
                <a16:creationId xmlns:a16="http://schemas.microsoft.com/office/drawing/2014/main" id="{D3377489-04EC-45D5-935E-E3E8F34AEFBB}"/>
              </a:ext>
            </a:extLst>
          </p:cNvPr>
          <p:cNvSpPr>
            <a:spLocks noGrp="1"/>
          </p:cNvSpPr>
          <p:nvPr/>
        </p:nvSpPr>
        <p:spPr>
          <a:xfrm>
            <a:off x="6644640" y="2214008"/>
            <a:ext cx="4998720" cy="624840"/>
          </a:xfrm>
          <a:prstGeom prst="rect">
            <a:avLst/>
          </a:prstGeom>
          <a:noFill/>
          <a:ln w="0">
            <a:noFill/>
            <a:prstDash val="solid"/>
          </a:ln>
        </p:spPr>
        <p:txBody>
          <a:bodyPr wrap="none" lIns="0" tIns="0" rIns="0" bIns="0" anchor="ctr">
            <a:noAutofit/>
          </a:bodyPr>
          <a:lstStyle/>
          <a:p>
            <a:pPr algn="l">
              <a:defRPr sz="1800" b="0">
                <a:solidFill>
                  <a:srgbClr val="646464"/>
                </a:solidFill>
                <a:latin typeface="Inter"/>
                <a:ea typeface="Inter"/>
                <a:cs typeface="Inter"/>
              </a:defRPr>
            </a:pPr>
            <a:r>
              <a:rPr sz="1400" b="0" dirty="0">
                <a:solidFill>
                  <a:srgbClr val="646464"/>
                </a:solidFill>
                <a:latin typeface="Inter"/>
                <a:ea typeface="Inter"/>
                <a:cs typeface="Inter"/>
              </a:rPr>
              <a:t>Detects unusual transactions</a:t>
            </a:r>
            <a:r>
              <a:rPr lang="en-CA" sz="1400" b="0" dirty="0">
                <a:solidFill>
                  <a:srgbClr val="646464"/>
                </a:solidFill>
                <a:latin typeface="Inter"/>
                <a:ea typeface="Inter"/>
                <a:cs typeface="Inter"/>
              </a:rPr>
              <a:t> </a:t>
            </a:r>
            <a:r>
              <a:rPr sz="1400" b="0" dirty="0">
                <a:solidFill>
                  <a:srgbClr val="646464"/>
                </a:solidFill>
                <a:latin typeface="Inter"/>
                <a:ea typeface="Inter"/>
                <a:cs typeface="Inter"/>
              </a:rPr>
              <a:t>and </a:t>
            </a:r>
            <a:r>
              <a:rPr lang="en-CA" sz="1400" b="0" dirty="0">
                <a:solidFill>
                  <a:srgbClr val="646464"/>
                </a:solidFill>
                <a:latin typeface="Inter"/>
                <a:ea typeface="Inter"/>
                <a:cs typeface="Inter"/>
              </a:rPr>
              <a:t>notifies</a:t>
            </a:r>
            <a:r>
              <a:rPr sz="1400" b="0" dirty="0">
                <a:solidFill>
                  <a:srgbClr val="646464"/>
                </a:solidFill>
                <a:latin typeface="Inter"/>
                <a:ea typeface="Inter"/>
                <a:cs typeface="Inter"/>
              </a:rPr>
              <a:t> customer</a:t>
            </a:r>
          </a:p>
        </p:txBody>
      </p:sp>
      <p:sp>
        <p:nvSpPr>
          <p:cNvPr id="17" name="incoming">
            <a:extLst>
              <a:ext uri="{FF2B5EF4-FFF2-40B4-BE49-F238E27FC236}">
                <a16:creationId xmlns:a16="http://schemas.microsoft.com/office/drawing/2014/main" id="{CE1866F1-FA73-487E-B960-49C1D6F1E0A0}"/>
              </a:ext>
            </a:extLst>
          </p:cNvPr>
          <p:cNvSpPr>
            <a:spLocks noGrp="1"/>
          </p:cNvSpPr>
          <p:nvPr/>
        </p:nvSpPr>
        <p:spPr>
          <a:xfrm>
            <a:off x="6644640" y="4539815"/>
            <a:ext cx="2308860" cy="777240"/>
          </a:xfrm>
          <a:prstGeom prst="roundRect">
            <a:avLst>
              <a:gd name="adj" fmla="val 10000"/>
            </a:avLst>
          </a:prstGeom>
          <a:solidFill>
            <a:srgbClr val="FFF0DF"/>
          </a:solidFill>
          <a:ln w="11430">
            <a:solidFill>
              <a:srgbClr val="FFF0DF"/>
            </a:solidFill>
            <a:prstDash val="solid"/>
          </a:ln>
        </p:spPr>
      </p:sp>
      <p:sp>
        <p:nvSpPr>
          <p:cNvPr id="18" name="incoming-name">
            <a:extLst>
              <a:ext uri="{FF2B5EF4-FFF2-40B4-BE49-F238E27FC236}">
                <a16:creationId xmlns:a16="http://schemas.microsoft.com/office/drawing/2014/main" id="{A5D4DC36-DBE3-4649-B574-A18C9B2EB137}"/>
              </a:ext>
            </a:extLst>
          </p:cNvPr>
          <p:cNvSpPr>
            <a:spLocks noGrp="1"/>
          </p:cNvSpPr>
          <p:nvPr/>
        </p:nvSpPr>
        <p:spPr>
          <a:xfrm>
            <a:off x="6812280" y="4539815"/>
            <a:ext cx="1973580" cy="381000"/>
          </a:xfrm>
          <a:prstGeom prst="rect">
            <a:avLst/>
          </a:prstGeom>
          <a:noFill/>
          <a:ln w="0">
            <a:noFill/>
            <a:prstDash val="solid"/>
          </a:ln>
        </p:spPr>
        <p:txBody>
          <a:bodyPr wrap="none" lIns="0" tIns="0" rIns="0" bIns="0" anchor="ctr">
            <a:noAutofit/>
          </a:bodyPr>
          <a:lstStyle/>
          <a:p>
            <a:pPr algn="l">
              <a:defRPr sz="1620" b="1">
                <a:solidFill>
                  <a:srgbClr val="1E1E1E"/>
                </a:solidFill>
                <a:latin typeface="Inter"/>
                <a:ea typeface="Inter"/>
                <a:cs typeface="Inter"/>
              </a:defRPr>
            </a:pPr>
            <a:r>
              <a:rPr sz="1400" b="1" dirty="0">
                <a:solidFill>
                  <a:srgbClr val="1E1E1E"/>
                </a:solidFill>
                <a:latin typeface="Inter"/>
                <a:ea typeface="Inter"/>
                <a:cs typeface="Inter"/>
              </a:rPr>
              <a:t>Transaction activity</a:t>
            </a:r>
          </a:p>
        </p:txBody>
      </p:sp>
      <p:sp>
        <p:nvSpPr>
          <p:cNvPr id="19" name="incoming-sub">
            <a:extLst>
              <a:ext uri="{FF2B5EF4-FFF2-40B4-BE49-F238E27FC236}">
                <a16:creationId xmlns:a16="http://schemas.microsoft.com/office/drawing/2014/main" id="{013E9851-34FE-475D-976B-B467038765B7}"/>
              </a:ext>
            </a:extLst>
          </p:cNvPr>
          <p:cNvSpPr>
            <a:spLocks noGrp="1"/>
          </p:cNvSpPr>
          <p:nvPr/>
        </p:nvSpPr>
        <p:spPr>
          <a:xfrm>
            <a:off x="6812280" y="4981775"/>
            <a:ext cx="1973580" cy="251460"/>
          </a:xfrm>
          <a:prstGeom prst="rect">
            <a:avLst/>
          </a:prstGeom>
          <a:noFill/>
          <a:ln w="0">
            <a:noFill/>
            <a:prstDash val="solid"/>
          </a:ln>
        </p:spPr>
        <p:txBody>
          <a:bodyPr wrap="none" lIns="0" tIns="0" rIns="0" bIns="0" anchor="ctr">
            <a:noAutofit/>
          </a:bodyPr>
          <a:lstStyle/>
          <a:p>
            <a:pPr algn="l">
              <a:defRPr sz="1380" b="0">
                <a:solidFill>
                  <a:srgbClr val="646464"/>
                </a:solidFill>
                <a:latin typeface="Inter"/>
                <a:ea typeface="Inter"/>
                <a:cs typeface="Inter"/>
              </a:defRPr>
            </a:pPr>
            <a:r>
              <a:rPr sz="1100" b="0" dirty="0">
                <a:solidFill>
                  <a:srgbClr val="646464"/>
                </a:solidFill>
                <a:latin typeface="Inter"/>
                <a:ea typeface="Inter"/>
                <a:cs typeface="Inter"/>
              </a:rPr>
              <a:t>Live simulation</a:t>
            </a:r>
          </a:p>
        </p:txBody>
      </p:sp>
      <p:sp>
        <p:nvSpPr>
          <p:cNvPr id="20" name="alert">
            <a:extLst>
              <a:ext uri="{FF2B5EF4-FFF2-40B4-BE49-F238E27FC236}">
                <a16:creationId xmlns:a16="http://schemas.microsoft.com/office/drawing/2014/main" id="{CE9566DA-5C68-45C2-805C-59B2EC685C30}"/>
              </a:ext>
            </a:extLst>
          </p:cNvPr>
          <p:cNvSpPr>
            <a:spLocks noGrp="1"/>
          </p:cNvSpPr>
          <p:nvPr/>
        </p:nvSpPr>
        <p:spPr>
          <a:xfrm>
            <a:off x="9334500" y="4539814"/>
            <a:ext cx="1870303" cy="777241"/>
          </a:xfrm>
          <a:prstGeom prst="roundRect">
            <a:avLst>
              <a:gd name="adj" fmla="val 10000"/>
            </a:avLst>
          </a:prstGeom>
          <a:solidFill>
            <a:srgbClr val="FFF0DF"/>
          </a:solidFill>
          <a:ln w="11430">
            <a:solidFill>
              <a:srgbClr val="FFF0DF"/>
            </a:solidFill>
            <a:prstDash val="solid"/>
          </a:ln>
        </p:spPr>
      </p:sp>
      <p:sp>
        <p:nvSpPr>
          <p:cNvPr id="21" name="alert-name">
            <a:extLst>
              <a:ext uri="{FF2B5EF4-FFF2-40B4-BE49-F238E27FC236}">
                <a16:creationId xmlns:a16="http://schemas.microsoft.com/office/drawing/2014/main" id="{625802E5-E0FB-472A-9FF2-56C1F70A1A8E}"/>
              </a:ext>
            </a:extLst>
          </p:cNvPr>
          <p:cNvSpPr>
            <a:spLocks noGrp="1"/>
          </p:cNvSpPr>
          <p:nvPr/>
        </p:nvSpPr>
        <p:spPr>
          <a:xfrm>
            <a:off x="9502140" y="4539816"/>
            <a:ext cx="1973580" cy="381000"/>
          </a:xfrm>
          <a:prstGeom prst="rect">
            <a:avLst/>
          </a:prstGeom>
          <a:noFill/>
          <a:ln w="0">
            <a:noFill/>
            <a:prstDash val="solid"/>
          </a:ln>
        </p:spPr>
        <p:txBody>
          <a:bodyPr wrap="none" lIns="0" tIns="0" rIns="0" bIns="0" anchor="ctr">
            <a:noAutofit/>
          </a:bodyPr>
          <a:lstStyle/>
          <a:p>
            <a:pPr algn="l">
              <a:defRPr sz="1620" b="1">
                <a:solidFill>
                  <a:srgbClr val="1E1E1E"/>
                </a:solidFill>
                <a:latin typeface="Inter"/>
                <a:ea typeface="Inter"/>
                <a:cs typeface="Inter"/>
              </a:defRPr>
            </a:pPr>
            <a:r>
              <a:rPr sz="1400" b="1" dirty="0">
                <a:solidFill>
                  <a:srgbClr val="1E1E1E"/>
                </a:solidFill>
                <a:latin typeface="Inter"/>
                <a:ea typeface="Inter"/>
                <a:cs typeface="Inter"/>
              </a:rPr>
              <a:t>New anomaly</a:t>
            </a:r>
          </a:p>
        </p:txBody>
      </p:sp>
      <p:sp>
        <p:nvSpPr>
          <p:cNvPr id="22" name="alert-sub">
            <a:extLst>
              <a:ext uri="{FF2B5EF4-FFF2-40B4-BE49-F238E27FC236}">
                <a16:creationId xmlns:a16="http://schemas.microsoft.com/office/drawing/2014/main" id="{3F9EBE96-296A-414E-AA4B-4DB087C975EC}"/>
              </a:ext>
            </a:extLst>
          </p:cNvPr>
          <p:cNvSpPr>
            <a:spLocks noGrp="1"/>
          </p:cNvSpPr>
          <p:nvPr/>
        </p:nvSpPr>
        <p:spPr>
          <a:xfrm>
            <a:off x="9502140" y="4981776"/>
            <a:ext cx="1973580" cy="251460"/>
          </a:xfrm>
          <a:prstGeom prst="rect">
            <a:avLst/>
          </a:prstGeom>
          <a:noFill/>
          <a:ln w="0">
            <a:noFill/>
            <a:prstDash val="solid"/>
          </a:ln>
        </p:spPr>
        <p:txBody>
          <a:bodyPr wrap="none" lIns="0" tIns="0" rIns="0" bIns="0" anchor="ctr">
            <a:noAutofit/>
          </a:bodyPr>
          <a:lstStyle/>
          <a:p>
            <a:pPr algn="l">
              <a:defRPr sz="1380" b="0">
                <a:solidFill>
                  <a:srgbClr val="646464"/>
                </a:solidFill>
                <a:latin typeface="Inter"/>
                <a:ea typeface="Inter"/>
                <a:cs typeface="Inter"/>
              </a:defRPr>
            </a:pPr>
            <a:r>
              <a:rPr sz="1100" b="0" dirty="0">
                <a:solidFill>
                  <a:srgbClr val="646464"/>
                </a:solidFill>
                <a:latin typeface="Inter"/>
                <a:ea typeface="Inter"/>
                <a:cs typeface="Inter"/>
              </a:rPr>
              <a:t>Alert recorded</a:t>
            </a:r>
          </a:p>
        </p:txBody>
      </p:sp>
      <p:cxnSp>
        <p:nvCxnSpPr>
          <p:cNvPr id="9223" name="Straight Arrow Connector 9222"/>
          <p:cNvCxnSpPr>
            <a:cxnSpLocks/>
            <a:stCxn id="17" idx="3"/>
            <a:endCxn id="20" idx="1"/>
          </p:cNvCxnSpPr>
          <p:nvPr/>
        </p:nvCxnSpPr>
        <p:spPr>
          <a:xfrm>
            <a:off x="8953500" y="4928435"/>
            <a:ext cx="381000" cy="0"/>
          </a:xfrm>
          <a:prstGeom prst="straightConnector1">
            <a:avLst/>
          </a:prstGeom>
          <a:ln w="22860">
            <a:solidFill>
              <a:srgbClr val="9A5100"/>
            </a:solidFill>
            <a:prstDash val="solid"/>
            <a:tailEnd type="triangle" w="lg" len="med"/>
          </a:ln>
        </p:spPr>
      </p:cxnSp>
      <p:sp>
        <p:nvSpPr>
          <p:cNvPr id="24" name="monitor-result">
            <a:extLst>
              <a:ext uri="{FF2B5EF4-FFF2-40B4-BE49-F238E27FC236}">
                <a16:creationId xmlns:a16="http://schemas.microsoft.com/office/drawing/2014/main" id="{38789FA0-7FB7-4CAB-B4E1-16A8BC02C888}"/>
              </a:ext>
            </a:extLst>
          </p:cNvPr>
          <p:cNvSpPr>
            <a:spLocks noGrp="1"/>
          </p:cNvSpPr>
          <p:nvPr/>
        </p:nvSpPr>
        <p:spPr>
          <a:xfrm>
            <a:off x="7002780" y="5600700"/>
            <a:ext cx="4998720" cy="419100"/>
          </a:xfrm>
          <a:prstGeom prst="rect">
            <a:avLst/>
          </a:prstGeom>
          <a:noFill/>
          <a:ln w="0">
            <a:noFill/>
            <a:prstDash val="solid"/>
          </a:ln>
        </p:spPr>
        <p:txBody>
          <a:bodyPr wrap="none" lIns="0" tIns="0" rIns="0" bIns="0" anchor="ctr">
            <a:noAutofit/>
          </a:bodyPr>
          <a:lstStyle/>
          <a:p>
            <a:pPr algn="l">
              <a:defRPr sz="1500" b="1">
                <a:solidFill>
                  <a:srgbClr val="9A5100"/>
                </a:solidFill>
                <a:latin typeface="Inter"/>
                <a:ea typeface="Inter"/>
                <a:cs typeface="Inter"/>
              </a:defRPr>
            </a:pPr>
            <a:r>
              <a:rPr sz="1400" b="1" dirty="0">
                <a:solidFill>
                  <a:srgbClr val="9A5100"/>
                </a:solidFill>
                <a:latin typeface="Inter"/>
                <a:ea typeface="Inter"/>
                <a:cs typeface="Inter"/>
              </a:rPr>
              <a:t>Customer </a:t>
            </a:r>
            <a:r>
              <a:rPr lang="en-CA" sz="1400" b="1" dirty="0">
                <a:solidFill>
                  <a:srgbClr val="9A5100"/>
                </a:solidFill>
                <a:latin typeface="Inter"/>
                <a:ea typeface="Inter"/>
                <a:cs typeface="Inter"/>
              </a:rPr>
              <a:t>gets notified via </a:t>
            </a:r>
            <a:r>
              <a:rPr sz="1400" b="1" dirty="0">
                <a:solidFill>
                  <a:srgbClr val="9A5100"/>
                </a:solidFill>
                <a:latin typeface="Inter"/>
                <a:ea typeface="Inter"/>
                <a:cs typeface="Inter"/>
              </a:rPr>
              <a:t>email</a:t>
            </a:r>
            <a:r>
              <a:rPr lang="en-CA" sz="1400" b="1" dirty="0">
                <a:solidFill>
                  <a:srgbClr val="9A5100"/>
                </a:solidFill>
                <a:latin typeface="Inter"/>
                <a:ea typeface="Inter"/>
                <a:cs typeface="Inter"/>
              </a:rPr>
              <a:t> in real-time</a:t>
            </a:r>
            <a:endParaRPr sz="1400" b="1" dirty="0">
              <a:solidFill>
                <a:srgbClr val="9A5100"/>
              </a:solidFill>
              <a:latin typeface="Inter"/>
              <a:ea typeface="Inter"/>
              <a:cs typeface="Inter"/>
            </a:endParaRPr>
          </a:p>
        </p:txBody>
      </p:sp>
      <p:cxnSp>
        <p:nvCxnSpPr>
          <p:cNvPr id="9225" name="Elbow Connector 9224"/>
          <p:cNvCxnSpPr>
            <a:cxnSpLocks/>
            <a:stCxn id="20" idx="2"/>
            <a:endCxn id="24" idx="0"/>
          </p:cNvCxnSpPr>
          <p:nvPr/>
        </p:nvCxnSpPr>
        <p:spPr>
          <a:xfrm rot="5400000">
            <a:off x="9744074" y="5075121"/>
            <a:ext cx="283645" cy="767512"/>
          </a:xfrm>
          <a:prstGeom prst="bentConnector3">
            <a:avLst>
              <a:gd name="adj1" fmla="val 50000"/>
            </a:avLst>
          </a:prstGeom>
          <a:ln w="22860">
            <a:solidFill>
              <a:srgbClr val="9A5100"/>
            </a:solidFill>
            <a:prstDash val="solid"/>
            <a:tailEnd type="triangle" w="lg" len="med"/>
          </a:ln>
        </p:spPr>
      </p:cxnSp>
      <p:sp>
        <p:nvSpPr>
          <p:cNvPr id="9201" name="Slide Number Placeholder 3">
            <a:extLst>
              <a:ext uri="{FF2B5EF4-FFF2-40B4-BE49-F238E27FC236}">
                <a16:creationId xmlns:a16="http://schemas.microsoft.com/office/drawing/2014/main" id="{E98A4731-19CE-28F0-6564-BE2C1D1F52D4}"/>
              </a:ext>
            </a:extLst>
          </p:cNvPr>
          <p:cNvSpPr>
            <a:spLocks noGrp="1"/>
          </p:cNvSpPr>
          <p:nvPr>
            <p:ph type="sldNum" idx="12"/>
          </p:nvPr>
        </p:nvSpPr>
        <p:spPr>
          <a:xfrm>
            <a:off x="315001" y="6463801"/>
            <a:ext cx="248137" cy="254509"/>
          </a:xfrm>
        </p:spPr>
        <p:txBody>
          <a:bodyPr/>
          <a:lstStyle/>
          <a:p>
            <a:pPr marL="0" marR="0" indent="0" algn="l">
              <a:spcBef>
                <a:spcPts val="0"/>
              </a:spcBef>
              <a:buNone/>
              <a:defRPr sz="900" b="1" i="0" u="none" cap="none">
                <a:solidFill>
                  <a:schemeClr val="dk1"/>
                </a:solidFill>
                <a:latin typeface="Inter"/>
                <a:ea typeface="Inter"/>
                <a:cs typeface="Inter"/>
              </a:defRPr>
            </a:pPr>
            <a:fld id="{CBA53E11-492D-48B3-9F9B-09541CA2A39A}" type="slidenum">
              <a:rPr sz="900" b="1" i="0" u="none" cap="none">
                <a:solidFill>
                  <a:schemeClr val="dk1"/>
                </a:solidFill>
                <a:latin typeface="Inter"/>
                <a:ea typeface="Inter"/>
                <a:cs typeface="Inter"/>
              </a:rPr>
              <a:t>2</a:t>
            </a:fld>
            <a:endParaRPr/>
          </a:p>
        </p:txBody>
      </p:sp>
      <p:pic>
        <p:nvPicPr>
          <p:cNvPr id="23" name="Picture 22">
            <a:extLst>
              <a:ext uri="{FF2B5EF4-FFF2-40B4-BE49-F238E27FC236}">
                <a16:creationId xmlns:a16="http://schemas.microsoft.com/office/drawing/2014/main" id="{042666AB-5041-9BC9-D79D-0C186501A36E}"/>
              </a:ext>
            </a:extLst>
          </p:cNvPr>
          <p:cNvPicPr>
            <a:picLocks noChangeAspect="1"/>
          </p:cNvPicPr>
          <p:nvPr/>
        </p:nvPicPr>
        <p:blipFill>
          <a:blip r:embed="rId3"/>
          <a:stretch>
            <a:fillRect/>
          </a:stretch>
        </p:blipFill>
        <p:spPr>
          <a:xfrm>
            <a:off x="1703069" y="2919489"/>
            <a:ext cx="2711673" cy="2074314"/>
          </a:xfrm>
          <a:prstGeom prst="rect">
            <a:avLst/>
          </a:prstGeom>
        </p:spPr>
      </p:pic>
      <p:pic>
        <p:nvPicPr>
          <p:cNvPr id="33" name="Picture 32">
            <a:extLst>
              <a:ext uri="{FF2B5EF4-FFF2-40B4-BE49-F238E27FC236}">
                <a16:creationId xmlns:a16="http://schemas.microsoft.com/office/drawing/2014/main" id="{723283BF-8568-CCEB-7606-C747FF870849}"/>
              </a:ext>
            </a:extLst>
          </p:cNvPr>
          <p:cNvPicPr>
            <a:picLocks noChangeAspect="1"/>
          </p:cNvPicPr>
          <p:nvPr/>
        </p:nvPicPr>
        <p:blipFill>
          <a:blip r:embed="rId4"/>
          <a:stretch>
            <a:fillRect/>
          </a:stretch>
        </p:blipFill>
        <p:spPr>
          <a:xfrm>
            <a:off x="7018696" y="2838848"/>
            <a:ext cx="3956920" cy="1441051"/>
          </a:xfrm>
          <a:prstGeom prst="rect">
            <a:avLst/>
          </a:prstGeom>
        </p:spPr>
      </p:pic>
    </p:spTree>
    <p:extLst>
      <p:ext uri="{BB962C8B-B14F-4D97-AF65-F5344CB8AC3E}">
        <p14:creationId xmlns:p14="http://schemas.microsoft.com/office/powerpoint/2010/main" val="965305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0" name="Title">
            <a:extLst>
              <a:ext uri="{FF2B5EF4-FFF2-40B4-BE49-F238E27FC236}">
                <a16:creationId xmlns:a16="http://schemas.microsoft.com/office/drawing/2014/main" id="{E7E89F8C-6493-4290-A6E8-080507336A6A}"/>
              </a:ext>
            </a:extLst>
          </p:cNvPr>
          <p:cNvSpPr>
            <a:spLocks noGrp="1"/>
          </p:cNvSpPr>
          <p:nvPr/>
        </p:nvSpPr>
        <p:spPr>
          <a:xfrm>
            <a:off x="509865" y="380000"/>
            <a:ext cx="11172270" cy="560000"/>
          </a:xfrm>
          <a:prstGeom prst="rect">
            <a:avLst/>
          </a:prstGeom>
        </p:spPr>
        <p:txBody>
          <a:bodyPr wrap="square" lIns="91440" tIns="45720" rIns="91440" bIns="45720" anchor="t"/>
          <a:lstStyle/>
          <a:p>
            <a:pPr algn="l">
              <a:buNone/>
            </a:pPr>
            <a:r>
              <a:rPr sz="2400" b="1" dirty="0">
                <a:solidFill>
                  <a:srgbClr val="000000"/>
                </a:solidFill>
                <a:latin typeface="Inter"/>
                <a:ea typeface="Inter"/>
                <a:cs typeface="Inter"/>
              </a:rPr>
              <a:t>RAG indexing: code</a:t>
            </a:r>
            <a:r>
              <a:rPr lang="en-CA" sz="2400" b="1" dirty="0">
                <a:solidFill>
                  <a:srgbClr val="000000"/>
                </a:solidFill>
                <a:latin typeface="Inter"/>
                <a:ea typeface="Inter"/>
                <a:cs typeface="Inter"/>
              </a:rPr>
              <a:t>-base</a:t>
            </a:r>
            <a:r>
              <a:rPr sz="2400" b="1" dirty="0">
                <a:solidFill>
                  <a:srgbClr val="000000"/>
                </a:solidFill>
                <a:latin typeface="Inter"/>
                <a:ea typeface="Inter"/>
                <a:cs typeface="Inter"/>
              </a:rPr>
              <a:t> becomes searchable vectors</a:t>
            </a:r>
          </a:p>
        </p:txBody>
      </p:sp>
      <p:sp>
        <p:nvSpPr>
          <p:cNvPr id="9101" name="Accent">
            <a:extLst>
              <a:ext uri="{FF2B5EF4-FFF2-40B4-BE49-F238E27FC236}">
                <a16:creationId xmlns:a16="http://schemas.microsoft.com/office/drawing/2014/main" id="{4521394B-A644-4F23-AB01-393CD9936336}"/>
              </a:ext>
            </a:extLst>
          </p:cNvPr>
          <p:cNvSpPr>
            <a:spLocks noGrp="1"/>
          </p:cNvSpPr>
          <p:nvPr/>
        </p:nvSpPr>
        <p:spPr>
          <a:xfrm>
            <a:off x="520000" y="970000"/>
            <a:ext cx="560000" cy="72000"/>
          </a:xfrm>
          <a:prstGeom prst="rect">
            <a:avLst/>
          </a:prstGeom>
          <a:solidFill>
            <a:srgbClr val="C5FF00"/>
          </a:solidFill>
        </p:spPr>
        <p:txBody>
          <a:bodyPr wrap="square" lIns="91440" tIns="45720" rIns="91440" bIns="45720" anchor="t"/>
          <a:lstStyle/>
          <a:p>
            <a:pPr algn="l">
              <a:buNone/>
            </a:pPr>
            <a:endParaRPr/>
          </a:p>
        </p:txBody>
      </p:sp>
      <p:sp>
        <p:nvSpPr>
          <p:cNvPr id="2" name="subtitle">
            <a:extLst>
              <a:ext uri="{FF2B5EF4-FFF2-40B4-BE49-F238E27FC236}">
                <a16:creationId xmlns:a16="http://schemas.microsoft.com/office/drawing/2014/main" id="{393D9040-024F-4705-9D07-48DC2CA5968D}"/>
              </a:ext>
            </a:extLst>
          </p:cNvPr>
          <p:cNvSpPr>
            <a:spLocks noGrp="1"/>
          </p:cNvSpPr>
          <p:nvPr/>
        </p:nvSpPr>
        <p:spPr>
          <a:xfrm>
            <a:off x="563880" y="1089660"/>
            <a:ext cx="11049000" cy="304800"/>
          </a:xfrm>
          <a:prstGeom prst="rect">
            <a:avLst/>
          </a:prstGeom>
          <a:noFill/>
          <a:ln w="0">
            <a:noFill/>
            <a:prstDash val="solid"/>
          </a:ln>
        </p:spPr>
        <p:txBody>
          <a:bodyPr wrap="none" lIns="0" tIns="0" rIns="0" bIns="0" anchor="ctr">
            <a:noAutofit/>
          </a:bodyPr>
          <a:lstStyle/>
          <a:p>
            <a:pPr algn="l">
              <a:defRPr sz="1600" b="0">
                <a:solidFill>
                  <a:srgbClr val="1E1E1E"/>
                </a:solidFill>
                <a:latin typeface="Inter"/>
                <a:ea typeface="Inter"/>
                <a:cs typeface="Inter"/>
              </a:defRPr>
            </a:pPr>
            <a:r>
              <a:rPr sz="1600" b="0">
                <a:solidFill>
                  <a:srgbClr val="1E1E1E"/>
                </a:solidFill>
                <a:latin typeface="Inter"/>
                <a:ea typeface="Inter"/>
                <a:cs typeface="Inter"/>
              </a:rPr>
              <a:t>Retrieval-augmented generation (RAG) starts with the codebase</a:t>
            </a:r>
          </a:p>
        </p:txBody>
      </p:sp>
      <p:sp>
        <p:nvSpPr>
          <p:cNvPr id="5" name="source-step-number">
            <a:extLst>
              <a:ext uri="{FF2B5EF4-FFF2-40B4-BE49-F238E27FC236}">
                <a16:creationId xmlns:a16="http://schemas.microsoft.com/office/drawing/2014/main" id="{AE7F2163-395C-4C8C-A535-5ACA7A982F4D}"/>
              </a:ext>
            </a:extLst>
          </p:cNvPr>
          <p:cNvSpPr>
            <a:spLocks noGrp="1"/>
          </p:cNvSpPr>
          <p:nvPr/>
        </p:nvSpPr>
        <p:spPr>
          <a:xfrm>
            <a:off x="548640" y="1706880"/>
            <a:ext cx="2057400" cy="266700"/>
          </a:xfrm>
          <a:prstGeom prst="rect">
            <a:avLst/>
          </a:prstGeom>
          <a:noFill/>
          <a:ln w="0">
            <a:noFill/>
            <a:prstDash val="solid"/>
          </a:ln>
        </p:spPr>
        <p:txBody>
          <a:bodyPr wrap="none" lIns="0" tIns="0" rIns="0" bIns="0" anchor="ctr">
            <a:noAutofit/>
          </a:bodyPr>
          <a:lstStyle/>
          <a:p>
            <a:pPr algn="l">
              <a:defRPr sz="1260" b="1">
                <a:solidFill>
                  <a:srgbClr val="1E1E1E"/>
                </a:solidFill>
                <a:latin typeface="Inter"/>
                <a:ea typeface="Inter"/>
                <a:cs typeface="Inter"/>
              </a:defRPr>
            </a:pPr>
            <a:r>
              <a:rPr sz="1260" b="1">
                <a:solidFill>
                  <a:srgbClr val="1E1E1E"/>
                </a:solidFill>
                <a:latin typeface="Inter"/>
                <a:ea typeface="Inter"/>
                <a:cs typeface="Inter"/>
              </a:rPr>
              <a:t>01</a:t>
            </a:r>
          </a:p>
        </p:txBody>
      </p:sp>
      <p:sp>
        <p:nvSpPr>
          <p:cNvPr id="6" name="source-step-title">
            <a:extLst>
              <a:ext uri="{FF2B5EF4-FFF2-40B4-BE49-F238E27FC236}">
                <a16:creationId xmlns:a16="http://schemas.microsoft.com/office/drawing/2014/main" id="{2083B6EB-12FA-4DDA-8410-7503B1F09BA1}"/>
              </a:ext>
            </a:extLst>
          </p:cNvPr>
          <p:cNvSpPr>
            <a:spLocks noGrp="1"/>
          </p:cNvSpPr>
          <p:nvPr/>
        </p:nvSpPr>
        <p:spPr>
          <a:xfrm>
            <a:off x="548640" y="2072640"/>
            <a:ext cx="2057400" cy="342900"/>
          </a:xfrm>
          <a:prstGeom prst="rect">
            <a:avLst/>
          </a:prstGeom>
          <a:noFill/>
          <a:ln w="0">
            <a:noFill/>
            <a:prstDash val="solid"/>
          </a:ln>
        </p:spPr>
        <p:txBody>
          <a:bodyPr wrap="none" lIns="0" tIns="0" rIns="0" bIns="0" anchor="ctr">
            <a:noAutofit/>
          </a:bodyPr>
          <a:lstStyle/>
          <a:p>
            <a:pPr algn="l">
              <a:defRPr sz="1860" b="1">
                <a:solidFill>
                  <a:srgbClr val="1E1E1E"/>
                </a:solidFill>
                <a:latin typeface="Inter"/>
                <a:ea typeface="Inter"/>
                <a:cs typeface="Inter"/>
              </a:defRPr>
            </a:pPr>
            <a:r>
              <a:rPr sz="1860" b="1" dirty="0">
                <a:solidFill>
                  <a:srgbClr val="1E1E1E"/>
                </a:solidFill>
                <a:latin typeface="Inter"/>
                <a:ea typeface="Inter"/>
                <a:cs typeface="Inter"/>
              </a:rPr>
              <a:t>Source code</a:t>
            </a:r>
          </a:p>
        </p:txBody>
      </p:sp>
      <p:sp>
        <p:nvSpPr>
          <p:cNvPr id="7" name="source-step-caption">
            <a:extLst>
              <a:ext uri="{FF2B5EF4-FFF2-40B4-BE49-F238E27FC236}">
                <a16:creationId xmlns:a16="http://schemas.microsoft.com/office/drawing/2014/main" id="{B560FCA6-35B9-46CF-A682-E6351363D25C}"/>
              </a:ext>
            </a:extLst>
          </p:cNvPr>
          <p:cNvSpPr>
            <a:spLocks noGrp="1"/>
          </p:cNvSpPr>
          <p:nvPr/>
        </p:nvSpPr>
        <p:spPr>
          <a:xfrm>
            <a:off x="548640" y="2453640"/>
            <a:ext cx="2057400" cy="495300"/>
          </a:xfrm>
          <a:prstGeom prst="rect">
            <a:avLst/>
          </a:prstGeom>
          <a:noFill/>
          <a:ln w="0">
            <a:noFill/>
            <a:prstDash val="solid"/>
          </a:ln>
        </p:spPr>
        <p:txBody>
          <a:bodyPr wrap="none" lIns="0" tIns="0" rIns="0" bIns="0" anchor="ctr">
            <a:noAutofit/>
          </a:bodyPr>
          <a:lstStyle/>
          <a:p>
            <a:pPr algn="l">
              <a:defRPr sz="1440" b="0">
                <a:solidFill>
                  <a:srgbClr val="646464"/>
                </a:solidFill>
                <a:latin typeface="Inter"/>
                <a:ea typeface="Inter"/>
                <a:cs typeface="Inter"/>
              </a:defRPr>
            </a:pPr>
            <a:r>
              <a:rPr sz="1440" b="0" dirty="0">
                <a:solidFill>
                  <a:srgbClr val="646464"/>
                </a:solidFill>
                <a:latin typeface="Inter"/>
                <a:ea typeface="Inter"/>
                <a:cs typeface="Inter"/>
              </a:rPr>
              <a:t>React frontend</a:t>
            </a:r>
            <a:r>
              <a:rPr lang="en-CA" sz="1440" b="0" dirty="0">
                <a:solidFill>
                  <a:srgbClr val="646464"/>
                </a:solidFill>
                <a:latin typeface="Inter"/>
                <a:ea typeface="Inter"/>
                <a:cs typeface="Inter"/>
              </a:rPr>
              <a:t> +</a:t>
            </a:r>
            <a:endParaRPr sz="1440" b="0" dirty="0">
              <a:solidFill>
                <a:srgbClr val="646464"/>
              </a:solidFill>
              <a:latin typeface="Inter"/>
              <a:ea typeface="Inter"/>
              <a:cs typeface="Inter"/>
            </a:endParaRPr>
          </a:p>
          <a:p>
            <a:pPr algn="l">
              <a:defRPr sz="1440" b="0">
                <a:solidFill>
                  <a:srgbClr val="646464"/>
                </a:solidFill>
                <a:latin typeface="Inter"/>
                <a:ea typeface="Inter"/>
                <a:cs typeface="Inter"/>
              </a:defRPr>
            </a:pPr>
            <a:r>
              <a:rPr sz="1440" b="0" dirty="0">
                <a:solidFill>
                  <a:srgbClr val="646464"/>
                </a:solidFill>
                <a:latin typeface="Inter"/>
                <a:ea typeface="Inter"/>
                <a:cs typeface="Inter"/>
              </a:rPr>
              <a:t>Spring Boot backend</a:t>
            </a:r>
          </a:p>
        </p:txBody>
      </p:sp>
      <p:sp>
        <p:nvSpPr>
          <p:cNvPr id="8" name="chunk-step-number">
            <a:extLst>
              <a:ext uri="{FF2B5EF4-FFF2-40B4-BE49-F238E27FC236}">
                <a16:creationId xmlns:a16="http://schemas.microsoft.com/office/drawing/2014/main" id="{A1BAE5B9-3C7E-41F5-8697-1A113E14C1B6}"/>
              </a:ext>
            </a:extLst>
          </p:cNvPr>
          <p:cNvSpPr>
            <a:spLocks noGrp="1"/>
          </p:cNvSpPr>
          <p:nvPr/>
        </p:nvSpPr>
        <p:spPr>
          <a:xfrm>
            <a:off x="3040380" y="1706880"/>
            <a:ext cx="2628900" cy="266700"/>
          </a:xfrm>
          <a:prstGeom prst="rect">
            <a:avLst/>
          </a:prstGeom>
          <a:noFill/>
          <a:ln w="0">
            <a:noFill/>
            <a:prstDash val="solid"/>
          </a:ln>
        </p:spPr>
        <p:txBody>
          <a:bodyPr wrap="none" lIns="0" tIns="0" rIns="0" bIns="0" anchor="ctr">
            <a:noAutofit/>
          </a:bodyPr>
          <a:lstStyle/>
          <a:p>
            <a:pPr algn="l">
              <a:defRPr sz="1260" b="1">
                <a:solidFill>
                  <a:srgbClr val="1E1E1E"/>
                </a:solidFill>
                <a:latin typeface="Inter"/>
                <a:ea typeface="Inter"/>
                <a:cs typeface="Inter"/>
              </a:defRPr>
            </a:pPr>
            <a:r>
              <a:rPr sz="1260" b="1">
                <a:solidFill>
                  <a:srgbClr val="1E1E1E"/>
                </a:solidFill>
                <a:latin typeface="Inter"/>
                <a:ea typeface="Inter"/>
                <a:cs typeface="Inter"/>
              </a:rPr>
              <a:t>02</a:t>
            </a:r>
          </a:p>
        </p:txBody>
      </p:sp>
      <p:sp>
        <p:nvSpPr>
          <p:cNvPr id="9" name="chunk-step-title">
            <a:extLst>
              <a:ext uri="{FF2B5EF4-FFF2-40B4-BE49-F238E27FC236}">
                <a16:creationId xmlns:a16="http://schemas.microsoft.com/office/drawing/2014/main" id="{09E29C34-73FB-4801-B8E2-F17CBDD89161}"/>
              </a:ext>
            </a:extLst>
          </p:cNvPr>
          <p:cNvSpPr>
            <a:spLocks noGrp="1"/>
          </p:cNvSpPr>
          <p:nvPr/>
        </p:nvSpPr>
        <p:spPr>
          <a:xfrm>
            <a:off x="3040380" y="2072640"/>
            <a:ext cx="2628900" cy="342900"/>
          </a:xfrm>
          <a:prstGeom prst="rect">
            <a:avLst/>
          </a:prstGeom>
          <a:noFill/>
          <a:ln w="0">
            <a:noFill/>
            <a:prstDash val="solid"/>
          </a:ln>
        </p:spPr>
        <p:txBody>
          <a:bodyPr wrap="none" lIns="0" tIns="0" rIns="0" bIns="0" anchor="ctr">
            <a:noAutofit/>
          </a:bodyPr>
          <a:lstStyle/>
          <a:p>
            <a:pPr algn="l">
              <a:defRPr sz="1860" b="1">
                <a:solidFill>
                  <a:srgbClr val="1E1E1E"/>
                </a:solidFill>
                <a:latin typeface="Inter"/>
                <a:ea typeface="Inter"/>
                <a:cs typeface="Inter"/>
              </a:defRPr>
            </a:pPr>
            <a:r>
              <a:rPr sz="1860" b="1" dirty="0">
                <a:solidFill>
                  <a:srgbClr val="1E1E1E"/>
                </a:solidFill>
                <a:latin typeface="Inter"/>
                <a:ea typeface="Inter"/>
                <a:cs typeface="Inter"/>
              </a:rPr>
              <a:t>Chunk + </a:t>
            </a:r>
            <a:r>
              <a:rPr lang="en-CA" sz="1860" b="1" dirty="0">
                <a:solidFill>
                  <a:srgbClr val="1E1E1E"/>
                </a:solidFill>
                <a:latin typeface="Inter"/>
                <a:ea typeface="Inter"/>
                <a:cs typeface="Inter"/>
              </a:rPr>
              <a:t>Index</a:t>
            </a:r>
            <a:endParaRPr sz="1860" b="1" dirty="0">
              <a:solidFill>
                <a:srgbClr val="1E1E1E"/>
              </a:solidFill>
              <a:latin typeface="Inter"/>
              <a:ea typeface="Inter"/>
              <a:cs typeface="Inter"/>
            </a:endParaRPr>
          </a:p>
        </p:txBody>
      </p:sp>
      <p:sp>
        <p:nvSpPr>
          <p:cNvPr id="10" name="chunk-step-caption">
            <a:extLst>
              <a:ext uri="{FF2B5EF4-FFF2-40B4-BE49-F238E27FC236}">
                <a16:creationId xmlns:a16="http://schemas.microsoft.com/office/drawing/2014/main" id="{5604340F-3C83-4C4C-AC4E-822279DF64A2}"/>
              </a:ext>
            </a:extLst>
          </p:cNvPr>
          <p:cNvSpPr>
            <a:spLocks noGrp="1"/>
          </p:cNvSpPr>
          <p:nvPr/>
        </p:nvSpPr>
        <p:spPr>
          <a:xfrm>
            <a:off x="3040380" y="2453640"/>
            <a:ext cx="2628900" cy="495300"/>
          </a:xfrm>
          <a:prstGeom prst="rect">
            <a:avLst/>
          </a:prstGeom>
          <a:noFill/>
          <a:ln w="0">
            <a:noFill/>
            <a:prstDash val="solid"/>
          </a:ln>
        </p:spPr>
        <p:txBody>
          <a:bodyPr wrap="none" lIns="0" tIns="0" rIns="0" bIns="0" anchor="ctr">
            <a:noAutofit/>
          </a:bodyPr>
          <a:lstStyle/>
          <a:p>
            <a:pPr algn="l">
              <a:defRPr sz="1440" b="0">
                <a:solidFill>
                  <a:srgbClr val="646464"/>
                </a:solidFill>
                <a:latin typeface="Inter"/>
                <a:ea typeface="Inter"/>
                <a:cs typeface="Inter"/>
              </a:defRPr>
            </a:pPr>
            <a:r>
              <a:rPr sz="1440" b="0" dirty="0">
                <a:solidFill>
                  <a:srgbClr val="646464"/>
                </a:solidFill>
                <a:latin typeface="Inter"/>
                <a:ea typeface="Inter"/>
                <a:cs typeface="Inter"/>
              </a:rPr>
              <a:t>Tree-sitter parses code</a:t>
            </a:r>
          </a:p>
          <a:p>
            <a:pPr>
              <a:defRPr sz="1440" b="0">
                <a:solidFill>
                  <a:srgbClr val="646464"/>
                </a:solidFill>
                <a:latin typeface="Inter"/>
                <a:ea typeface="Inter"/>
                <a:cs typeface="Inter"/>
              </a:defRPr>
            </a:pPr>
            <a:r>
              <a:rPr lang="en-CA" sz="1440" dirty="0">
                <a:solidFill>
                  <a:srgbClr val="646464"/>
                </a:solidFill>
                <a:latin typeface="Inter"/>
                <a:ea typeface="Inter"/>
                <a:cs typeface="Inter"/>
              </a:rPr>
              <a:t>with hierarchical structure</a:t>
            </a:r>
            <a:endParaRPr sz="1440" b="0" dirty="0">
              <a:solidFill>
                <a:srgbClr val="646464"/>
              </a:solidFill>
              <a:latin typeface="Inter"/>
              <a:ea typeface="Inter"/>
              <a:cs typeface="Inter"/>
            </a:endParaRPr>
          </a:p>
        </p:txBody>
      </p:sp>
      <p:sp>
        <p:nvSpPr>
          <p:cNvPr id="11" name="embed-step-number">
            <a:extLst>
              <a:ext uri="{FF2B5EF4-FFF2-40B4-BE49-F238E27FC236}">
                <a16:creationId xmlns:a16="http://schemas.microsoft.com/office/drawing/2014/main" id="{7EC42D58-B187-4D9A-BFAF-4C917FAE2310}"/>
              </a:ext>
            </a:extLst>
          </p:cNvPr>
          <p:cNvSpPr>
            <a:spLocks noGrp="1"/>
          </p:cNvSpPr>
          <p:nvPr/>
        </p:nvSpPr>
        <p:spPr>
          <a:xfrm>
            <a:off x="6530340" y="1706880"/>
            <a:ext cx="2286000" cy="266700"/>
          </a:xfrm>
          <a:prstGeom prst="rect">
            <a:avLst/>
          </a:prstGeom>
          <a:noFill/>
          <a:ln w="0">
            <a:noFill/>
            <a:prstDash val="solid"/>
          </a:ln>
        </p:spPr>
        <p:txBody>
          <a:bodyPr wrap="none" lIns="0" tIns="0" rIns="0" bIns="0" anchor="ctr">
            <a:noAutofit/>
          </a:bodyPr>
          <a:lstStyle/>
          <a:p>
            <a:pPr algn="l">
              <a:defRPr sz="1260" b="1">
                <a:solidFill>
                  <a:srgbClr val="1E1E1E"/>
                </a:solidFill>
                <a:latin typeface="Inter"/>
                <a:ea typeface="Inter"/>
                <a:cs typeface="Inter"/>
              </a:defRPr>
            </a:pPr>
            <a:r>
              <a:rPr sz="1260" b="1">
                <a:solidFill>
                  <a:srgbClr val="1E1E1E"/>
                </a:solidFill>
                <a:latin typeface="Inter"/>
                <a:ea typeface="Inter"/>
                <a:cs typeface="Inter"/>
              </a:rPr>
              <a:t>03</a:t>
            </a:r>
          </a:p>
        </p:txBody>
      </p:sp>
      <p:sp>
        <p:nvSpPr>
          <p:cNvPr id="12" name="embed-step-title">
            <a:extLst>
              <a:ext uri="{FF2B5EF4-FFF2-40B4-BE49-F238E27FC236}">
                <a16:creationId xmlns:a16="http://schemas.microsoft.com/office/drawing/2014/main" id="{84057680-3CCA-4A08-B5E5-DC923C65BC63}"/>
              </a:ext>
            </a:extLst>
          </p:cNvPr>
          <p:cNvSpPr>
            <a:spLocks noGrp="1"/>
          </p:cNvSpPr>
          <p:nvPr/>
        </p:nvSpPr>
        <p:spPr>
          <a:xfrm>
            <a:off x="6530340" y="2072640"/>
            <a:ext cx="2286000" cy="342900"/>
          </a:xfrm>
          <a:prstGeom prst="rect">
            <a:avLst/>
          </a:prstGeom>
          <a:noFill/>
          <a:ln w="0">
            <a:noFill/>
            <a:prstDash val="solid"/>
          </a:ln>
        </p:spPr>
        <p:txBody>
          <a:bodyPr wrap="none" lIns="0" tIns="0" rIns="0" bIns="0" anchor="ctr">
            <a:noAutofit/>
          </a:bodyPr>
          <a:lstStyle/>
          <a:p>
            <a:pPr algn="l">
              <a:defRPr sz="1860" b="1">
                <a:solidFill>
                  <a:srgbClr val="1E1E1E"/>
                </a:solidFill>
                <a:latin typeface="Inter"/>
                <a:ea typeface="Inter"/>
                <a:cs typeface="Inter"/>
              </a:defRPr>
            </a:pPr>
            <a:r>
              <a:rPr sz="1860" b="1">
                <a:solidFill>
                  <a:srgbClr val="1E1E1E"/>
                </a:solidFill>
                <a:latin typeface="Inter"/>
                <a:ea typeface="Inter"/>
                <a:cs typeface="Inter"/>
              </a:rPr>
              <a:t>Create embeddings</a:t>
            </a:r>
          </a:p>
        </p:txBody>
      </p:sp>
      <p:sp>
        <p:nvSpPr>
          <p:cNvPr id="13" name="embed-step-caption">
            <a:extLst>
              <a:ext uri="{FF2B5EF4-FFF2-40B4-BE49-F238E27FC236}">
                <a16:creationId xmlns:a16="http://schemas.microsoft.com/office/drawing/2014/main" id="{536CC72E-CE3A-45FC-B5A9-ED9A296B7CFA}"/>
              </a:ext>
            </a:extLst>
          </p:cNvPr>
          <p:cNvSpPr>
            <a:spLocks noGrp="1"/>
          </p:cNvSpPr>
          <p:nvPr/>
        </p:nvSpPr>
        <p:spPr>
          <a:xfrm>
            <a:off x="6530340" y="2453640"/>
            <a:ext cx="2286000" cy="495300"/>
          </a:xfrm>
          <a:prstGeom prst="rect">
            <a:avLst/>
          </a:prstGeom>
          <a:noFill/>
          <a:ln w="0">
            <a:noFill/>
            <a:prstDash val="solid"/>
          </a:ln>
        </p:spPr>
        <p:txBody>
          <a:bodyPr wrap="none" lIns="0" tIns="0" rIns="0" bIns="0" anchor="ctr">
            <a:noAutofit/>
          </a:bodyPr>
          <a:lstStyle/>
          <a:p>
            <a:pPr algn="l">
              <a:defRPr sz="1440" b="0">
                <a:solidFill>
                  <a:srgbClr val="646464"/>
                </a:solidFill>
                <a:latin typeface="Inter"/>
                <a:ea typeface="Inter"/>
                <a:cs typeface="Inter"/>
              </a:defRPr>
            </a:pPr>
            <a:r>
              <a:rPr sz="1440" b="0">
                <a:solidFill>
                  <a:srgbClr val="646464"/>
                </a:solidFill>
                <a:latin typeface="Inter"/>
                <a:ea typeface="Inter"/>
                <a:cs typeface="Inter"/>
              </a:rPr>
              <a:t>Code meaning</a:t>
            </a:r>
          </a:p>
          <a:p>
            <a:pPr algn="l">
              <a:defRPr sz="1440" b="0">
                <a:solidFill>
                  <a:srgbClr val="646464"/>
                </a:solidFill>
                <a:latin typeface="Inter"/>
                <a:ea typeface="Inter"/>
                <a:cs typeface="Inter"/>
              </a:defRPr>
            </a:pPr>
            <a:r>
              <a:rPr sz="1440" b="0">
                <a:solidFill>
                  <a:srgbClr val="646464"/>
                </a:solidFill>
                <a:latin typeface="Inter"/>
                <a:ea typeface="Inter"/>
                <a:cs typeface="Inter"/>
              </a:rPr>
              <a:t>represented as numbers</a:t>
            </a:r>
          </a:p>
        </p:txBody>
      </p:sp>
      <p:sp>
        <p:nvSpPr>
          <p:cNvPr id="14" name="store-step-number">
            <a:extLst>
              <a:ext uri="{FF2B5EF4-FFF2-40B4-BE49-F238E27FC236}">
                <a16:creationId xmlns:a16="http://schemas.microsoft.com/office/drawing/2014/main" id="{47D7F55A-C413-45D6-8765-FCA847453140}"/>
              </a:ext>
            </a:extLst>
          </p:cNvPr>
          <p:cNvSpPr>
            <a:spLocks noGrp="1"/>
          </p:cNvSpPr>
          <p:nvPr/>
        </p:nvSpPr>
        <p:spPr>
          <a:xfrm>
            <a:off x="9677400" y="1706880"/>
            <a:ext cx="1965960" cy="266700"/>
          </a:xfrm>
          <a:prstGeom prst="rect">
            <a:avLst/>
          </a:prstGeom>
          <a:noFill/>
          <a:ln w="0">
            <a:noFill/>
            <a:prstDash val="solid"/>
          </a:ln>
        </p:spPr>
        <p:txBody>
          <a:bodyPr wrap="none" lIns="0" tIns="0" rIns="0" bIns="0" anchor="ctr">
            <a:noAutofit/>
          </a:bodyPr>
          <a:lstStyle/>
          <a:p>
            <a:pPr algn="l">
              <a:defRPr sz="1260" b="1">
                <a:solidFill>
                  <a:srgbClr val="1E1E1E"/>
                </a:solidFill>
                <a:latin typeface="Inter"/>
                <a:ea typeface="Inter"/>
                <a:cs typeface="Inter"/>
              </a:defRPr>
            </a:pPr>
            <a:r>
              <a:rPr sz="1260" b="1">
                <a:solidFill>
                  <a:srgbClr val="1E1E1E"/>
                </a:solidFill>
                <a:latin typeface="Inter"/>
                <a:ea typeface="Inter"/>
                <a:cs typeface="Inter"/>
              </a:rPr>
              <a:t>04</a:t>
            </a:r>
          </a:p>
        </p:txBody>
      </p:sp>
      <p:sp>
        <p:nvSpPr>
          <p:cNvPr id="15" name="store-step-title">
            <a:extLst>
              <a:ext uri="{FF2B5EF4-FFF2-40B4-BE49-F238E27FC236}">
                <a16:creationId xmlns:a16="http://schemas.microsoft.com/office/drawing/2014/main" id="{C4FCF0BC-931F-4815-9A14-CE2CED42B48D}"/>
              </a:ext>
            </a:extLst>
          </p:cNvPr>
          <p:cNvSpPr>
            <a:spLocks noGrp="1"/>
          </p:cNvSpPr>
          <p:nvPr/>
        </p:nvSpPr>
        <p:spPr>
          <a:xfrm>
            <a:off x="9677400" y="2072640"/>
            <a:ext cx="1965960" cy="342900"/>
          </a:xfrm>
          <a:prstGeom prst="rect">
            <a:avLst/>
          </a:prstGeom>
          <a:noFill/>
          <a:ln w="0">
            <a:noFill/>
            <a:prstDash val="solid"/>
          </a:ln>
        </p:spPr>
        <p:txBody>
          <a:bodyPr wrap="none" lIns="0" tIns="0" rIns="0" bIns="0" anchor="ctr">
            <a:noAutofit/>
          </a:bodyPr>
          <a:lstStyle/>
          <a:p>
            <a:pPr algn="l">
              <a:defRPr sz="1860" b="1">
                <a:solidFill>
                  <a:srgbClr val="1E1E1E"/>
                </a:solidFill>
                <a:latin typeface="Inter"/>
                <a:ea typeface="Inter"/>
                <a:cs typeface="Inter"/>
              </a:defRPr>
            </a:pPr>
            <a:r>
              <a:rPr sz="1860" b="1">
                <a:solidFill>
                  <a:srgbClr val="1E1E1E"/>
                </a:solidFill>
                <a:latin typeface="Inter"/>
                <a:ea typeface="Inter"/>
                <a:cs typeface="Inter"/>
              </a:rPr>
              <a:t>Store in LanceDB</a:t>
            </a:r>
          </a:p>
        </p:txBody>
      </p:sp>
      <p:sp>
        <p:nvSpPr>
          <p:cNvPr id="16" name="store-step-caption">
            <a:extLst>
              <a:ext uri="{FF2B5EF4-FFF2-40B4-BE49-F238E27FC236}">
                <a16:creationId xmlns:a16="http://schemas.microsoft.com/office/drawing/2014/main" id="{43FD4E76-A066-4720-A040-6639A2FEA00E}"/>
              </a:ext>
            </a:extLst>
          </p:cNvPr>
          <p:cNvSpPr>
            <a:spLocks noGrp="1"/>
          </p:cNvSpPr>
          <p:nvPr/>
        </p:nvSpPr>
        <p:spPr>
          <a:xfrm>
            <a:off x="9677400" y="2453640"/>
            <a:ext cx="1965960" cy="495300"/>
          </a:xfrm>
          <a:prstGeom prst="rect">
            <a:avLst/>
          </a:prstGeom>
          <a:noFill/>
          <a:ln w="0">
            <a:noFill/>
            <a:prstDash val="solid"/>
          </a:ln>
        </p:spPr>
        <p:txBody>
          <a:bodyPr wrap="none" lIns="0" tIns="0" rIns="0" bIns="0" anchor="ctr">
            <a:noAutofit/>
          </a:bodyPr>
          <a:lstStyle/>
          <a:p>
            <a:pPr algn="l">
              <a:defRPr sz="1440" b="0">
                <a:solidFill>
                  <a:srgbClr val="646464"/>
                </a:solidFill>
                <a:latin typeface="Inter"/>
                <a:ea typeface="Inter"/>
                <a:cs typeface="Inter"/>
              </a:defRPr>
            </a:pPr>
            <a:r>
              <a:rPr sz="1440" b="0">
                <a:solidFill>
                  <a:srgbClr val="646464"/>
                </a:solidFill>
                <a:latin typeface="Inter"/>
                <a:ea typeface="Inter"/>
                <a:cs typeface="Inter"/>
              </a:rPr>
              <a:t>Vectors, code and</a:t>
            </a:r>
          </a:p>
          <a:p>
            <a:pPr algn="l">
              <a:defRPr sz="1440" b="0">
                <a:solidFill>
                  <a:srgbClr val="646464"/>
                </a:solidFill>
                <a:latin typeface="Inter"/>
                <a:ea typeface="Inter"/>
                <a:cs typeface="Inter"/>
              </a:defRPr>
            </a:pPr>
            <a:r>
              <a:rPr sz="1440" b="0">
                <a:solidFill>
                  <a:srgbClr val="646464"/>
                </a:solidFill>
                <a:latin typeface="Inter"/>
                <a:ea typeface="Inter"/>
                <a:cs typeface="Inter"/>
              </a:rPr>
              <a:t>source references</a:t>
            </a:r>
          </a:p>
        </p:txBody>
      </p:sp>
      <p:sp>
        <p:nvSpPr>
          <p:cNvPr id="17" name="source">
            <a:extLst>
              <a:ext uri="{FF2B5EF4-FFF2-40B4-BE49-F238E27FC236}">
                <a16:creationId xmlns:a16="http://schemas.microsoft.com/office/drawing/2014/main" id="{B22AE19C-B461-44BC-B1F3-DE0D2B0EC42D}"/>
              </a:ext>
            </a:extLst>
          </p:cNvPr>
          <p:cNvSpPr>
            <a:spLocks noGrp="1"/>
          </p:cNvSpPr>
          <p:nvPr/>
        </p:nvSpPr>
        <p:spPr>
          <a:xfrm>
            <a:off x="601980" y="3482340"/>
            <a:ext cx="1798320" cy="1493520"/>
          </a:xfrm>
          <a:prstGeom prst="foldedCorner">
            <a:avLst/>
          </a:prstGeom>
          <a:solidFill>
            <a:srgbClr val="F2F2F0"/>
          </a:solidFill>
          <a:ln w="11430">
            <a:solidFill>
              <a:srgbClr val="CBCBC8"/>
            </a:solidFill>
            <a:prstDash val="solid"/>
          </a:ln>
        </p:spPr>
      </p:sp>
      <p:sp>
        <p:nvSpPr>
          <p:cNvPr id="18" name="source-frontend">
            <a:extLst>
              <a:ext uri="{FF2B5EF4-FFF2-40B4-BE49-F238E27FC236}">
                <a16:creationId xmlns:a16="http://schemas.microsoft.com/office/drawing/2014/main" id="{29C07975-85DF-478E-ACD1-13A68C5314C5}"/>
              </a:ext>
            </a:extLst>
          </p:cNvPr>
          <p:cNvSpPr>
            <a:spLocks noGrp="1"/>
          </p:cNvSpPr>
          <p:nvPr/>
        </p:nvSpPr>
        <p:spPr>
          <a:xfrm>
            <a:off x="654637" y="3524251"/>
            <a:ext cx="1665142" cy="331469"/>
          </a:xfrm>
          <a:prstGeom prst="rect">
            <a:avLst/>
          </a:prstGeom>
          <a:noFill/>
          <a:ln w="0">
            <a:noFill/>
            <a:prstDash val="solid"/>
          </a:ln>
        </p:spPr>
        <p:txBody>
          <a:bodyPr wrap="none" lIns="0" tIns="0" rIns="0" bIns="0" anchor="ctr">
            <a:noAutofit/>
          </a:bodyPr>
          <a:lstStyle/>
          <a:p>
            <a:pPr>
              <a:defRPr sz="1560" b="1">
                <a:solidFill>
                  <a:srgbClr val="1E1E1E"/>
                </a:solidFill>
                <a:latin typeface="Inter"/>
                <a:ea typeface="Inter"/>
                <a:cs typeface="Inter"/>
              </a:defRPr>
            </a:pPr>
            <a:r>
              <a:rPr sz="1300" b="1" dirty="0">
                <a:solidFill>
                  <a:srgbClr val="1E1E1E"/>
                </a:solidFill>
                <a:latin typeface="Inter"/>
                <a:ea typeface="Inter"/>
                <a:cs typeface="Inter"/>
              </a:rPr>
              <a:t>Frontend</a:t>
            </a:r>
            <a:r>
              <a:rPr lang="en-CA" sz="1300" b="1" dirty="0">
                <a:solidFill>
                  <a:srgbClr val="1E1E1E"/>
                </a:solidFill>
                <a:latin typeface="Inter"/>
                <a:ea typeface="Inter"/>
                <a:cs typeface="Inter"/>
              </a:rPr>
              <a:t> + Backend</a:t>
            </a:r>
            <a:endParaRPr sz="1300" b="1" dirty="0">
              <a:solidFill>
                <a:srgbClr val="1E1E1E"/>
              </a:solidFill>
              <a:latin typeface="Inter"/>
              <a:ea typeface="Inter"/>
              <a:cs typeface="Inter"/>
            </a:endParaRPr>
          </a:p>
        </p:txBody>
      </p:sp>
      <p:sp>
        <p:nvSpPr>
          <p:cNvPr id="21" name="chunk-back">
            <a:extLst>
              <a:ext uri="{FF2B5EF4-FFF2-40B4-BE49-F238E27FC236}">
                <a16:creationId xmlns:a16="http://schemas.microsoft.com/office/drawing/2014/main" id="{5C78927E-C063-4392-ABF0-F166F1C90762}"/>
              </a:ext>
            </a:extLst>
          </p:cNvPr>
          <p:cNvSpPr>
            <a:spLocks noGrp="1"/>
          </p:cNvSpPr>
          <p:nvPr/>
        </p:nvSpPr>
        <p:spPr>
          <a:xfrm>
            <a:off x="3291840" y="3345180"/>
            <a:ext cx="2156460" cy="381000"/>
          </a:xfrm>
          <a:prstGeom prst="roundRect">
            <a:avLst>
              <a:gd name="adj" fmla="val 16000"/>
            </a:avLst>
          </a:prstGeom>
          <a:solidFill>
            <a:srgbClr val="E6E6E2"/>
          </a:solidFill>
          <a:ln w="9144">
            <a:solidFill>
              <a:srgbClr val="BBBBB6"/>
            </a:solidFill>
            <a:prstDash val="solid"/>
          </a:ln>
        </p:spPr>
      </p:sp>
      <p:sp>
        <p:nvSpPr>
          <p:cNvPr id="22" name="chunk-one">
            <a:extLst>
              <a:ext uri="{FF2B5EF4-FFF2-40B4-BE49-F238E27FC236}">
                <a16:creationId xmlns:a16="http://schemas.microsoft.com/office/drawing/2014/main" id="{218843F5-480F-4972-9059-1E0DCD053B70}"/>
              </a:ext>
            </a:extLst>
          </p:cNvPr>
          <p:cNvSpPr>
            <a:spLocks noGrp="1"/>
          </p:cNvSpPr>
          <p:nvPr/>
        </p:nvSpPr>
        <p:spPr>
          <a:xfrm>
            <a:off x="3192780" y="3535680"/>
            <a:ext cx="2286000" cy="411480"/>
          </a:xfrm>
          <a:prstGeom prst="roundRect">
            <a:avLst>
              <a:gd name="adj" fmla="val 14815"/>
            </a:avLst>
          </a:prstGeom>
          <a:solidFill>
            <a:srgbClr val="EEEEEB"/>
          </a:solidFill>
          <a:ln w="9144">
            <a:solidFill>
              <a:srgbClr val="BBBBB6"/>
            </a:solidFill>
            <a:prstDash val="solid"/>
          </a:ln>
        </p:spPr>
      </p:sp>
      <p:sp>
        <p:nvSpPr>
          <p:cNvPr id="23" name="chunk-two">
            <a:extLst>
              <a:ext uri="{FF2B5EF4-FFF2-40B4-BE49-F238E27FC236}">
                <a16:creationId xmlns:a16="http://schemas.microsoft.com/office/drawing/2014/main" id="{A3B89826-D2C8-4FA1-ABDF-119D14B47B99}"/>
              </a:ext>
            </a:extLst>
          </p:cNvPr>
          <p:cNvSpPr>
            <a:spLocks noGrp="1"/>
          </p:cNvSpPr>
          <p:nvPr/>
        </p:nvSpPr>
        <p:spPr>
          <a:xfrm>
            <a:off x="3101340" y="3756660"/>
            <a:ext cx="2446020" cy="480060"/>
          </a:xfrm>
          <a:prstGeom prst="roundRect">
            <a:avLst>
              <a:gd name="adj" fmla="val 12698"/>
            </a:avLst>
          </a:prstGeom>
          <a:solidFill>
            <a:srgbClr val="F5F5F3"/>
          </a:solidFill>
          <a:ln w="9144">
            <a:solidFill>
              <a:srgbClr val="BBBBB6"/>
            </a:solidFill>
            <a:prstDash val="solid"/>
          </a:ln>
        </p:spPr>
      </p:sp>
      <p:sp>
        <p:nvSpPr>
          <p:cNvPr id="24" name="chunk-front">
            <a:extLst>
              <a:ext uri="{FF2B5EF4-FFF2-40B4-BE49-F238E27FC236}">
                <a16:creationId xmlns:a16="http://schemas.microsoft.com/office/drawing/2014/main" id="{351C1DF2-387A-4F6E-9BA1-F7FD6B996985}"/>
              </a:ext>
            </a:extLst>
          </p:cNvPr>
          <p:cNvSpPr>
            <a:spLocks noGrp="1"/>
          </p:cNvSpPr>
          <p:nvPr/>
        </p:nvSpPr>
        <p:spPr>
          <a:xfrm>
            <a:off x="3025140" y="4046220"/>
            <a:ext cx="2628900" cy="922020"/>
          </a:xfrm>
          <a:prstGeom prst="roundRect">
            <a:avLst>
              <a:gd name="adj" fmla="val 8264"/>
            </a:avLst>
          </a:prstGeom>
          <a:solidFill>
            <a:srgbClr val="F2F2F0"/>
          </a:solidFill>
          <a:ln w="11430">
            <a:solidFill>
              <a:srgbClr val="BBBBB6"/>
            </a:solidFill>
            <a:prstDash val="solid"/>
          </a:ln>
        </p:spPr>
      </p:sp>
      <p:sp>
        <p:nvSpPr>
          <p:cNvPr id="25" name="chunk-content">
            <a:extLst>
              <a:ext uri="{FF2B5EF4-FFF2-40B4-BE49-F238E27FC236}">
                <a16:creationId xmlns:a16="http://schemas.microsoft.com/office/drawing/2014/main" id="{225C55F8-F7E9-4005-8E38-98281370AB33}"/>
              </a:ext>
            </a:extLst>
          </p:cNvPr>
          <p:cNvSpPr>
            <a:spLocks noGrp="1"/>
          </p:cNvSpPr>
          <p:nvPr/>
        </p:nvSpPr>
        <p:spPr>
          <a:xfrm>
            <a:off x="3185160" y="4168140"/>
            <a:ext cx="2324100" cy="729472"/>
          </a:xfrm>
          <a:prstGeom prst="rect">
            <a:avLst/>
          </a:prstGeom>
          <a:noFill/>
          <a:ln w="0">
            <a:noFill/>
            <a:prstDash val="solid"/>
          </a:ln>
        </p:spPr>
        <p:txBody>
          <a:bodyPr wrap="none" lIns="0" tIns="0" rIns="0" bIns="0" anchor="ctr">
            <a:noAutofit/>
          </a:bodyPr>
          <a:lstStyle/>
          <a:p>
            <a:pPr algn="l">
              <a:defRPr sz="1400" b="1">
                <a:solidFill>
                  <a:srgbClr val="1E1E1E"/>
                </a:solidFill>
                <a:latin typeface="Inter"/>
                <a:ea typeface="Inter"/>
                <a:cs typeface="Inter"/>
              </a:defRPr>
            </a:pPr>
            <a:r>
              <a:rPr sz="1400" b="1" dirty="0">
                <a:solidFill>
                  <a:srgbClr val="1E1E1E"/>
                </a:solidFill>
                <a:latin typeface="Inter"/>
                <a:ea typeface="Inter"/>
                <a:cs typeface="Inter"/>
              </a:rPr>
              <a:t>Code chunk </a:t>
            </a:r>
            <a:r>
              <a:rPr lang="en-CA" sz="1400" b="1" dirty="0">
                <a:solidFill>
                  <a:srgbClr val="1E1E1E"/>
                </a:solidFill>
                <a:latin typeface="Inter"/>
                <a:ea typeface="Inter"/>
                <a:cs typeface="Inter"/>
              </a:rPr>
              <a:t>+</a:t>
            </a:r>
            <a:br>
              <a:rPr lang="en-CA" sz="1400" b="1" dirty="0">
                <a:solidFill>
                  <a:srgbClr val="1E1E1E"/>
                </a:solidFill>
                <a:latin typeface="Inter"/>
                <a:ea typeface="Inter"/>
                <a:cs typeface="Inter"/>
              </a:rPr>
            </a:br>
            <a:r>
              <a:rPr lang="en-CA" sz="1400" b="1" dirty="0">
                <a:solidFill>
                  <a:srgbClr val="1E1E1E"/>
                </a:solidFill>
                <a:latin typeface="Inter"/>
                <a:ea typeface="Inter"/>
                <a:cs typeface="Inter"/>
              </a:rPr>
              <a:t>Indexing</a:t>
            </a:r>
            <a:endParaRPr sz="1400" b="1" dirty="0">
              <a:solidFill>
                <a:srgbClr val="1E1E1E"/>
              </a:solidFill>
              <a:latin typeface="Inter"/>
              <a:ea typeface="Inter"/>
              <a:cs typeface="Inter"/>
            </a:endParaRPr>
          </a:p>
        </p:txBody>
      </p:sp>
      <p:sp>
        <p:nvSpPr>
          <p:cNvPr id="26" name="chunk-metadata">
            <a:extLst>
              <a:ext uri="{FF2B5EF4-FFF2-40B4-BE49-F238E27FC236}">
                <a16:creationId xmlns:a16="http://schemas.microsoft.com/office/drawing/2014/main" id="{59E03C8E-7BE9-4226-9315-E82F92909F79}"/>
              </a:ext>
            </a:extLst>
          </p:cNvPr>
          <p:cNvSpPr>
            <a:spLocks noGrp="1"/>
          </p:cNvSpPr>
          <p:nvPr/>
        </p:nvSpPr>
        <p:spPr>
          <a:xfrm>
            <a:off x="3185160" y="4587240"/>
            <a:ext cx="2324100" cy="205740"/>
          </a:xfrm>
          <a:prstGeom prst="rect">
            <a:avLst/>
          </a:prstGeom>
          <a:noFill/>
          <a:ln w="0">
            <a:noFill/>
            <a:prstDash val="solid"/>
          </a:ln>
        </p:spPr>
        <p:txBody>
          <a:bodyPr wrap="none" lIns="0" tIns="0" rIns="0" bIns="0" anchor="ctr">
            <a:noAutofit/>
          </a:bodyPr>
          <a:lstStyle/>
          <a:p>
            <a:pPr algn="l">
              <a:defRPr sz="1260" b="0">
                <a:solidFill>
                  <a:srgbClr val="646464"/>
                </a:solidFill>
                <a:latin typeface="Inter"/>
                <a:ea typeface="Inter"/>
                <a:cs typeface="Inter"/>
              </a:defRPr>
            </a:pPr>
            <a:endParaRPr sz="1260" b="0" dirty="0">
              <a:solidFill>
                <a:srgbClr val="646464"/>
              </a:solidFill>
              <a:latin typeface="Inter"/>
              <a:ea typeface="Inter"/>
              <a:cs typeface="Inter"/>
            </a:endParaRPr>
          </a:p>
        </p:txBody>
      </p:sp>
      <p:sp>
        <p:nvSpPr>
          <p:cNvPr id="27" name="embedding-engine">
            <a:extLst>
              <a:ext uri="{FF2B5EF4-FFF2-40B4-BE49-F238E27FC236}">
                <a16:creationId xmlns:a16="http://schemas.microsoft.com/office/drawing/2014/main" id="{9CE39A81-DED9-4984-BA6A-EDE9D2E53BF1}"/>
              </a:ext>
            </a:extLst>
          </p:cNvPr>
          <p:cNvSpPr>
            <a:spLocks noGrp="1"/>
          </p:cNvSpPr>
          <p:nvPr/>
        </p:nvSpPr>
        <p:spPr>
          <a:xfrm>
            <a:off x="6583680" y="3421380"/>
            <a:ext cx="2087880" cy="845820"/>
          </a:xfrm>
          <a:prstGeom prst="roundRect">
            <a:avLst>
              <a:gd name="adj" fmla="val 14414"/>
            </a:avLst>
          </a:prstGeom>
          <a:solidFill>
            <a:srgbClr val="F4E7FF"/>
          </a:solidFill>
          <a:ln w="11430">
            <a:solidFill>
              <a:srgbClr val="A44CFF"/>
            </a:solidFill>
            <a:prstDash val="solid"/>
          </a:ln>
        </p:spPr>
      </p:sp>
      <p:sp>
        <p:nvSpPr>
          <p:cNvPr id="28" name="encoder-name">
            <a:extLst>
              <a:ext uri="{FF2B5EF4-FFF2-40B4-BE49-F238E27FC236}">
                <a16:creationId xmlns:a16="http://schemas.microsoft.com/office/drawing/2014/main" id="{8AF48B49-82C2-47C0-A5AB-1B0780DE5A47}"/>
              </a:ext>
            </a:extLst>
          </p:cNvPr>
          <p:cNvSpPr>
            <a:spLocks noGrp="1"/>
          </p:cNvSpPr>
          <p:nvPr/>
        </p:nvSpPr>
        <p:spPr>
          <a:xfrm>
            <a:off x="6963023" y="3354926"/>
            <a:ext cx="1344433" cy="411481"/>
          </a:xfrm>
          <a:prstGeom prst="rect">
            <a:avLst/>
          </a:prstGeom>
          <a:noFill/>
          <a:ln w="0">
            <a:noFill/>
            <a:prstDash val="solid"/>
          </a:ln>
        </p:spPr>
        <p:txBody>
          <a:bodyPr wrap="none" lIns="0" tIns="0" rIns="0" bIns="0" anchor="ctr">
            <a:noAutofit/>
          </a:bodyPr>
          <a:lstStyle/>
          <a:p>
            <a:pPr algn="ctr">
              <a:defRPr sz="1550" b="1">
                <a:solidFill>
                  <a:srgbClr val="FFFFFF"/>
                </a:solidFill>
                <a:latin typeface="Inter"/>
                <a:ea typeface="Inter"/>
                <a:cs typeface="Inter"/>
              </a:defRPr>
            </a:pPr>
            <a:r>
              <a:rPr lang="en-CA" sz="1200" b="1" dirty="0" err="1">
                <a:solidFill>
                  <a:schemeClr val="tx1">
                    <a:lumMod val="95000"/>
                    <a:lumOff val="5000"/>
                  </a:schemeClr>
                </a:solidFill>
                <a:latin typeface="Inter"/>
                <a:ea typeface="Inter"/>
                <a:cs typeface="Inter"/>
              </a:rPr>
              <a:t>CodeRankEmbed</a:t>
            </a:r>
            <a:endParaRPr sz="1200" b="1" dirty="0">
              <a:solidFill>
                <a:schemeClr val="tx1">
                  <a:lumMod val="95000"/>
                  <a:lumOff val="5000"/>
                </a:schemeClr>
              </a:solidFill>
              <a:latin typeface="Inter"/>
              <a:ea typeface="Inter"/>
              <a:cs typeface="Inter"/>
            </a:endParaRPr>
          </a:p>
        </p:txBody>
      </p:sp>
      <p:sp>
        <p:nvSpPr>
          <p:cNvPr id="29" name="vector">
            <a:extLst>
              <a:ext uri="{FF2B5EF4-FFF2-40B4-BE49-F238E27FC236}">
                <a16:creationId xmlns:a16="http://schemas.microsoft.com/office/drawing/2014/main" id="{3F387945-9258-41DB-B6B2-BFB4900E6F2D}"/>
              </a:ext>
            </a:extLst>
          </p:cNvPr>
          <p:cNvSpPr>
            <a:spLocks noGrp="1"/>
          </p:cNvSpPr>
          <p:nvPr/>
        </p:nvSpPr>
        <p:spPr>
          <a:xfrm>
            <a:off x="6492240" y="4526280"/>
            <a:ext cx="2286000" cy="449580"/>
          </a:xfrm>
          <a:prstGeom prst="roundRect">
            <a:avLst>
              <a:gd name="adj" fmla="val 16949"/>
            </a:avLst>
          </a:prstGeom>
          <a:solidFill>
            <a:srgbClr val="F4E7FF"/>
          </a:solidFill>
          <a:ln w="11430">
            <a:solidFill>
              <a:srgbClr val="A44CFF"/>
            </a:solidFill>
            <a:prstDash val="solid"/>
          </a:ln>
        </p:spPr>
      </p:sp>
      <p:sp>
        <p:nvSpPr>
          <p:cNvPr id="30" name="vector-elements">
            <a:extLst>
              <a:ext uri="{FF2B5EF4-FFF2-40B4-BE49-F238E27FC236}">
                <a16:creationId xmlns:a16="http://schemas.microsoft.com/office/drawing/2014/main" id="{F2759072-3496-49F2-8A84-483B07DE1F28}"/>
              </a:ext>
            </a:extLst>
          </p:cNvPr>
          <p:cNvSpPr>
            <a:spLocks noGrp="1"/>
          </p:cNvSpPr>
          <p:nvPr/>
        </p:nvSpPr>
        <p:spPr>
          <a:xfrm>
            <a:off x="6614160" y="4625340"/>
            <a:ext cx="2042160" cy="251460"/>
          </a:xfrm>
          <a:prstGeom prst="rect">
            <a:avLst/>
          </a:prstGeom>
          <a:noFill/>
          <a:ln w="0">
            <a:noFill/>
            <a:prstDash val="solid"/>
          </a:ln>
        </p:spPr>
        <p:txBody>
          <a:bodyPr wrap="none" lIns="0" tIns="0" rIns="0" bIns="0" anchor="ctr">
            <a:noAutofit/>
          </a:bodyPr>
          <a:lstStyle/>
          <a:p>
            <a:pPr algn="ctr">
              <a:defRPr sz="1560" b="0">
                <a:solidFill>
                  <a:srgbClr val="1E1E1E"/>
                </a:solidFill>
                <a:latin typeface="Inter"/>
                <a:ea typeface="Inter"/>
                <a:cs typeface="Inter"/>
              </a:defRPr>
            </a:pPr>
            <a:r>
              <a:rPr sz="1560" b="0" dirty="0">
                <a:solidFill>
                  <a:srgbClr val="1E1E1E"/>
                </a:solidFill>
                <a:latin typeface="Inter"/>
                <a:ea typeface="Inter"/>
                <a:cs typeface="Inter"/>
              </a:rPr>
              <a:t>[ v₁   v₂   …   v₇₆₈ ]</a:t>
            </a:r>
          </a:p>
        </p:txBody>
      </p:sp>
      <p:cxnSp>
        <p:nvCxnSpPr>
          <p:cNvPr id="9231" name="Straight Arrow Connector 9230"/>
          <p:cNvCxnSpPr>
            <a:stCxn id="27" idx="2"/>
            <a:endCxn id="29" idx="0"/>
          </p:cNvCxnSpPr>
          <p:nvPr/>
        </p:nvCxnSpPr>
        <p:spPr>
          <a:xfrm>
            <a:off x="7627620" y="4267200"/>
            <a:ext cx="7620" cy="259080"/>
          </a:xfrm>
          <a:prstGeom prst="straightConnector1">
            <a:avLst/>
          </a:prstGeom>
          <a:ln w="22860">
            <a:solidFill>
              <a:srgbClr val="A44CFF"/>
            </a:solidFill>
            <a:prstDash val="solid"/>
            <a:tailEnd type="triangle" w="sm" len="sm"/>
          </a:ln>
        </p:spPr>
      </p:cxnSp>
      <p:sp>
        <p:nvSpPr>
          <p:cNvPr id="32" name="lance-db">
            <a:extLst>
              <a:ext uri="{FF2B5EF4-FFF2-40B4-BE49-F238E27FC236}">
                <a16:creationId xmlns:a16="http://schemas.microsoft.com/office/drawing/2014/main" id="{B50E066B-3162-4A5E-BD09-2A53E3742CE5}"/>
              </a:ext>
            </a:extLst>
          </p:cNvPr>
          <p:cNvSpPr>
            <a:spLocks noGrp="1"/>
          </p:cNvSpPr>
          <p:nvPr/>
        </p:nvSpPr>
        <p:spPr>
          <a:xfrm>
            <a:off x="9669780" y="3390900"/>
            <a:ext cx="1981200" cy="1615440"/>
          </a:xfrm>
          <a:prstGeom prst="can">
            <a:avLst/>
          </a:prstGeom>
          <a:solidFill>
            <a:srgbClr val="C5FF00"/>
          </a:solidFill>
          <a:ln w="15240">
            <a:solidFill>
              <a:srgbClr val="C5FF00"/>
            </a:solidFill>
            <a:prstDash val="solid"/>
          </a:ln>
        </p:spPr>
      </p:sp>
      <p:sp>
        <p:nvSpPr>
          <p:cNvPr id="33" name="db-name">
            <a:extLst>
              <a:ext uri="{FF2B5EF4-FFF2-40B4-BE49-F238E27FC236}">
                <a16:creationId xmlns:a16="http://schemas.microsoft.com/office/drawing/2014/main" id="{B53C8B78-D8ED-4547-8545-2C04FD70C0AD}"/>
              </a:ext>
            </a:extLst>
          </p:cNvPr>
          <p:cNvSpPr>
            <a:spLocks noGrp="1"/>
          </p:cNvSpPr>
          <p:nvPr/>
        </p:nvSpPr>
        <p:spPr>
          <a:xfrm>
            <a:off x="9829800" y="3901440"/>
            <a:ext cx="1661160" cy="365760"/>
          </a:xfrm>
          <a:prstGeom prst="rect">
            <a:avLst/>
          </a:prstGeom>
          <a:noFill/>
          <a:ln w="0">
            <a:noFill/>
            <a:prstDash val="solid"/>
          </a:ln>
        </p:spPr>
        <p:txBody>
          <a:bodyPr wrap="none" lIns="0" tIns="0" rIns="0" bIns="0" anchor="ctr">
            <a:noAutofit/>
          </a:bodyPr>
          <a:lstStyle/>
          <a:p>
            <a:pPr algn="ctr">
              <a:defRPr sz="2040" b="1">
                <a:solidFill>
                  <a:srgbClr val="1E1E1E"/>
                </a:solidFill>
                <a:latin typeface="Inter"/>
                <a:ea typeface="Inter"/>
                <a:cs typeface="Inter"/>
              </a:defRPr>
            </a:pPr>
            <a:r>
              <a:rPr sz="2040" b="1">
                <a:solidFill>
                  <a:srgbClr val="1E1E1E"/>
                </a:solidFill>
                <a:latin typeface="Inter"/>
                <a:ea typeface="Inter"/>
                <a:cs typeface="Inter"/>
              </a:rPr>
              <a:t>LanceDB</a:t>
            </a:r>
          </a:p>
        </p:txBody>
      </p:sp>
      <p:sp>
        <p:nvSpPr>
          <p:cNvPr id="34" name="db-description">
            <a:extLst>
              <a:ext uri="{FF2B5EF4-FFF2-40B4-BE49-F238E27FC236}">
                <a16:creationId xmlns:a16="http://schemas.microsoft.com/office/drawing/2014/main" id="{BAD0958A-3B93-4D50-8563-DF884382CB32}"/>
              </a:ext>
            </a:extLst>
          </p:cNvPr>
          <p:cNvSpPr>
            <a:spLocks noGrp="1"/>
          </p:cNvSpPr>
          <p:nvPr/>
        </p:nvSpPr>
        <p:spPr>
          <a:xfrm>
            <a:off x="9814560" y="4358640"/>
            <a:ext cx="1691640" cy="259080"/>
          </a:xfrm>
          <a:prstGeom prst="rect">
            <a:avLst/>
          </a:prstGeom>
          <a:noFill/>
          <a:ln w="0">
            <a:noFill/>
            <a:prstDash val="solid"/>
          </a:ln>
        </p:spPr>
        <p:txBody>
          <a:bodyPr wrap="none" lIns="0" tIns="0" rIns="0" bIns="0" anchor="ctr">
            <a:noAutofit/>
          </a:bodyPr>
          <a:lstStyle/>
          <a:p>
            <a:pPr algn="ctr">
              <a:defRPr sz="1380" b="0">
                <a:solidFill>
                  <a:srgbClr val="1E1E1E"/>
                </a:solidFill>
                <a:latin typeface="Inter"/>
                <a:ea typeface="Inter"/>
                <a:cs typeface="Inter"/>
              </a:defRPr>
            </a:pPr>
            <a:r>
              <a:rPr sz="1380" b="0">
                <a:solidFill>
                  <a:srgbClr val="1E1E1E"/>
                </a:solidFill>
                <a:latin typeface="Inter"/>
                <a:ea typeface="Inter"/>
                <a:cs typeface="Inter"/>
              </a:rPr>
              <a:t>Vector database</a:t>
            </a:r>
          </a:p>
        </p:txBody>
      </p:sp>
      <p:sp>
        <p:nvSpPr>
          <p:cNvPr id="35" name="source-chunk0">
            <a:extLst>
              <a:ext uri="{FF2B5EF4-FFF2-40B4-BE49-F238E27FC236}">
                <a16:creationId xmlns:a16="http://schemas.microsoft.com/office/drawing/2014/main" id="{9601C67B-B3B2-42A6-A4FC-7BDEBCB88CB4}"/>
              </a:ext>
            </a:extLst>
          </p:cNvPr>
          <p:cNvSpPr>
            <a:spLocks noGrp="1"/>
          </p:cNvSpPr>
          <p:nvPr/>
        </p:nvSpPr>
        <p:spPr>
          <a:xfrm>
            <a:off x="2392680" y="4213860"/>
            <a:ext cx="15240" cy="15240"/>
          </a:xfrm>
          <a:prstGeom prst="rect">
            <a:avLst/>
          </a:prstGeom>
          <a:noFill/>
          <a:ln w="0">
            <a:noFill/>
            <a:prstDash val="solid"/>
          </a:ln>
        </p:spPr>
      </p:sp>
      <p:sp>
        <p:nvSpPr>
          <p:cNvPr id="36" name="source-chunk1">
            <a:extLst>
              <a:ext uri="{FF2B5EF4-FFF2-40B4-BE49-F238E27FC236}">
                <a16:creationId xmlns:a16="http://schemas.microsoft.com/office/drawing/2014/main" id="{996AB95B-5F3A-4377-90CC-71564B3A2798}"/>
              </a:ext>
            </a:extLst>
          </p:cNvPr>
          <p:cNvSpPr>
            <a:spLocks noGrp="1"/>
          </p:cNvSpPr>
          <p:nvPr/>
        </p:nvSpPr>
        <p:spPr>
          <a:xfrm>
            <a:off x="3017520" y="4213860"/>
            <a:ext cx="15240" cy="15240"/>
          </a:xfrm>
          <a:prstGeom prst="rect">
            <a:avLst/>
          </a:prstGeom>
          <a:noFill/>
          <a:ln w="0">
            <a:noFill/>
            <a:prstDash val="solid"/>
          </a:ln>
        </p:spPr>
      </p:sp>
      <p:cxnSp>
        <p:nvCxnSpPr>
          <p:cNvPr id="9237" name="Straight Arrow Connector 9236"/>
          <p:cNvCxnSpPr>
            <a:stCxn id="35" idx="3"/>
            <a:endCxn id="36" idx="1"/>
          </p:cNvCxnSpPr>
          <p:nvPr/>
        </p:nvCxnSpPr>
        <p:spPr>
          <a:xfrm>
            <a:off x="2407920" y="4221480"/>
            <a:ext cx="609600" cy="0"/>
          </a:xfrm>
          <a:prstGeom prst="straightConnector1">
            <a:avLst/>
          </a:prstGeom>
          <a:ln w="22860">
            <a:solidFill>
              <a:srgbClr val="C5FF00"/>
            </a:solidFill>
            <a:prstDash val="solid"/>
            <a:tailEnd type="triangle" w="lg" len="med"/>
          </a:ln>
        </p:spPr>
      </p:cxnSp>
      <p:sp>
        <p:nvSpPr>
          <p:cNvPr id="38" name="chunk-embedding0">
            <a:extLst>
              <a:ext uri="{FF2B5EF4-FFF2-40B4-BE49-F238E27FC236}">
                <a16:creationId xmlns:a16="http://schemas.microsoft.com/office/drawing/2014/main" id="{75F688D9-58E2-4FD6-B2C4-1A28F8353F42}"/>
              </a:ext>
            </a:extLst>
          </p:cNvPr>
          <p:cNvSpPr>
            <a:spLocks noGrp="1"/>
          </p:cNvSpPr>
          <p:nvPr/>
        </p:nvSpPr>
        <p:spPr>
          <a:xfrm>
            <a:off x="5646420" y="4213860"/>
            <a:ext cx="15240" cy="15240"/>
          </a:xfrm>
          <a:prstGeom prst="rect">
            <a:avLst/>
          </a:prstGeom>
          <a:noFill/>
          <a:ln w="0">
            <a:noFill/>
            <a:prstDash val="solid"/>
          </a:ln>
        </p:spPr>
      </p:sp>
      <p:sp>
        <p:nvSpPr>
          <p:cNvPr id="39" name="chunk-embedding1">
            <a:extLst>
              <a:ext uri="{FF2B5EF4-FFF2-40B4-BE49-F238E27FC236}">
                <a16:creationId xmlns:a16="http://schemas.microsoft.com/office/drawing/2014/main" id="{D6061510-5221-4E78-91DE-8B532DABF31A}"/>
              </a:ext>
            </a:extLst>
          </p:cNvPr>
          <p:cNvSpPr>
            <a:spLocks noGrp="1"/>
          </p:cNvSpPr>
          <p:nvPr/>
        </p:nvSpPr>
        <p:spPr>
          <a:xfrm>
            <a:off x="6103620" y="4213860"/>
            <a:ext cx="15240" cy="15240"/>
          </a:xfrm>
          <a:prstGeom prst="rect">
            <a:avLst/>
          </a:prstGeom>
          <a:noFill/>
          <a:ln w="0">
            <a:noFill/>
            <a:prstDash val="solid"/>
          </a:ln>
        </p:spPr>
      </p:sp>
      <p:sp>
        <p:nvSpPr>
          <p:cNvPr id="40" name="chunk-embedding2">
            <a:extLst>
              <a:ext uri="{FF2B5EF4-FFF2-40B4-BE49-F238E27FC236}">
                <a16:creationId xmlns:a16="http://schemas.microsoft.com/office/drawing/2014/main" id="{F2C105FB-BF58-442D-8172-EE3BAA6A52E0}"/>
              </a:ext>
            </a:extLst>
          </p:cNvPr>
          <p:cNvSpPr>
            <a:spLocks noGrp="1"/>
          </p:cNvSpPr>
          <p:nvPr/>
        </p:nvSpPr>
        <p:spPr>
          <a:xfrm>
            <a:off x="6103620" y="3840480"/>
            <a:ext cx="15240" cy="15240"/>
          </a:xfrm>
          <a:prstGeom prst="rect">
            <a:avLst/>
          </a:prstGeom>
          <a:noFill/>
          <a:ln w="0">
            <a:noFill/>
            <a:prstDash val="solid"/>
          </a:ln>
        </p:spPr>
      </p:sp>
      <p:sp>
        <p:nvSpPr>
          <p:cNvPr id="41" name="chunk-embedding3">
            <a:extLst>
              <a:ext uri="{FF2B5EF4-FFF2-40B4-BE49-F238E27FC236}">
                <a16:creationId xmlns:a16="http://schemas.microsoft.com/office/drawing/2014/main" id="{1D29B0BC-4E34-436B-8D75-852E35B5C059}"/>
              </a:ext>
            </a:extLst>
          </p:cNvPr>
          <p:cNvSpPr>
            <a:spLocks noGrp="1"/>
          </p:cNvSpPr>
          <p:nvPr/>
        </p:nvSpPr>
        <p:spPr>
          <a:xfrm>
            <a:off x="6576060" y="3840480"/>
            <a:ext cx="15240" cy="15240"/>
          </a:xfrm>
          <a:prstGeom prst="rect">
            <a:avLst/>
          </a:prstGeom>
          <a:noFill/>
          <a:ln w="0">
            <a:noFill/>
            <a:prstDash val="solid"/>
          </a:ln>
        </p:spPr>
      </p:sp>
      <p:cxnSp>
        <p:nvCxnSpPr>
          <p:cNvPr id="9242" name="Straight Arrow Connector 9241"/>
          <p:cNvCxnSpPr>
            <a:stCxn id="38" idx="3"/>
            <a:endCxn id="39" idx="1"/>
          </p:cNvCxnSpPr>
          <p:nvPr/>
        </p:nvCxnSpPr>
        <p:spPr>
          <a:xfrm>
            <a:off x="5661660" y="4221480"/>
            <a:ext cx="441960" cy="0"/>
          </a:xfrm>
          <a:prstGeom prst="straightConnector1">
            <a:avLst/>
          </a:prstGeom>
          <a:ln w="22860">
            <a:solidFill>
              <a:srgbClr val="C5FF00"/>
            </a:solidFill>
            <a:prstDash val="solid"/>
            <a:tailEnd type="none" w="sm" len="sm"/>
          </a:ln>
        </p:spPr>
      </p:cxnSp>
      <p:cxnSp>
        <p:nvCxnSpPr>
          <p:cNvPr id="9243" name="Straight Arrow Connector 9242"/>
          <p:cNvCxnSpPr>
            <a:stCxn id="39" idx="0"/>
            <a:endCxn id="40" idx="2"/>
          </p:cNvCxnSpPr>
          <p:nvPr/>
        </p:nvCxnSpPr>
        <p:spPr>
          <a:xfrm flipV="1">
            <a:off x="6111240" y="3855720"/>
            <a:ext cx="0" cy="358140"/>
          </a:xfrm>
          <a:prstGeom prst="straightConnector1">
            <a:avLst/>
          </a:prstGeom>
          <a:ln w="22860">
            <a:solidFill>
              <a:srgbClr val="C5FF00"/>
            </a:solidFill>
            <a:prstDash val="solid"/>
            <a:tailEnd type="none" w="sm" len="sm"/>
          </a:ln>
        </p:spPr>
      </p:cxnSp>
      <p:cxnSp>
        <p:nvCxnSpPr>
          <p:cNvPr id="9244" name="Straight Arrow Connector 9243"/>
          <p:cNvCxnSpPr>
            <a:stCxn id="40" idx="3"/>
            <a:endCxn id="41" idx="1"/>
          </p:cNvCxnSpPr>
          <p:nvPr/>
        </p:nvCxnSpPr>
        <p:spPr>
          <a:xfrm>
            <a:off x="6118860" y="3848100"/>
            <a:ext cx="457200" cy="0"/>
          </a:xfrm>
          <a:prstGeom prst="straightConnector1">
            <a:avLst/>
          </a:prstGeom>
          <a:ln w="22860">
            <a:solidFill>
              <a:srgbClr val="C5FF00"/>
            </a:solidFill>
            <a:prstDash val="solid"/>
            <a:tailEnd type="triangle" w="lg" len="med"/>
          </a:ln>
        </p:spPr>
      </p:cxnSp>
      <p:sp>
        <p:nvSpPr>
          <p:cNvPr id="45" name="vector-store0">
            <a:extLst>
              <a:ext uri="{FF2B5EF4-FFF2-40B4-BE49-F238E27FC236}">
                <a16:creationId xmlns:a16="http://schemas.microsoft.com/office/drawing/2014/main" id="{ED01B472-E3EA-455A-9FCC-9563B2DDC5B4}"/>
              </a:ext>
            </a:extLst>
          </p:cNvPr>
          <p:cNvSpPr>
            <a:spLocks noGrp="1"/>
          </p:cNvSpPr>
          <p:nvPr/>
        </p:nvSpPr>
        <p:spPr>
          <a:xfrm>
            <a:off x="8770620" y="4739640"/>
            <a:ext cx="15240" cy="15240"/>
          </a:xfrm>
          <a:prstGeom prst="rect">
            <a:avLst/>
          </a:prstGeom>
          <a:noFill/>
          <a:ln w="0">
            <a:noFill/>
            <a:prstDash val="solid"/>
          </a:ln>
        </p:spPr>
      </p:sp>
      <p:sp>
        <p:nvSpPr>
          <p:cNvPr id="46" name="vector-store1">
            <a:extLst>
              <a:ext uri="{FF2B5EF4-FFF2-40B4-BE49-F238E27FC236}">
                <a16:creationId xmlns:a16="http://schemas.microsoft.com/office/drawing/2014/main" id="{7EB58155-A4E6-4BE4-9E55-FC89CF1BB8B7}"/>
              </a:ext>
            </a:extLst>
          </p:cNvPr>
          <p:cNvSpPr>
            <a:spLocks noGrp="1"/>
          </p:cNvSpPr>
          <p:nvPr/>
        </p:nvSpPr>
        <p:spPr>
          <a:xfrm>
            <a:off x="9197340" y="4739640"/>
            <a:ext cx="15240" cy="15240"/>
          </a:xfrm>
          <a:prstGeom prst="rect">
            <a:avLst/>
          </a:prstGeom>
          <a:noFill/>
          <a:ln w="0">
            <a:noFill/>
            <a:prstDash val="solid"/>
          </a:ln>
        </p:spPr>
      </p:sp>
      <p:sp>
        <p:nvSpPr>
          <p:cNvPr id="47" name="vector-store2">
            <a:extLst>
              <a:ext uri="{FF2B5EF4-FFF2-40B4-BE49-F238E27FC236}">
                <a16:creationId xmlns:a16="http://schemas.microsoft.com/office/drawing/2014/main" id="{541E04FF-A850-4C90-B1C9-4DBBEEC854D8}"/>
              </a:ext>
            </a:extLst>
          </p:cNvPr>
          <p:cNvSpPr>
            <a:spLocks noGrp="1"/>
          </p:cNvSpPr>
          <p:nvPr/>
        </p:nvSpPr>
        <p:spPr>
          <a:xfrm>
            <a:off x="9197340" y="4191000"/>
            <a:ext cx="15240" cy="15240"/>
          </a:xfrm>
          <a:prstGeom prst="rect">
            <a:avLst/>
          </a:prstGeom>
          <a:noFill/>
          <a:ln w="0">
            <a:noFill/>
            <a:prstDash val="solid"/>
          </a:ln>
        </p:spPr>
      </p:sp>
      <p:sp>
        <p:nvSpPr>
          <p:cNvPr id="48" name="vector-store3">
            <a:extLst>
              <a:ext uri="{FF2B5EF4-FFF2-40B4-BE49-F238E27FC236}">
                <a16:creationId xmlns:a16="http://schemas.microsoft.com/office/drawing/2014/main" id="{259A96A9-CCAC-40AF-A6D5-C15A77F6AE78}"/>
              </a:ext>
            </a:extLst>
          </p:cNvPr>
          <p:cNvSpPr>
            <a:spLocks noGrp="1"/>
          </p:cNvSpPr>
          <p:nvPr/>
        </p:nvSpPr>
        <p:spPr>
          <a:xfrm>
            <a:off x="9662160" y="4191000"/>
            <a:ext cx="15240" cy="15240"/>
          </a:xfrm>
          <a:prstGeom prst="rect">
            <a:avLst/>
          </a:prstGeom>
          <a:noFill/>
          <a:ln w="0">
            <a:noFill/>
            <a:prstDash val="solid"/>
          </a:ln>
        </p:spPr>
      </p:sp>
      <p:cxnSp>
        <p:nvCxnSpPr>
          <p:cNvPr id="9249" name="Straight Arrow Connector 9248"/>
          <p:cNvCxnSpPr>
            <a:stCxn id="45" idx="3"/>
            <a:endCxn id="46" idx="1"/>
          </p:cNvCxnSpPr>
          <p:nvPr/>
        </p:nvCxnSpPr>
        <p:spPr>
          <a:xfrm>
            <a:off x="8785860" y="4747260"/>
            <a:ext cx="411480" cy="0"/>
          </a:xfrm>
          <a:prstGeom prst="straightConnector1">
            <a:avLst/>
          </a:prstGeom>
          <a:ln w="22860">
            <a:solidFill>
              <a:srgbClr val="C5FF00"/>
            </a:solidFill>
            <a:prstDash val="solid"/>
            <a:tailEnd type="none" w="sm" len="sm"/>
          </a:ln>
        </p:spPr>
      </p:cxnSp>
      <p:cxnSp>
        <p:nvCxnSpPr>
          <p:cNvPr id="9250" name="Straight Arrow Connector 9249"/>
          <p:cNvCxnSpPr>
            <a:stCxn id="46" idx="0"/>
            <a:endCxn id="47" idx="2"/>
          </p:cNvCxnSpPr>
          <p:nvPr/>
        </p:nvCxnSpPr>
        <p:spPr>
          <a:xfrm flipV="1">
            <a:off x="9204960" y="4206240"/>
            <a:ext cx="0" cy="533400"/>
          </a:xfrm>
          <a:prstGeom prst="straightConnector1">
            <a:avLst/>
          </a:prstGeom>
          <a:ln w="22860">
            <a:solidFill>
              <a:srgbClr val="C5FF00"/>
            </a:solidFill>
            <a:prstDash val="solid"/>
            <a:tailEnd type="none" w="sm" len="sm"/>
          </a:ln>
        </p:spPr>
      </p:cxnSp>
      <p:cxnSp>
        <p:nvCxnSpPr>
          <p:cNvPr id="9251" name="Straight Arrow Connector 9250"/>
          <p:cNvCxnSpPr>
            <a:stCxn id="47" idx="3"/>
            <a:endCxn id="48" idx="1"/>
          </p:cNvCxnSpPr>
          <p:nvPr/>
        </p:nvCxnSpPr>
        <p:spPr>
          <a:xfrm>
            <a:off x="9212580" y="4198620"/>
            <a:ext cx="449580" cy="0"/>
          </a:xfrm>
          <a:prstGeom prst="straightConnector1">
            <a:avLst/>
          </a:prstGeom>
          <a:ln w="22860">
            <a:solidFill>
              <a:srgbClr val="C5FF00"/>
            </a:solidFill>
            <a:prstDash val="solid"/>
            <a:tailEnd type="triangle" w="lg" len="med"/>
          </a:ln>
        </p:spPr>
      </p:cxnSp>
      <p:sp>
        <p:nvSpPr>
          <p:cNvPr id="52" name="refresh-rule">
            <a:extLst>
              <a:ext uri="{FF2B5EF4-FFF2-40B4-BE49-F238E27FC236}">
                <a16:creationId xmlns:a16="http://schemas.microsoft.com/office/drawing/2014/main" id="{BD4F282F-D0F8-4937-A501-D8B6D32918E1}"/>
              </a:ext>
            </a:extLst>
          </p:cNvPr>
          <p:cNvSpPr>
            <a:spLocks noGrp="1"/>
          </p:cNvSpPr>
          <p:nvPr/>
        </p:nvSpPr>
        <p:spPr>
          <a:xfrm>
            <a:off x="548640" y="5463540"/>
            <a:ext cx="11094720" cy="0"/>
          </a:xfrm>
          <a:prstGeom prst="line">
            <a:avLst/>
          </a:prstGeom>
          <a:noFill/>
          <a:ln w="9906">
            <a:solidFill>
              <a:srgbClr val="D5D5D1"/>
            </a:solidFill>
            <a:prstDash val="solid"/>
          </a:ln>
        </p:spPr>
      </p:sp>
      <p:sp>
        <p:nvSpPr>
          <p:cNvPr id="53" name="refresh-title">
            <a:extLst>
              <a:ext uri="{FF2B5EF4-FFF2-40B4-BE49-F238E27FC236}">
                <a16:creationId xmlns:a16="http://schemas.microsoft.com/office/drawing/2014/main" id="{3D581EDF-ABA6-449F-9F2B-CF930D2E0AD6}"/>
              </a:ext>
            </a:extLst>
          </p:cNvPr>
          <p:cNvSpPr>
            <a:spLocks noGrp="1"/>
          </p:cNvSpPr>
          <p:nvPr/>
        </p:nvSpPr>
        <p:spPr>
          <a:xfrm>
            <a:off x="1867764" y="5631180"/>
            <a:ext cx="2781300" cy="243840"/>
          </a:xfrm>
          <a:prstGeom prst="rect">
            <a:avLst/>
          </a:prstGeom>
          <a:noFill/>
          <a:ln w="0">
            <a:noFill/>
            <a:prstDash val="solid"/>
          </a:ln>
        </p:spPr>
        <p:txBody>
          <a:bodyPr wrap="none" lIns="0" tIns="0" rIns="0" bIns="0" anchor="ctr">
            <a:noAutofit/>
          </a:bodyPr>
          <a:lstStyle/>
          <a:p>
            <a:pPr algn="l">
              <a:defRPr sz="1150" b="1">
                <a:solidFill>
                  <a:srgbClr val="1E1E1E"/>
                </a:solidFill>
                <a:latin typeface="Inter"/>
                <a:ea typeface="Inter"/>
                <a:cs typeface="Inter"/>
              </a:defRPr>
            </a:pPr>
            <a:r>
              <a:rPr sz="1200" b="1" dirty="0">
                <a:solidFill>
                  <a:srgbClr val="1E1E1E"/>
                </a:solidFill>
                <a:latin typeface="Inter"/>
                <a:ea typeface="Inter"/>
                <a:cs typeface="Inter"/>
              </a:rPr>
              <a:t>INCREMENTAL REFRESH</a:t>
            </a:r>
          </a:p>
        </p:txBody>
      </p:sp>
      <p:sp>
        <p:nvSpPr>
          <p:cNvPr id="54" name="refresh-note">
            <a:extLst>
              <a:ext uri="{FF2B5EF4-FFF2-40B4-BE49-F238E27FC236}">
                <a16:creationId xmlns:a16="http://schemas.microsoft.com/office/drawing/2014/main" id="{0A8A80B9-A1D1-4541-889C-55ED87FECABD}"/>
              </a:ext>
            </a:extLst>
          </p:cNvPr>
          <p:cNvSpPr>
            <a:spLocks noGrp="1"/>
          </p:cNvSpPr>
          <p:nvPr/>
        </p:nvSpPr>
        <p:spPr>
          <a:xfrm>
            <a:off x="1867764" y="5935980"/>
            <a:ext cx="2781300" cy="243840"/>
          </a:xfrm>
          <a:prstGeom prst="rect">
            <a:avLst/>
          </a:prstGeom>
          <a:noFill/>
          <a:ln w="0">
            <a:noFill/>
            <a:prstDash val="solid"/>
          </a:ln>
        </p:spPr>
        <p:txBody>
          <a:bodyPr wrap="none" lIns="0" tIns="0" rIns="0" bIns="0" anchor="ctr">
            <a:noAutofit/>
          </a:bodyPr>
          <a:lstStyle/>
          <a:p>
            <a:pPr algn="l">
              <a:defRPr sz="1380" b="0">
                <a:solidFill>
                  <a:srgbClr val="646464"/>
                </a:solidFill>
                <a:latin typeface="Inter"/>
                <a:ea typeface="Inter"/>
                <a:cs typeface="Inter"/>
              </a:defRPr>
            </a:pPr>
            <a:r>
              <a:rPr sz="1380" b="0" dirty="0" err="1">
                <a:solidFill>
                  <a:srgbClr val="646464"/>
                </a:solidFill>
                <a:latin typeface="Inter"/>
                <a:ea typeface="Inter"/>
                <a:cs typeface="Inter"/>
              </a:rPr>
              <a:t>CocoIndex</a:t>
            </a:r>
            <a:r>
              <a:rPr sz="1380" b="0" dirty="0">
                <a:solidFill>
                  <a:srgbClr val="646464"/>
                </a:solidFill>
                <a:latin typeface="Inter"/>
                <a:ea typeface="Inter"/>
                <a:cs typeface="Inter"/>
              </a:rPr>
              <a:t> detects changes</a:t>
            </a:r>
          </a:p>
        </p:txBody>
      </p:sp>
      <p:sp>
        <p:nvSpPr>
          <p:cNvPr id="55" name="refresh-new">
            <a:extLst>
              <a:ext uri="{FF2B5EF4-FFF2-40B4-BE49-F238E27FC236}">
                <a16:creationId xmlns:a16="http://schemas.microsoft.com/office/drawing/2014/main" id="{482D0909-36B3-49AD-8C1A-7CC2D1842B6E}"/>
              </a:ext>
            </a:extLst>
          </p:cNvPr>
          <p:cNvSpPr>
            <a:spLocks noGrp="1"/>
          </p:cNvSpPr>
          <p:nvPr/>
        </p:nvSpPr>
        <p:spPr>
          <a:xfrm>
            <a:off x="4594860" y="5631180"/>
            <a:ext cx="1981200" cy="243840"/>
          </a:xfrm>
          <a:prstGeom prst="rect">
            <a:avLst/>
          </a:prstGeom>
          <a:noFill/>
          <a:ln w="0">
            <a:noFill/>
            <a:prstDash val="solid"/>
          </a:ln>
        </p:spPr>
        <p:txBody>
          <a:bodyPr wrap="none" lIns="0" tIns="0" rIns="0" bIns="0" anchor="ctr">
            <a:noAutofit/>
          </a:bodyPr>
          <a:lstStyle/>
          <a:p>
            <a:pPr algn="l">
              <a:defRPr sz="1500" b="1">
                <a:solidFill>
                  <a:srgbClr val="1E1E1E"/>
                </a:solidFill>
                <a:latin typeface="Inter"/>
                <a:ea typeface="Inter"/>
                <a:cs typeface="Inter"/>
              </a:defRPr>
            </a:pPr>
            <a:r>
              <a:rPr lang="en-CA" sz="1200" b="1" dirty="0">
                <a:solidFill>
                  <a:srgbClr val="1E1E1E"/>
                </a:solidFill>
                <a:latin typeface="Inter"/>
                <a:ea typeface="Inter"/>
                <a:cs typeface="Inter"/>
              </a:rPr>
              <a:t>NEW OR EDITED</a:t>
            </a:r>
            <a:endParaRPr sz="1200" b="1" dirty="0">
              <a:solidFill>
                <a:srgbClr val="1E1E1E"/>
              </a:solidFill>
              <a:latin typeface="Inter"/>
              <a:ea typeface="Inter"/>
              <a:cs typeface="Inter"/>
            </a:endParaRPr>
          </a:p>
        </p:txBody>
      </p:sp>
      <p:sp>
        <p:nvSpPr>
          <p:cNvPr id="56" name="refresh-new-detail">
            <a:extLst>
              <a:ext uri="{FF2B5EF4-FFF2-40B4-BE49-F238E27FC236}">
                <a16:creationId xmlns:a16="http://schemas.microsoft.com/office/drawing/2014/main" id="{0EC89BBB-18B8-424D-BDB1-E5B5B529CCC8}"/>
              </a:ext>
            </a:extLst>
          </p:cNvPr>
          <p:cNvSpPr>
            <a:spLocks noGrp="1"/>
          </p:cNvSpPr>
          <p:nvPr/>
        </p:nvSpPr>
        <p:spPr>
          <a:xfrm>
            <a:off x="4594860" y="5935980"/>
            <a:ext cx="2400300" cy="243840"/>
          </a:xfrm>
          <a:prstGeom prst="rect">
            <a:avLst/>
          </a:prstGeom>
          <a:noFill/>
          <a:ln w="0">
            <a:noFill/>
            <a:prstDash val="solid"/>
          </a:ln>
        </p:spPr>
        <p:txBody>
          <a:bodyPr wrap="none" lIns="0" tIns="0" rIns="0" bIns="0" anchor="ctr">
            <a:noAutofit/>
          </a:bodyPr>
          <a:lstStyle/>
          <a:p>
            <a:pPr algn="l">
              <a:defRPr sz="1380" b="0">
                <a:solidFill>
                  <a:srgbClr val="646464"/>
                </a:solidFill>
                <a:latin typeface="Inter"/>
                <a:ea typeface="Inter"/>
                <a:cs typeface="Inter"/>
              </a:defRPr>
            </a:pPr>
            <a:r>
              <a:rPr sz="1380" b="0" dirty="0">
                <a:solidFill>
                  <a:srgbClr val="646464"/>
                </a:solidFill>
                <a:latin typeface="Inter"/>
                <a:ea typeface="Inter"/>
                <a:cs typeface="Inter"/>
              </a:rPr>
              <a:t>Re-embed affected chunks</a:t>
            </a:r>
          </a:p>
        </p:txBody>
      </p:sp>
      <p:sp>
        <p:nvSpPr>
          <p:cNvPr id="57" name="refresh-same">
            <a:extLst>
              <a:ext uri="{FF2B5EF4-FFF2-40B4-BE49-F238E27FC236}">
                <a16:creationId xmlns:a16="http://schemas.microsoft.com/office/drawing/2014/main" id="{D945BE83-29D7-4BD2-9A8A-2B2659C9BCB5}"/>
              </a:ext>
            </a:extLst>
          </p:cNvPr>
          <p:cNvSpPr>
            <a:spLocks noGrp="1"/>
          </p:cNvSpPr>
          <p:nvPr/>
        </p:nvSpPr>
        <p:spPr>
          <a:xfrm>
            <a:off x="7310215" y="5631180"/>
            <a:ext cx="1981200" cy="243840"/>
          </a:xfrm>
          <a:prstGeom prst="rect">
            <a:avLst/>
          </a:prstGeom>
          <a:noFill/>
          <a:ln w="0">
            <a:noFill/>
            <a:prstDash val="solid"/>
          </a:ln>
        </p:spPr>
        <p:txBody>
          <a:bodyPr wrap="none" lIns="0" tIns="0" rIns="0" bIns="0" anchor="ctr">
            <a:noAutofit/>
          </a:bodyPr>
          <a:lstStyle/>
          <a:p>
            <a:pPr algn="l">
              <a:defRPr sz="1500" b="1">
                <a:solidFill>
                  <a:srgbClr val="1E1E1E"/>
                </a:solidFill>
                <a:latin typeface="Inter"/>
                <a:ea typeface="Inter"/>
                <a:cs typeface="Inter"/>
              </a:defRPr>
            </a:pPr>
            <a:r>
              <a:rPr lang="en-CA" sz="1200" b="1" dirty="0">
                <a:solidFill>
                  <a:srgbClr val="1E1E1E"/>
                </a:solidFill>
                <a:latin typeface="Inter"/>
                <a:ea typeface="Inter"/>
                <a:cs typeface="Inter"/>
              </a:rPr>
              <a:t>UNCHANGED</a:t>
            </a:r>
            <a:endParaRPr sz="1500" b="1" dirty="0">
              <a:solidFill>
                <a:srgbClr val="1E1E1E"/>
              </a:solidFill>
              <a:latin typeface="Inter"/>
              <a:ea typeface="Inter"/>
              <a:cs typeface="Inter"/>
            </a:endParaRPr>
          </a:p>
        </p:txBody>
      </p:sp>
      <p:sp>
        <p:nvSpPr>
          <p:cNvPr id="58" name="refresh-same-detail">
            <a:extLst>
              <a:ext uri="{FF2B5EF4-FFF2-40B4-BE49-F238E27FC236}">
                <a16:creationId xmlns:a16="http://schemas.microsoft.com/office/drawing/2014/main" id="{836BAA6D-1204-40AA-B4C2-425D49910DD0}"/>
              </a:ext>
            </a:extLst>
          </p:cNvPr>
          <p:cNvSpPr>
            <a:spLocks noGrp="1"/>
          </p:cNvSpPr>
          <p:nvPr/>
        </p:nvSpPr>
        <p:spPr>
          <a:xfrm>
            <a:off x="7310215" y="5935980"/>
            <a:ext cx="2286000" cy="243840"/>
          </a:xfrm>
          <a:prstGeom prst="rect">
            <a:avLst/>
          </a:prstGeom>
          <a:noFill/>
          <a:ln w="0">
            <a:noFill/>
            <a:prstDash val="solid"/>
          </a:ln>
        </p:spPr>
        <p:txBody>
          <a:bodyPr wrap="none" lIns="0" tIns="0" rIns="0" bIns="0" anchor="ctr">
            <a:noAutofit/>
          </a:bodyPr>
          <a:lstStyle/>
          <a:p>
            <a:pPr algn="l">
              <a:defRPr sz="1380" b="0">
                <a:solidFill>
                  <a:srgbClr val="646464"/>
                </a:solidFill>
                <a:latin typeface="Inter"/>
                <a:ea typeface="Inter"/>
                <a:cs typeface="Inter"/>
              </a:defRPr>
            </a:pPr>
            <a:r>
              <a:rPr sz="1380" b="0" dirty="0">
                <a:solidFill>
                  <a:srgbClr val="646464"/>
                </a:solidFill>
                <a:latin typeface="Inter"/>
                <a:ea typeface="Inter"/>
                <a:cs typeface="Inter"/>
              </a:rPr>
              <a:t>Reuse existing vectors</a:t>
            </a:r>
          </a:p>
        </p:txBody>
      </p:sp>
      <p:sp>
        <p:nvSpPr>
          <p:cNvPr id="59" name="refresh-delete">
            <a:extLst>
              <a:ext uri="{FF2B5EF4-FFF2-40B4-BE49-F238E27FC236}">
                <a16:creationId xmlns:a16="http://schemas.microsoft.com/office/drawing/2014/main" id="{846EB288-E7CE-43D0-8B4F-A7E454309D9B}"/>
              </a:ext>
            </a:extLst>
          </p:cNvPr>
          <p:cNvSpPr>
            <a:spLocks noGrp="1"/>
          </p:cNvSpPr>
          <p:nvPr/>
        </p:nvSpPr>
        <p:spPr>
          <a:xfrm>
            <a:off x="9697760" y="5631180"/>
            <a:ext cx="1981200" cy="243840"/>
          </a:xfrm>
          <a:prstGeom prst="rect">
            <a:avLst/>
          </a:prstGeom>
          <a:noFill/>
          <a:ln w="0">
            <a:noFill/>
            <a:prstDash val="solid"/>
          </a:ln>
        </p:spPr>
        <p:txBody>
          <a:bodyPr wrap="none" lIns="0" tIns="0" rIns="0" bIns="0" anchor="ctr">
            <a:noAutofit/>
          </a:bodyPr>
          <a:lstStyle/>
          <a:p>
            <a:pPr algn="l">
              <a:defRPr sz="1500" b="1">
                <a:solidFill>
                  <a:srgbClr val="1E1E1E"/>
                </a:solidFill>
                <a:latin typeface="Inter"/>
                <a:ea typeface="Inter"/>
                <a:cs typeface="Inter"/>
              </a:defRPr>
            </a:pPr>
            <a:r>
              <a:rPr lang="en-CA" sz="1200" b="1" dirty="0">
                <a:solidFill>
                  <a:srgbClr val="1E1E1E"/>
                </a:solidFill>
                <a:latin typeface="Inter"/>
                <a:ea typeface="Inter"/>
                <a:cs typeface="Inter"/>
              </a:rPr>
              <a:t>DELETED</a:t>
            </a:r>
            <a:endParaRPr sz="1500" b="1" dirty="0">
              <a:solidFill>
                <a:srgbClr val="1E1E1E"/>
              </a:solidFill>
              <a:latin typeface="Inter"/>
              <a:ea typeface="Inter"/>
              <a:cs typeface="Inter"/>
            </a:endParaRPr>
          </a:p>
        </p:txBody>
      </p:sp>
      <p:sp>
        <p:nvSpPr>
          <p:cNvPr id="60" name="refresh-delete-detail">
            <a:extLst>
              <a:ext uri="{FF2B5EF4-FFF2-40B4-BE49-F238E27FC236}">
                <a16:creationId xmlns:a16="http://schemas.microsoft.com/office/drawing/2014/main" id="{787D3F66-D776-41E7-A1CE-87D5F8D794D7}"/>
              </a:ext>
            </a:extLst>
          </p:cNvPr>
          <p:cNvSpPr>
            <a:spLocks noGrp="1"/>
          </p:cNvSpPr>
          <p:nvPr/>
        </p:nvSpPr>
        <p:spPr>
          <a:xfrm>
            <a:off x="9697760" y="5935980"/>
            <a:ext cx="2118360" cy="243840"/>
          </a:xfrm>
          <a:prstGeom prst="rect">
            <a:avLst/>
          </a:prstGeom>
          <a:noFill/>
          <a:ln w="0">
            <a:noFill/>
            <a:prstDash val="solid"/>
          </a:ln>
        </p:spPr>
        <p:txBody>
          <a:bodyPr wrap="none" lIns="0" tIns="0" rIns="0" bIns="0" anchor="ctr">
            <a:noAutofit/>
          </a:bodyPr>
          <a:lstStyle/>
          <a:p>
            <a:pPr algn="l">
              <a:defRPr sz="1380" b="0">
                <a:solidFill>
                  <a:srgbClr val="646464"/>
                </a:solidFill>
                <a:latin typeface="Inter"/>
                <a:ea typeface="Inter"/>
                <a:cs typeface="Inter"/>
              </a:defRPr>
            </a:pPr>
            <a:r>
              <a:rPr sz="1380" b="0" dirty="0">
                <a:solidFill>
                  <a:srgbClr val="646464"/>
                </a:solidFill>
                <a:latin typeface="Inter"/>
                <a:ea typeface="Inter"/>
                <a:cs typeface="Inter"/>
              </a:rPr>
              <a:t>Remove stale chunks</a:t>
            </a:r>
          </a:p>
        </p:txBody>
      </p:sp>
      <p:sp>
        <p:nvSpPr>
          <p:cNvPr id="9201" name="Slide Number Placeholder 3">
            <a:extLst>
              <a:ext uri="{FF2B5EF4-FFF2-40B4-BE49-F238E27FC236}">
                <a16:creationId xmlns:a16="http://schemas.microsoft.com/office/drawing/2014/main" id="{E98A4731-19CE-28F0-6564-BE2C1D1F52D4}"/>
              </a:ext>
            </a:extLst>
          </p:cNvPr>
          <p:cNvSpPr>
            <a:spLocks noGrp="1"/>
          </p:cNvSpPr>
          <p:nvPr>
            <p:ph type="sldNum" idx="12"/>
          </p:nvPr>
        </p:nvSpPr>
        <p:spPr>
          <a:xfrm>
            <a:off x="315001" y="6463801"/>
            <a:ext cx="248137" cy="254509"/>
          </a:xfrm>
        </p:spPr>
        <p:txBody>
          <a:bodyPr/>
          <a:lstStyle/>
          <a:p>
            <a:pPr marL="0" marR="0" indent="0" algn="l">
              <a:spcBef>
                <a:spcPts val="0"/>
              </a:spcBef>
              <a:buNone/>
              <a:defRPr sz="900" b="1" i="0" u="none" cap="none">
                <a:solidFill>
                  <a:schemeClr val="dk1"/>
                </a:solidFill>
                <a:latin typeface="Inter"/>
                <a:ea typeface="Inter"/>
                <a:cs typeface="Inter"/>
              </a:defRPr>
            </a:pPr>
            <a:fld id="{CBA53E11-492D-48B3-9F9B-09541CA2A39A}" type="slidenum">
              <a:rPr sz="900" b="1" i="0" u="none" cap="none">
                <a:solidFill>
                  <a:schemeClr val="dk1"/>
                </a:solidFill>
                <a:latin typeface="Inter"/>
                <a:ea typeface="Inter"/>
                <a:cs typeface="Inter"/>
              </a:rPr>
              <a:t>3</a:t>
            </a:fld>
            <a:endParaRPr/>
          </a:p>
        </p:txBody>
      </p:sp>
      <p:pic>
        <p:nvPicPr>
          <p:cNvPr id="4" name="Picture 3">
            <a:extLst>
              <a:ext uri="{FF2B5EF4-FFF2-40B4-BE49-F238E27FC236}">
                <a16:creationId xmlns:a16="http://schemas.microsoft.com/office/drawing/2014/main" id="{8113FDE0-4660-DCBB-C9F3-98FA214312AD}"/>
              </a:ext>
            </a:extLst>
          </p:cNvPr>
          <p:cNvPicPr>
            <a:picLocks noChangeAspect="1"/>
          </p:cNvPicPr>
          <p:nvPr/>
        </p:nvPicPr>
        <p:blipFill>
          <a:blip r:embed="rId3"/>
          <a:stretch>
            <a:fillRect/>
          </a:stretch>
        </p:blipFill>
        <p:spPr>
          <a:xfrm>
            <a:off x="999128" y="3930839"/>
            <a:ext cx="977636" cy="966773"/>
          </a:xfrm>
          <a:prstGeom prst="rect">
            <a:avLst/>
          </a:prstGeom>
        </p:spPr>
      </p:pic>
      <p:pic>
        <p:nvPicPr>
          <p:cNvPr id="37" name="Picture 36">
            <a:extLst>
              <a:ext uri="{FF2B5EF4-FFF2-40B4-BE49-F238E27FC236}">
                <a16:creationId xmlns:a16="http://schemas.microsoft.com/office/drawing/2014/main" id="{35574FE2-C91E-C805-52A5-DB7AB530A51C}"/>
              </a:ext>
            </a:extLst>
          </p:cNvPr>
          <p:cNvPicPr>
            <a:picLocks noChangeAspect="1"/>
          </p:cNvPicPr>
          <p:nvPr/>
        </p:nvPicPr>
        <p:blipFill>
          <a:blip r:embed="rId4"/>
          <a:stretch>
            <a:fillRect/>
          </a:stretch>
        </p:blipFill>
        <p:spPr>
          <a:xfrm>
            <a:off x="4421069" y="3812937"/>
            <a:ext cx="1391523" cy="1391523"/>
          </a:xfrm>
          <a:prstGeom prst="rect">
            <a:avLst/>
          </a:prstGeom>
        </p:spPr>
      </p:pic>
      <p:pic>
        <p:nvPicPr>
          <p:cNvPr id="43" name="Graphic 42" descr="Device Embedded Embedding Vector SVG Icon - SVG Repo">
            <a:extLst>
              <a:ext uri="{FF2B5EF4-FFF2-40B4-BE49-F238E27FC236}">
                <a16:creationId xmlns:a16="http://schemas.microsoft.com/office/drawing/2014/main" id="{93920C5A-6507-FBA9-A41B-7018A61E123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15800" y="3562639"/>
            <a:ext cx="774507" cy="774507"/>
          </a:xfrm>
          <a:prstGeom prst="rect">
            <a:avLst/>
          </a:prstGeom>
        </p:spPr>
      </p:pic>
      <p:pic>
        <p:nvPicPr>
          <p:cNvPr id="49" name="Picture 48" descr="File:Git icon.svg - Wikimedia Commons">
            <a:extLst>
              <a:ext uri="{FF2B5EF4-FFF2-40B4-BE49-F238E27FC236}">
                <a16:creationId xmlns:a16="http://schemas.microsoft.com/office/drawing/2014/main" id="{E7D7D652-006D-91E1-65CF-C9FC5DBAE010}"/>
              </a:ext>
            </a:extLst>
          </p:cNvPr>
          <p:cNvPicPr>
            <a:picLocks noChangeAspect="1"/>
          </p:cNvPicPr>
          <p:nvPr/>
        </p:nvPicPr>
        <p:blipFill>
          <a:blip r:embed="rId6"/>
          <a:stretch>
            <a:fillRect/>
          </a:stretch>
        </p:blipFill>
        <p:spPr>
          <a:xfrm>
            <a:off x="800000" y="5497900"/>
            <a:ext cx="560000" cy="560000"/>
          </a:xfrm>
          <a:prstGeom prst="rect">
            <a:avLst/>
          </a:prstGeom>
        </p:spPr>
      </p:pic>
      <p:sp>
        <p:nvSpPr>
          <p:cNvPr id="51" name="TextBox 50">
            <a:extLst>
              <a:ext uri="{FF2B5EF4-FFF2-40B4-BE49-F238E27FC236}">
                <a16:creationId xmlns:a16="http://schemas.microsoft.com/office/drawing/2014/main" id="{4F0480AB-79DA-BC28-8C43-81A55696EFB9}"/>
              </a:ext>
            </a:extLst>
          </p:cNvPr>
          <p:cNvSpPr txBox="1"/>
          <p:nvPr/>
        </p:nvSpPr>
        <p:spPr>
          <a:xfrm>
            <a:off x="563138" y="6061522"/>
            <a:ext cx="1370571" cy="276999"/>
          </a:xfrm>
          <a:prstGeom prst="rect">
            <a:avLst/>
          </a:prstGeom>
          <a:noFill/>
        </p:spPr>
        <p:txBody>
          <a:bodyPr wrap="square">
            <a:spAutoFit/>
          </a:bodyPr>
          <a:lstStyle/>
          <a:p>
            <a:pPr algn="l">
              <a:defRPr sz="1150" b="1">
                <a:solidFill>
                  <a:srgbClr val="1E1E1E"/>
                </a:solidFill>
                <a:latin typeface="Inter"/>
                <a:ea typeface="Inter"/>
                <a:cs typeface="Inter"/>
              </a:defRPr>
            </a:pPr>
            <a:r>
              <a:rPr lang="en-CA" sz="1200" b="1" dirty="0">
                <a:solidFill>
                  <a:srgbClr val="1E1E1E"/>
                </a:solidFill>
                <a:latin typeface="Inter"/>
                <a:ea typeface="Inter"/>
                <a:cs typeface="Inter"/>
              </a:rPr>
              <a:t>&lt; git pull &gt;</a:t>
            </a:r>
          </a:p>
        </p:txBody>
      </p:sp>
    </p:spTree>
    <p:extLst>
      <p:ext uri="{BB962C8B-B14F-4D97-AF65-F5344CB8AC3E}">
        <p14:creationId xmlns:p14="http://schemas.microsoft.com/office/powerpoint/2010/main" val="642805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0" name="Title">
            <a:extLst>
              <a:ext uri="{FF2B5EF4-FFF2-40B4-BE49-F238E27FC236}">
                <a16:creationId xmlns:a16="http://schemas.microsoft.com/office/drawing/2014/main" id="{E7E89F8C-6493-4290-A6E8-080507336A6A}"/>
              </a:ext>
            </a:extLst>
          </p:cNvPr>
          <p:cNvSpPr>
            <a:spLocks noGrp="1"/>
          </p:cNvSpPr>
          <p:nvPr/>
        </p:nvSpPr>
        <p:spPr>
          <a:xfrm>
            <a:off x="509865" y="380000"/>
            <a:ext cx="11172270" cy="560000"/>
          </a:xfrm>
          <a:prstGeom prst="rect">
            <a:avLst/>
          </a:prstGeom>
        </p:spPr>
        <p:txBody>
          <a:bodyPr wrap="square" lIns="91440" tIns="45720" rIns="91440" bIns="45720" anchor="t"/>
          <a:lstStyle/>
          <a:p>
            <a:pPr algn="l">
              <a:buNone/>
            </a:pPr>
            <a:r>
              <a:rPr sz="2400" b="1">
                <a:solidFill>
                  <a:srgbClr val="000000"/>
                </a:solidFill>
                <a:latin typeface="Inter"/>
                <a:ea typeface="Inter"/>
                <a:cs typeface="Inter"/>
              </a:rPr>
              <a:t>RAG answers: retrieve, generate, validate</a:t>
            </a:r>
          </a:p>
        </p:txBody>
      </p:sp>
      <p:sp>
        <p:nvSpPr>
          <p:cNvPr id="9101" name="Accent">
            <a:extLst>
              <a:ext uri="{FF2B5EF4-FFF2-40B4-BE49-F238E27FC236}">
                <a16:creationId xmlns:a16="http://schemas.microsoft.com/office/drawing/2014/main" id="{4521394B-A644-4F23-AB01-393CD9936336}"/>
              </a:ext>
            </a:extLst>
          </p:cNvPr>
          <p:cNvSpPr>
            <a:spLocks noGrp="1"/>
          </p:cNvSpPr>
          <p:nvPr/>
        </p:nvSpPr>
        <p:spPr>
          <a:xfrm>
            <a:off x="520000" y="970000"/>
            <a:ext cx="560000" cy="72000"/>
          </a:xfrm>
          <a:prstGeom prst="rect">
            <a:avLst/>
          </a:prstGeom>
          <a:solidFill>
            <a:srgbClr val="C5FF00"/>
          </a:solidFill>
        </p:spPr>
        <p:txBody>
          <a:bodyPr wrap="square" lIns="91440" tIns="45720" rIns="91440" bIns="45720" anchor="t"/>
          <a:lstStyle/>
          <a:p>
            <a:pPr algn="l">
              <a:buNone/>
            </a:pPr>
            <a:endParaRPr/>
          </a:p>
        </p:txBody>
      </p:sp>
      <p:sp>
        <p:nvSpPr>
          <p:cNvPr id="2" name="subtitle">
            <a:extLst>
              <a:ext uri="{FF2B5EF4-FFF2-40B4-BE49-F238E27FC236}">
                <a16:creationId xmlns:a16="http://schemas.microsoft.com/office/drawing/2014/main" id="{0A395C03-98BC-49B6-B3E4-5CFE7C047882}"/>
              </a:ext>
            </a:extLst>
          </p:cNvPr>
          <p:cNvSpPr>
            <a:spLocks noGrp="1"/>
          </p:cNvSpPr>
          <p:nvPr/>
        </p:nvSpPr>
        <p:spPr>
          <a:xfrm>
            <a:off x="563880" y="1089660"/>
            <a:ext cx="11049000" cy="304800"/>
          </a:xfrm>
          <a:prstGeom prst="rect">
            <a:avLst/>
          </a:prstGeom>
          <a:noFill/>
          <a:ln w="0">
            <a:noFill/>
            <a:prstDash val="solid"/>
          </a:ln>
        </p:spPr>
        <p:txBody>
          <a:bodyPr wrap="none" lIns="0" tIns="0" rIns="0" bIns="0" anchor="ctr">
            <a:noAutofit/>
          </a:bodyPr>
          <a:lstStyle/>
          <a:p>
            <a:pPr algn="l">
              <a:defRPr sz="1600" b="0">
                <a:solidFill>
                  <a:srgbClr val="646464"/>
                </a:solidFill>
                <a:latin typeface="Inter"/>
                <a:ea typeface="Inter"/>
                <a:cs typeface="Inter"/>
              </a:defRPr>
            </a:pPr>
            <a:r>
              <a:rPr sz="1600" b="0">
                <a:solidFill>
                  <a:srgbClr val="646464"/>
                </a:solidFill>
                <a:latin typeface="Inter"/>
                <a:ea typeface="Inter"/>
                <a:cs typeface="Inter"/>
              </a:rPr>
              <a:t>The question and code use the same embedding model</a:t>
            </a:r>
          </a:p>
        </p:txBody>
      </p:sp>
      <p:sp>
        <p:nvSpPr>
          <p:cNvPr id="5" name="question">
            <a:extLst>
              <a:ext uri="{FF2B5EF4-FFF2-40B4-BE49-F238E27FC236}">
                <a16:creationId xmlns:a16="http://schemas.microsoft.com/office/drawing/2014/main" id="{A180B3E6-47D0-404A-968B-2A8AEF487B7E}"/>
              </a:ext>
            </a:extLst>
          </p:cNvPr>
          <p:cNvSpPr>
            <a:spLocks noGrp="1"/>
          </p:cNvSpPr>
          <p:nvPr/>
        </p:nvSpPr>
        <p:spPr>
          <a:xfrm>
            <a:off x="548640" y="1973580"/>
            <a:ext cx="2019300" cy="1028700"/>
          </a:xfrm>
          <a:prstGeom prst="roundRect">
            <a:avLst>
              <a:gd name="adj" fmla="val 8889"/>
            </a:avLst>
          </a:prstGeom>
          <a:solidFill>
            <a:srgbClr val="FFFFFF"/>
          </a:solidFill>
          <a:ln w="11430">
            <a:solidFill>
              <a:srgbClr val="D5D5D1"/>
            </a:solidFill>
            <a:prstDash val="solid"/>
          </a:ln>
        </p:spPr>
      </p:sp>
      <p:sp>
        <p:nvSpPr>
          <p:cNvPr id="6" name="question-name">
            <a:extLst>
              <a:ext uri="{FF2B5EF4-FFF2-40B4-BE49-F238E27FC236}">
                <a16:creationId xmlns:a16="http://schemas.microsoft.com/office/drawing/2014/main" id="{B6702A2B-FFB2-4484-B7A6-14F41F17FC4B}"/>
              </a:ext>
            </a:extLst>
          </p:cNvPr>
          <p:cNvSpPr>
            <a:spLocks noGrp="1"/>
          </p:cNvSpPr>
          <p:nvPr/>
        </p:nvSpPr>
        <p:spPr>
          <a:xfrm>
            <a:off x="716280" y="2110740"/>
            <a:ext cx="1684020" cy="381000"/>
          </a:xfrm>
          <a:prstGeom prst="rect">
            <a:avLst/>
          </a:prstGeom>
          <a:noFill/>
          <a:ln w="0">
            <a:noFill/>
            <a:prstDash val="solid"/>
          </a:ln>
        </p:spPr>
        <p:txBody>
          <a:bodyPr wrap="none" lIns="0" tIns="0" rIns="0" bIns="0" anchor="ctr">
            <a:noAutofit/>
          </a:bodyPr>
          <a:lstStyle/>
          <a:p>
            <a:pPr algn="l">
              <a:defRPr sz="1620" b="1">
                <a:solidFill>
                  <a:srgbClr val="1E1E1E"/>
                </a:solidFill>
                <a:latin typeface="Inter"/>
                <a:ea typeface="Inter"/>
                <a:cs typeface="Inter"/>
              </a:defRPr>
            </a:pPr>
            <a:r>
              <a:rPr sz="1620" b="1" dirty="0">
                <a:solidFill>
                  <a:srgbClr val="1E1E1E"/>
                </a:solidFill>
                <a:latin typeface="Inter"/>
                <a:ea typeface="Inter"/>
                <a:cs typeface="Inter"/>
              </a:rPr>
              <a:t>Ask a question</a:t>
            </a:r>
          </a:p>
        </p:txBody>
      </p:sp>
      <p:sp>
        <p:nvSpPr>
          <p:cNvPr id="7" name="question-sub">
            <a:extLst>
              <a:ext uri="{FF2B5EF4-FFF2-40B4-BE49-F238E27FC236}">
                <a16:creationId xmlns:a16="http://schemas.microsoft.com/office/drawing/2014/main" id="{AE367A05-A4A1-47D3-96F2-8F831C35302D}"/>
              </a:ext>
            </a:extLst>
          </p:cNvPr>
          <p:cNvSpPr>
            <a:spLocks noGrp="1"/>
          </p:cNvSpPr>
          <p:nvPr/>
        </p:nvSpPr>
        <p:spPr>
          <a:xfrm>
            <a:off x="716280" y="2552700"/>
            <a:ext cx="1684020" cy="365760"/>
          </a:xfrm>
          <a:prstGeom prst="rect">
            <a:avLst/>
          </a:prstGeom>
          <a:noFill/>
          <a:ln w="0">
            <a:noFill/>
            <a:prstDash val="solid"/>
          </a:ln>
        </p:spPr>
        <p:txBody>
          <a:bodyPr wrap="none" lIns="0" tIns="0" rIns="0" bIns="0" anchor="ctr">
            <a:noAutofit/>
          </a:bodyPr>
          <a:lstStyle/>
          <a:p>
            <a:pPr algn="l">
              <a:defRPr sz="1380" b="0">
                <a:solidFill>
                  <a:srgbClr val="646464"/>
                </a:solidFill>
                <a:latin typeface="Inter"/>
                <a:ea typeface="Inter"/>
                <a:cs typeface="Inter"/>
              </a:defRPr>
            </a:pPr>
            <a:r>
              <a:rPr sz="1380" b="0" dirty="0">
                <a:solidFill>
                  <a:srgbClr val="646464"/>
                </a:solidFill>
                <a:latin typeface="Inter"/>
                <a:ea typeface="Inter"/>
                <a:cs typeface="Inter"/>
              </a:rPr>
              <a:t>Natural language</a:t>
            </a:r>
          </a:p>
        </p:txBody>
      </p:sp>
      <p:sp>
        <p:nvSpPr>
          <p:cNvPr id="8" name="guardrail">
            <a:extLst>
              <a:ext uri="{FF2B5EF4-FFF2-40B4-BE49-F238E27FC236}">
                <a16:creationId xmlns:a16="http://schemas.microsoft.com/office/drawing/2014/main" id="{E55E739B-85D9-4BAC-8BB1-3FA340585D2B}"/>
              </a:ext>
            </a:extLst>
          </p:cNvPr>
          <p:cNvSpPr>
            <a:spLocks noGrp="1"/>
          </p:cNvSpPr>
          <p:nvPr/>
        </p:nvSpPr>
        <p:spPr>
          <a:xfrm>
            <a:off x="3101340" y="1973580"/>
            <a:ext cx="1859280" cy="1028700"/>
          </a:xfrm>
          <a:prstGeom prst="roundRect">
            <a:avLst>
              <a:gd name="adj" fmla="val 8889"/>
            </a:avLst>
          </a:prstGeom>
          <a:solidFill>
            <a:srgbClr val="F4E9FF"/>
          </a:solidFill>
          <a:ln w="11430">
            <a:solidFill>
              <a:srgbClr val="DDB5FF"/>
            </a:solidFill>
            <a:prstDash val="solid"/>
          </a:ln>
        </p:spPr>
      </p:sp>
      <p:sp>
        <p:nvSpPr>
          <p:cNvPr id="9" name="guardrail-name">
            <a:extLst>
              <a:ext uri="{FF2B5EF4-FFF2-40B4-BE49-F238E27FC236}">
                <a16:creationId xmlns:a16="http://schemas.microsoft.com/office/drawing/2014/main" id="{5683FB49-9871-480A-A7AB-752FCC2EF4B6}"/>
              </a:ext>
            </a:extLst>
          </p:cNvPr>
          <p:cNvSpPr>
            <a:spLocks noGrp="1"/>
          </p:cNvSpPr>
          <p:nvPr/>
        </p:nvSpPr>
        <p:spPr>
          <a:xfrm>
            <a:off x="3268980" y="2110740"/>
            <a:ext cx="1524000" cy="381000"/>
          </a:xfrm>
          <a:prstGeom prst="rect">
            <a:avLst/>
          </a:prstGeom>
          <a:noFill/>
          <a:ln w="0">
            <a:noFill/>
            <a:prstDash val="solid"/>
          </a:ln>
        </p:spPr>
        <p:txBody>
          <a:bodyPr wrap="none" lIns="0" tIns="0" rIns="0" bIns="0" anchor="ctr">
            <a:noAutofit/>
          </a:bodyPr>
          <a:lstStyle/>
          <a:p>
            <a:pPr algn="l">
              <a:defRPr sz="1500" b="1">
                <a:solidFill>
                  <a:srgbClr val="1E1E1E"/>
                </a:solidFill>
                <a:latin typeface="Inter"/>
                <a:ea typeface="Inter"/>
                <a:cs typeface="Inter"/>
              </a:defRPr>
            </a:pPr>
            <a:r>
              <a:rPr sz="1500" b="1" dirty="0">
                <a:solidFill>
                  <a:srgbClr val="1E1E1E"/>
                </a:solidFill>
                <a:latin typeface="Inter"/>
                <a:ea typeface="Inter"/>
                <a:cs typeface="Inter"/>
              </a:rPr>
              <a:t>Screen request</a:t>
            </a:r>
          </a:p>
        </p:txBody>
      </p:sp>
      <p:sp>
        <p:nvSpPr>
          <p:cNvPr id="11" name="query-embed">
            <a:extLst>
              <a:ext uri="{FF2B5EF4-FFF2-40B4-BE49-F238E27FC236}">
                <a16:creationId xmlns:a16="http://schemas.microsoft.com/office/drawing/2014/main" id="{BDA07CDE-52D7-48FA-BB81-0AA4FD4E9C87}"/>
              </a:ext>
            </a:extLst>
          </p:cNvPr>
          <p:cNvSpPr>
            <a:spLocks noGrp="1"/>
          </p:cNvSpPr>
          <p:nvPr/>
        </p:nvSpPr>
        <p:spPr>
          <a:xfrm>
            <a:off x="5494020" y="1973580"/>
            <a:ext cx="2308860" cy="1028700"/>
          </a:xfrm>
          <a:prstGeom prst="roundRect">
            <a:avLst>
              <a:gd name="adj" fmla="val 8889"/>
            </a:avLst>
          </a:prstGeom>
          <a:solidFill>
            <a:srgbClr val="F3FFC2"/>
          </a:solidFill>
          <a:ln w="11430">
            <a:solidFill>
              <a:srgbClr val="BAD564"/>
            </a:solidFill>
            <a:prstDash val="solid"/>
          </a:ln>
        </p:spPr>
      </p:sp>
      <p:sp>
        <p:nvSpPr>
          <p:cNvPr id="12" name="query-embed-name">
            <a:extLst>
              <a:ext uri="{FF2B5EF4-FFF2-40B4-BE49-F238E27FC236}">
                <a16:creationId xmlns:a16="http://schemas.microsoft.com/office/drawing/2014/main" id="{72441055-E86D-4C57-BC0B-993CCC017E51}"/>
              </a:ext>
            </a:extLst>
          </p:cNvPr>
          <p:cNvSpPr>
            <a:spLocks noGrp="1"/>
          </p:cNvSpPr>
          <p:nvPr/>
        </p:nvSpPr>
        <p:spPr>
          <a:xfrm>
            <a:off x="5661660" y="2110740"/>
            <a:ext cx="1973580" cy="381000"/>
          </a:xfrm>
          <a:prstGeom prst="rect">
            <a:avLst/>
          </a:prstGeom>
          <a:noFill/>
          <a:ln w="0">
            <a:noFill/>
            <a:prstDash val="solid"/>
          </a:ln>
        </p:spPr>
        <p:txBody>
          <a:bodyPr wrap="none" lIns="0" tIns="0" rIns="0" bIns="0" anchor="ctr">
            <a:noAutofit/>
          </a:bodyPr>
          <a:lstStyle/>
          <a:p>
            <a:pPr algn="l">
              <a:defRPr sz="1620" b="1">
                <a:solidFill>
                  <a:srgbClr val="1E1E1E"/>
                </a:solidFill>
                <a:latin typeface="Inter"/>
                <a:ea typeface="Inter"/>
                <a:cs typeface="Inter"/>
              </a:defRPr>
            </a:pPr>
            <a:r>
              <a:rPr sz="1620" b="1">
                <a:solidFill>
                  <a:srgbClr val="1E1E1E"/>
                </a:solidFill>
                <a:latin typeface="Inter"/>
                <a:ea typeface="Inter"/>
                <a:cs typeface="Inter"/>
              </a:rPr>
              <a:t>Embed question</a:t>
            </a:r>
          </a:p>
        </p:txBody>
      </p:sp>
      <p:sp>
        <p:nvSpPr>
          <p:cNvPr id="13" name="query-embed-sub">
            <a:extLst>
              <a:ext uri="{FF2B5EF4-FFF2-40B4-BE49-F238E27FC236}">
                <a16:creationId xmlns:a16="http://schemas.microsoft.com/office/drawing/2014/main" id="{0B8197A3-F40F-4854-95BB-58E62E0043C1}"/>
              </a:ext>
            </a:extLst>
          </p:cNvPr>
          <p:cNvSpPr>
            <a:spLocks noGrp="1"/>
          </p:cNvSpPr>
          <p:nvPr/>
        </p:nvSpPr>
        <p:spPr>
          <a:xfrm>
            <a:off x="5661660" y="2552700"/>
            <a:ext cx="1973580" cy="365760"/>
          </a:xfrm>
          <a:prstGeom prst="rect">
            <a:avLst/>
          </a:prstGeom>
          <a:noFill/>
          <a:ln w="0">
            <a:noFill/>
            <a:prstDash val="solid"/>
          </a:ln>
        </p:spPr>
        <p:txBody>
          <a:bodyPr wrap="none" lIns="0" tIns="0" rIns="0" bIns="0" anchor="ctr">
            <a:noAutofit/>
          </a:bodyPr>
          <a:lstStyle/>
          <a:p>
            <a:pPr algn="l">
              <a:defRPr sz="1380" b="0">
                <a:solidFill>
                  <a:srgbClr val="646464"/>
                </a:solidFill>
                <a:latin typeface="Inter"/>
                <a:ea typeface="Inter"/>
                <a:cs typeface="Inter"/>
              </a:defRPr>
            </a:pPr>
            <a:r>
              <a:rPr sz="1380" b="0">
                <a:solidFill>
                  <a:srgbClr val="646464"/>
                </a:solidFill>
                <a:latin typeface="Inter"/>
                <a:ea typeface="Inter"/>
                <a:cs typeface="Inter"/>
              </a:rPr>
              <a:t>CodeRankEmbed</a:t>
            </a:r>
          </a:p>
        </p:txBody>
      </p:sp>
      <p:sp>
        <p:nvSpPr>
          <p:cNvPr id="14" name="vector-search">
            <a:extLst>
              <a:ext uri="{FF2B5EF4-FFF2-40B4-BE49-F238E27FC236}">
                <a16:creationId xmlns:a16="http://schemas.microsoft.com/office/drawing/2014/main" id="{BC255701-D597-4589-A718-1C2EDB7AC812}"/>
              </a:ext>
            </a:extLst>
          </p:cNvPr>
          <p:cNvSpPr>
            <a:spLocks noGrp="1"/>
          </p:cNvSpPr>
          <p:nvPr/>
        </p:nvSpPr>
        <p:spPr>
          <a:xfrm>
            <a:off x="8755380" y="1973580"/>
            <a:ext cx="2887980" cy="1028700"/>
          </a:xfrm>
          <a:prstGeom prst="roundRect">
            <a:avLst>
              <a:gd name="adj" fmla="val 8889"/>
            </a:avLst>
          </a:prstGeom>
          <a:solidFill>
            <a:srgbClr val="F3FFC2"/>
          </a:solidFill>
          <a:ln w="11430">
            <a:solidFill>
              <a:srgbClr val="BAD564"/>
            </a:solidFill>
            <a:prstDash val="solid"/>
          </a:ln>
        </p:spPr>
      </p:sp>
      <p:sp>
        <p:nvSpPr>
          <p:cNvPr id="15" name="vector-search-name">
            <a:extLst>
              <a:ext uri="{FF2B5EF4-FFF2-40B4-BE49-F238E27FC236}">
                <a16:creationId xmlns:a16="http://schemas.microsoft.com/office/drawing/2014/main" id="{4D945A56-C152-4B7D-A601-2F884265AA5D}"/>
              </a:ext>
            </a:extLst>
          </p:cNvPr>
          <p:cNvSpPr>
            <a:spLocks noGrp="1"/>
          </p:cNvSpPr>
          <p:nvPr/>
        </p:nvSpPr>
        <p:spPr>
          <a:xfrm>
            <a:off x="8923020" y="2110740"/>
            <a:ext cx="2552700" cy="381000"/>
          </a:xfrm>
          <a:prstGeom prst="rect">
            <a:avLst/>
          </a:prstGeom>
          <a:noFill/>
          <a:ln w="0">
            <a:noFill/>
            <a:prstDash val="solid"/>
          </a:ln>
        </p:spPr>
        <p:txBody>
          <a:bodyPr wrap="none" lIns="0" tIns="0" rIns="0" bIns="0" anchor="ctr">
            <a:noAutofit/>
          </a:bodyPr>
          <a:lstStyle/>
          <a:p>
            <a:pPr algn="l">
              <a:defRPr sz="1740" b="1">
                <a:solidFill>
                  <a:srgbClr val="1E1E1E"/>
                </a:solidFill>
                <a:latin typeface="Inter"/>
                <a:ea typeface="Inter"/>
                <a:cs typeface="Inter"/>
              </a:defRPr>
            </a:pPr>
            <a:r>
              <a:rPr sz="1740" b="1">
                <a:solidFill>
                  <a:srgbClr val="1E1E1E"/>
                </a:solidFill>
                <a:latin typeface="Inter"/>
                <a:ea typeface="Inter"/>
                <a:cs typeface="Inter"/>
              </a:rPr>
              <a:t>Similarity search</a:t>
            </a:r>
          </a:p>
        </p:txBody>
      </p:sp>
      <p:sp>
        <p:nvSpPr>
          <p:cNvPr id="16" name="vector-search-sub">
            <a:extLst>
              <a:ext uri="{FF2B5EF4-FFF2-40B4-BE49-F238E27FC236}">
                <a16:creationId xmlns:a16="http://schemas.microsoft.com/office/drawing/2014/main" id="{1EB063BD-7553-429B-AEF8-F39D9C4BAD7D}"/>
              </a:ext>
            </a:extLst>
          </p:cNvPr>
          <p:cNvSpPr>
            <a:spLocks noGrp="1"/>
          </p:cNvSpPr>
          <p:nvPr/>
        </p:nvSpPr>
        <p:spPr>
          <a:xfrm>
            <a:off x="8923020" y="2552700"/>
            <a:ext cx="2552700" cy="365760"/>
          </a:xfrm>
          <a:prstGeom prst="rect">
            <a:avLst/>
          </a:prstGeom>
          <a:noFill/>
          <a:ln w="0">
            <a:noFill/>
            <a:prstDash val="solid"/>
          </a:ln>
        </p:spPr>
        <p:txBody>
          <a:bodyPr wrap="none" lIns="0" tIns="0" rIns="0" bIns="0" anchor="ctr">
            <a:noAutofit/>
          </a:bodyPr>
          <a:lstStyle/>
          <a:p>
            <a:pPr algn="l">
              <a:defRPr sz="1380" b="0">
                <a:solidFill>
                  <a:srgbClr val="646464"/>
                </a:solidFill>
                <a:latin typeface="Inter"/>
                <a:ea typeface="Inter"/>
                <a:cs typeface="Inter"/>
              </a:defRPr>
            </a:pPr>
            <a:r>
              <a:rPr sz="1380" b="0">
                <a:solidFill>
                  <a:srgbClr val="646464"/>
                </a:solidFill>
                <a:latin typeface="Inter"/>
                <a:ea typeface="Inter"/>
                <a:cs typeface="Inter"/>
              </a:rPr>
              <a:t>LanceDB vectors</a:t>
            </a:r>
          </a:p>
        </p:txBody>
      </p:sp>
      <p:cxnSp>
        <p:nvCxnSpPr>
          <p:cNvPr id="9217" name="Straight Arrow Connector 9216"/>
          <p:cNvCxnSpPr>
            <a:stCxn id="5" idx="3"/>
            <a:endCxn id="8" idx="1"/>
          </p:cNvCxnSpPr>
          <p:nvPr/>
        </p:nvCxnSpPr>
        <p:spPr>
          <a:xfrm>
            <a:off x="2567940" y="2487930"/>
            <a:ext cx="533400" cy="0"/>
          </a:xfrm>
          <a:prstGeom prst="straightConnector1">
            <a:avLst/>
          </a:prstGeom>
          <a:ln w="22860">
            <a:solidFill>
              <a:srgbClr val="C5FF00"/>
            </a:solidFill>
            <a:prstDash val="solid"/>
            <a:tailEnd type="triangle" w="lg" len="med"/>
          </a:ln>
        </p:spPr>
      </p:cxnSp>
      <p:cxnSp>
        <p:nvCxnSpPr>
          <p:cNvPr id="9218" name="Straight Arrow Connector 9217"/>
          <p:cNvCxnSpPr>
            <a:stCxn id="8" idx="3"/>
            <a:endCxn id="11" idx="1"/>
          </p:cNvCxnSpPr>
          <p:nvPr/>
        </p:nvCxnSpPr>
        <p:spPr>
          <a:xfrm>
            <a:off x="4960620" y="2487930"/>
            <a:ext cx="533400" cy="0"/>
          </a:xfrm>
          <a:prstGeom prst="straightConnector1">
            <a:avLst/>
          </a:prstGeom>
          <a:ln w="22860">
            <a:solidFill>
              <a:srgbClr val="C5FF00"/>
            </a:solidFill>
            <a:prstDash val="solid"/>
            <a:tailEnd type="triangle" w="lg" len="med"/>
          </a:ln>
        </p:spPr>
      </p:cxnSp>
      <p:cxnSp>
        <p:nvCxnSpPr>
          <p:cNvPr id="9219" name="Straight Arrow Connector 9218"/>
          <p:cNvCxnSpPr>
            <a:stCxn id="11" idx="3"/>
            <a:endCxn id="14" idx="1"/>
          </p:cNvCxnSpPr>
          <p:nvPr/>
        </p:nvCxnSpPr>
        <p:spPr>
          <a:xfrm>
            <a:off x="7802880" y="2487930"/>
            <a:ext cx="952500" cy="0"/>
          </a:xfrm>
          <a:prstGeom prst="straightConnector1">
            <a:avLst/>
          </a:prstGeom>
          <a:ln w="22860">
            <a:solidFill>
              <a:srgbClr val="C5FF00"/>
            </a:solidFill>
            <a:prstDash val="solid"/>
            <a:tailEnd type="triangle" w="lg" len="med"/>
          </a:ln>
        </p:spPr>
      </p:cxnSp>
      <p:sp>
        <p:nvSpPr>
          <p:cNvPr id="20" name="clarify">
            <a:extLst>
              <a:ext uri="{FF2B5EF4-FFF2-40B4-BE49-F238E27FC236}">
                <a16:creationId xmlns:a16="http://schemas.microsoft.com/office/drawing/2014/main" id="{8BBE30F9-2A0E-4815-9201-7720ABC79D6C}"/>
              </a:ext>
            </a:extLst>
          </p:cNvPr>
          <p:cNvSpPr>
            <a:spLocks noGrp="1"/>
          </p:cNvSpPr>
          <p:nvPr/>
        </p:nvSpPr>
        <p:spPr>
          <a:xfrm>
            <a:off x="2987040" y="3208020"/>
            <a:ext cx="2324100" cy="220980"/>
          </a:xfrm>
          <a:prstGeom prst="rect">
            <a:avLst/>
          </a:prstGeom>
          <a:noFill/>
          <a:ln w="0">
            <a:noFill/>
            <a:prstDash val="solid"/>
          </a:ln>
        </p:spPr>
        <p:txBody>
          <a:bodyPr wrap="none" lIns="0" tIns="0" rIns="0" bIns="0" anchor="ctr">
            <a:noAutofit/>
          </a:bodyPr>
          <a:lstStyle/>
          <a:p>
            <a:pPr algn="ctr">
              <a:defRPr sz="1140" b="0">
                <a:solidFill>
                  <a:srgbClr val="646464"/>
                </a:solidFill>
                <a:latin typeface="Inter"/>
                <a:ea typeface="Inter"/>
                <a:cs typeface="Inter"/>
              </a:defRPr>
            </a:pPr>
            <a:r>
              <a:rPr sz="1140" b="0">
                <a:solidFill>
                  <a:srgbClr val="646464"/>
                </a:solidFill>
                <a:latin typeface="Inter"/>
                <a:ea typeface="Inter"/>
                <a:cs typeface="Inter"/>
              </a:rPr>
              <a:t>Clarify or decline if needed</a:t>
            </a:r>
          </a:p>
        </p:txBody>
      </p:sp>
      <p:sp>
        <p:nvSpPr>
          <p:cNvPr id="21" name="match-label">
            <a:extLst>
              <a:ext uri="{FF2B5EF4-FFF2-40B4-BE49-F238E27FC236}">
                <a16:creationId xmlns:a16="http://schemas.microsoft.com/office/drawing/2014/main" id="{C3221DF7-FAFF-46E2-A2D8-9E89E2A08020}"/>
              </a:ext>
            </a:extLst>
          </p:cNvPr>
          <p:cNvSpPr>
            <a:spLocks noGrp="1"/>
          </p:cNvSpPr>
          <p:nvPr/>
        </p:nvSpPr>
        <p:spPr>
          <a:xfrm>
            <a:off x="7795260" y="1623060"/>
            <a:ext cx="1973580" cy="220980"/>
          </a:xfrm>
          <a:prstGeom prst="rect">
            <a:avLst/>
          </a:prstGeom>
          <a:noFill/>
          <a:ln w="0">
            <a:noFill/>
            <a:prstDash val="solid"/>
          </a:ln>
        </p:spPr>
        <p:txBody>
          <a:bodyPr wrap="none" lIns="0" tIns="0" rIns="0" bIns="0" anchor="ctr">
            <a:noAutofit/>
          </a:bodyPr>
          <a:lstStyle/>
          <a:p>
            <a:pPr algn="ctr">
              <a:defRPr sz="1200" b="0">
                <a:solidFill>
                  <a:srgbClr val="657F00"/>
                </a:solidFill>
                <a:latin typeface="Inter"/>
                <a:ea typeface="Inter"/>
                <a:cs typeface="Inter"/>
              </a:defRPr>
            </a:pPr>
            <a:r>
              <a:rPr sz="1200" b="0">
                <a:solidFill>
                  <a:srgbClr val="657F00"/>
                </a:solidFill>
                <a:latin typeface="Inter"/>
                <a:ea typeface="Inter"/>
                <a:cs typeface="Inter"/>
              </a:rPr>
              <a:t>Match by meaning</a:t>
            </a:r>
          </a:p>
        </p:txBody>
      </p:sp>
      <p:sp>
        <p:nvSpPr>
          <p:cNvPr id="22" name="retrieved-evidence">
            <a:extLst>
              <a:ext uri="{FF2B5EF4-FFF2-40B4-BE49-F238E27FC236}">
                <a16:creationId xmlns:a16="http://schemas.microsoft.com/office/drawing/2014/main" id="{F7752DEB-30E1-49DD-AE48-8FDD4A6047E1}"/>
              </a:ext>
            </a:extLst>
          </p:cNvPr>
          <p:cNvSpPr>
            <a:spLocks noGrp="1"/>
          </p:cNvSpPr>
          <p:nvPr/>
        </p:nvSpPr>
        <p:spPr>
          <a:xfrm>
            <a:off x="9159240" y="4030980"/>
            <a:ext cx="2484120" cy="1059180"/>
          </a:xfrm>
          <a:prstGeom prst="roundRect">
            <a:avLst>
              <a:gd name="adj" fmla="val 8633"/>
            </a:avLst>
          </a:prstGeom>
          <a:solidFill>
            <a:srgbClr val="F3FFC2"/>
          </a:solidFill>
          <a:ln w="11430">
            <a:solidFill>
              <a:srgbClr val="BAD564"/>
            </a:solidFill>
            <a:prstDash val="solid"/>
          </a:ln>
        </p:spPr>
      </p:sp>
      <p:sp>
        <p:nvSpPr>
          <p:cNvPr id="23" name="retrieved-evidence-name">
            <a:extLst>
              <a:ext uri="{FF2B5EF4-FFF2-40B4-BE49-F238E27FC236}">
                <a16:creationId xmlns:a16="http://schemas.microsoft.com/office/drawing/2014/main" id="{C2B3E1F6-8E3B-4544-9501-EC3A9298777B}"/>
              </a:ext>
            </a:extLst>
          </p:cNvPr>
          <p:cNvSpPr>
            <a:spLocks noGrp="1"/>
          </p:cNvSpPr>
          <p:nvPr/>
        </p:nvSpPr>
        <p:spPr>
          <a:xfrm>
            <a:off x="9326880" y="4168140"/>
            <a:ext cx="2148840" cy="381000"/>
          </a:xfrm>
          <a:prstGeom prst="rect">
            <a:avLst/>
          </a:prstGeom>
          <a:noFill/>
          <a:ln w="0">
            <a:noFill/>
            <a:prstDash val="solid"/>
          </a:ln>
        </p:spPr>
        <p:txBody>
          <a:bodyPr wrap="none" lIns="0" tIns="0" rIns="0" bIns="0" anchor="ctr">
            <a:noAutofit/>
          </a:bodyPr>
          <a:lstStyle/>
          <a:p>
            <a:pPr algn="l">
              <a:defRPr sz="1740" b="1">
                <a:solidFill>
                  <a:srgbClr val="1E1E1E"/>
                </a:solidFill>
                <a:latin typeface="Inter"/>
                <a:ea typeface="Inter"/>
                <a:cs typeface="Inter"/>
              </a:defRPr>
            </a:pPr>
            <a:r>
              <a:rPr sz="1740" b="1">
                <a:solidFill>
                  <a:srgbClr val="1E1E1E"/>
                </a:solidFill>
                <a:latin typeface="Inter"/>
                <a:ea typeface="Inter"/>
                <a:cs typeface="Inter"/>
              </a:rPr>
              <a:t>Top 10 chunks</a:t>
            </a:r>
          </a:p>
        </p:txBody>
      </p:sp>
      <p:sp>
        <p:nvSpPr>
          <p:cNvPr id="24" name="retrieved-evidence-sub">
            <a:extLst>
              <a:ext uri="{FF2B5EF4-FFF2-40B4-BE49-F238E27FC236}">
                <a16:creationId xmlns:a16="http://schemas.microsoft.com/office/drawing/2014/main" id="{70F13AEF-0C35-4EC8-9E9B-F97D13C51FF1}"/>
              </a:ext>
            </a:extLst>
          </p:cNvPr>
          <p:cNvSpPr>
            <a:spLocks noGrp="1"/>
          </p:cNvSpPr>
          <p:nvPr/>
        </p:nvSpPr>
        <p:spPr>
          <a:xfrm>
            <a:off x="9326880" y="4610100"/>
            <a:ext cx="2148840" cy="396240"/>
          </a:xfrm>
          <a:prstGeom prst="rect">
            <a:avLst/>
          </a:prstGeom>
          <a:noFill/>
          <a:ln w="0">
            <a:noFill/>
            <a:prstDash val="solid"/>
          </a:ln>
        </p:spPr>
        <p:txBody>
          <a:bodyPr wrap="none" lIns="0" tIns="0" rIns="0" bIns="0" anchor="ctr">
            <a:noAutofit/>
          </a:bodyPr>
          <a:lstStyle/>
          <a:p>
            <a:pPr algn="l">
              <a:defRPr sz="1380" b="0">
                <a:solidFill>
                  <a:srgbClr val="646464"/>
                </a:solidFill>
                <a:latin typeface="Inter"/>
                <a:ea typeface="Inter"/>
                <a:cs typeface="Inter"/>
              </a:defRPr>
            </a:pPr>
            <a:r>
              <a:rPr sz="1380" b="0">
                <a:solidFill>
                  <a:srgbClr val="646464"/>
                </a:solidFill>
                <a:latin typeface="Inter"/>
                <a:ea typeface="Inter"/>
                <a:cs typeface="Inter"/>
              </a:rPr>
              <a:t>Code + summaries</a:t>
            </a:r>
          </a:p>
        </p:txBody>
      </p:sp>
      <p:sp>
        <p:nvSpPr>
          <p:cNvPr id="25" name="generate">
            <a:extLst>
              <a:ext uri="{FF2B5EF4-FFF2-40B4-BE49-F238E27FC236}">
                <a16:creationId xmlns:a16="http://schemas.microsoft.com/office/drawing/2014/main" id="{0C514A45-B35D-4BB4-9694-3125F54AFC98}"/>
              </a:ext>
            </a:extLst>
          </p:cNvPr>
          <p:cNvSpPr>
            <a:spLocks noGrp="1"/>
          </p:cNvSpPr>
          <p:nvPr/>
        </p:nvSpPr>
        <p:spPr>
          <a:xfrm>
            <a:off x="6400800" y="4030980"/>
            <a:ext cx="2194560" cy="1059180"/>
          </a:xfrm>
          <a:prstGeom prst="roundRect">
            <a:avLst>
              <a:gd name="adj" fmla="val 8633"/>
            </a:avLst>
          </a:prstGeom>
          <a:solidFill>
            <a:srgbClr val="1E1E1E"/>
          </a:solidFill>
          <a:ln w="11430">
            <a:solidFill>
              <a:srgbClr val="1E1E1E"/>
            </a:solidFill>
            <a:prstDash val="solid"/>
          </a:ln>
        </p:spPr>
      </p:sp>
      <p:sp>
        <p:nvSpPr>
          <p:cNvPr id="26" name="generate-name">
            <a:extLst>
              <a:ext uri="{FF2B5EF4-FFF2-40B4-BE49-F238E27FC236}">
                <a16:creationId xmlns:a16="http://schemas.microsoft.com/office/drawing/2014/main" id="{0B57233B-CB3B-4F73-8504-6427772DC068}"/>
              </a:ext>
            </a:extLst>
          </p:cNvPr>
          <p:cNvSpPr>
            <a:spLocks noGrp="1"/>
          </p:cNvSpPr>
          <p:nvPr/>
        </p:nvSpPr>
        <p:spPr>
          <a:xfrm>
            <a:off x="6568440" y="4168140"/>
            <a:ext cx="1859280" cy="381000"/>
          </a:xfrm>
          <a:prstGeom prst="rect">
            <a:avLst/>
          </a:prstGeom>
          <a:noFill/>
          <a:ln w="0">
            <a:noFill/>
            <a:prstDash val="solid"/>
          </a:ln>
        </p:spPr>
        <p:txBody>
          <a:bodyPr wrap="none" lIns="0" tIns="0" rIns="0" bIns="0" anchor="ctr">
            <a:noAutofit/>
          </a:bodyPr>
          <a:lstStyle/>
          <a:p>
            <a:pPr algn="l">
              <a:defRPr sz="1740" b="1">
                <a:solidFill>
                  <a:srgbClr val="FFFFFF"/>
                </a:solidFill>
                <a:latin typeface="Inter"/>
                <a:ea typeface="Inter"/>
                <a:cs typeface="Inter"/>
              </a:defRPr>
            </a:pPr>
            <a:r>
              <a:rPr sz="1740" b="1">
                <a:solidFill>
                  <a:srgbClr val="FFFFFF"/>
                </a:solidFill>
                <a:latin typeface="Inter"/>
                <a:ea typeface="Inter"/>
                <a:cs typeface="Inter"/>
              </a:rPr>
              <a:t>Generate answer</a:t>
            </a:r>
          </a:p>
        </p:txBody>
      </p:sp>
      <p:sp>
        <p:nvSpPr>
          <p:cNvPr id="27" name="generate-sub">
            <a:extLst>
              <a:ext uri="{FF2B5EF4-FFF2-40B4-BE49-F238E27FC236}">
                <a16:creationId xmlns:a16="http://schemas.microsoft.com/office/drawing/2014/main" id="{60C26A3C-8999-4A4A-B312-969FD37D7116}"/>
              </a:ext>
            </a:extLst>
          </p:cNvPr>
          <p:cNvSpPr>
            <a:spLocks noGrp="1"/>
          </p:cNvSpPr>
          <p:nvPr/>
        </p:nvSpPr>
        <p:spPr>
          <a:xfrm>
            <a:off x="6568440" y="4610100"/>
            <a:ext cx="1859280" cy="396240"/>
          </a:xfrm>
          <a:prstGeom prst="rect">
            <a:avLst/>
          </a:prstGeom>
          <a:noFill/>
          <a:ln w="0">
            <a:noFill/>
            <a:prstDash val="solid"/>
          </a:ln>
        </p:spPr>
        <p:txBody>
          <a:bodyPr wrap="none" lIns="0" tIns="0" rIns="0" bIns="0" anchor="ctr">
            <a:noAutofit/>
          </a:bodyPr>
          <a:lstStyle/>
          <a:p>
            <a:pPr algn="l">
              <a:defRPr sz="1380" b="0">
                <a:solidFill>
                  <a:srgbClr val="BBBBBB"/>
                </a:solidFill>
                <a:latin typeface="Inter"/>
                <a:ea typeface="Inter"/>
                <a:cs typeface="Inter"/>
              </a:defRPr>
            </a:pPr>
            <a:r>
              <a:rPr sz="1380" b="0" dirty="0" err="1">
                <a:solidFill>
                  <a:srgbClr val="BBBBBB"/>
                </a:solidFill>
                <a:latin typeface="Inter"/>
                <a:ea typeface="Inter"/>
                <a:cs typeface="Inter"/>
              </a:rPr>
              <a:t>Groq</a:t>
            </a:r>
            <a:r>
              <a:rPr lang="en-CA" sz="1380" b="0" dirty="0">
                <a:solidFill>
                  <a:srgbClr val="BBBBBB"/>
                </a:solidFill>
                <a:latin typeface="Inter"/>
                <a:ea typeface="Inter"/>
                <a:cs typeface="Inter"/>
              </a:rPr>
              <a:t> + OSS GPT</a:t>
            </a:r>
            <a:endParaRPr sz="1380" b="0" dirty="0">
              <a:solidFill>
                <a:srgbClr val="BBBBBB"/>
              </a:solidFill>
              <a:latin typeface="Inter"/>
              <a:ea typeface="Inter"/>
              <a:cs typeface="Inter"/>
            </a:endParaRPr>
          </a:p>
        </p:txBody>
      </p:sp>
      <p:sp>
        <p:nvSpPr>
          <p:cNvPr id="28" name="validate">
            <a:extLst>
              <a:ext uri="{FF2B5EF4-FFF2-40B4-BE49-F238E27FC236}">
                <a16:creationId xmlns:a16="http://schemas.microsoft.com/office/drawing/2014/main" id="{D36FDDC7-68CB-4810-A747-AD998B64EBC5}"/>
              </a:ext>
            </a:extLst>
          </p:cNvPr>
          <p:cNvSpPr>
            <a:spLocks noGrp="1"/>
          </p:cNvSpPr>
          <p:nvPr/>
        </p:nvSpPr>
        <p:spPr>
          <a:xfrm>
            <a:off x="3314700" y="4030980"/>
            <a:ext cx="2522220" cy="1059180"/>
          </a:xfrm>
          <a:prstGeom prst="roundRect">
            <a:avLst>
              <a:gd name="adj" fmla="val 8633"/>
            </a:avLst>
          </a:prstGeom>
          <a:solidFill>
            <a:srgbClr val="F4E9FF"/>
          </a:solidFill>
          <a:ln w="11430">
            <a:solidFill>
              <a:srgbClr val="DDB5FF"/>
            </a:solidFill>
            <a:prstDash val="solid"/>
          </a:ln>
        </p:spPr>
      </p:sp>
      <p:sp>
        <p:nvSpPr>
          <p:cNvPr id="29" name="validate-name">
            <a:extLst>
              <a:ext uri="{FF2B5EF4-FFF2-40B4-BE49-F238E27FC236}">
                <a16:creationId xmlns:a16="http://schemas.microsoft.com/office/drawing/2014/main" id="{8DE50053-7250-41B8-B774-0915CEEA52E3}"/>
              </a:ext>
            </a:extLst>
          </p:cNvPr>
          <p:cNvSpPr>
            <a:spLocks noGrp="1"/>
          </p:cNvSpPr>
          <p:nvPr/>
        </p:nvSpPr>
        <p:spPr>
          <a:xfrm>
            <a:off x="3482340" y="4168140"/>
            <a:ext cx="2186940" cy="381000"/>
          </a:xfrm>
          <a:prstGeom prst="rect">
            <a:avLst/>
          </a:prstGeom>
          <a:noFill/>
          <a:ln w="0">
            <a:noFill/>
            <a:prstDash val="solid"/>
          </a:ln>
        </p:spPr>
        <p:txBody>
          <a:bodyPr wrap="none" lIns="0" tIns="0" rIns="0" bIns="0" anchor="ctr">
            <a:noAutofit/>
          </a:bodyPr>
          <a:lstStyle/>
          <a:p>
            <a:pPr algn="l">
              <a:defRPr sz="1740" b="1">
                <a:solidFill>
                  <a:srgbClr val="1E1E1E"/>
                </a:solidFill>
                <a:latin typeface="Inter"/>
                <a:ea typeface="Inter"/>
                <a:cs typeface="Inter"/>
              </a:defRPr>
            </a:pPr>
            <a:r>
              <a:rPr sz="1740" b="1">
                <a:solidFill>
                  <a:srgbClr val="1E1E1E"/>
                </a:solidFill>
                <a:latin typeface="Inter"/>
                <a:ea typeface="Inter"/>
                <a:cs typeface="Inter"/>
              </a:rPr>
              <a:t>Validate answer</a:t>
            </a:r>
          </a:p>
        </p:txBody>
      </p:sp>
      <p:sp>
        <p:nvSpPr>
          <p:cNvPr id="30" name="validate-sub">
            <a:extLst>
              <a:ext uri="{FF2B5EF4-FFF2-40B4-BE49-F238E27FC236}">
                <a16:creationId xmlns:a16="http://schemas.microsoft.com/office/drawing/2014/main" id="{6D92B5D8-F8CC-4F2E-B704-D89C61FA304B}"/>
              </a:ext>
            </a:extLst>
          </p:cNvPr>
          <p:cNvSpPr>
            <a:spLocks noGrp="1"/>
          </p:cNvSpPr>
          <p:nvPr/>
        </p:nvSpPr>
        <p:spPr>
          <a:xfrm>
            <a:off x="3482340" y="4610100"/>
            <a:ext cx="2186940" cy="396240"/>
          </a:xfrm>
          <a:prstGeom prst="rect">
            <a:avLst/>
          </a:prstGeom>
          <a:noFill/>
          <a:ln w="0">
            <a:noFill/>
            <a:prstDash val="solid"/>
          </a:ln>
        </p:spPr>
        <p:txBody>
          <a:bodyPr wrap="none" lIns="0" tIns="0" rIns="0" bIns="0" anchor="ctr">
            <a:noAutofit/>
          </a:bodyPr>
          <a:lstStyle/>
          <a:p>
            <a:pPr algn="l">
              <a:defRPr sz="1250" b="0">
                <a:solidFill>
                  <a:srgbClr val="646464"/>
                </a:solidFill>
                <a:latin typeface="Inter"/>
                <a:ea typeface="Inter"/>
                <a:cs typeface="Inter"/>
              </a:defRPr>
            </a:pPr>
            <a:r>
              <a:rPr sz="1250" b="0">
                <a:solidFill>
                  <a:srgbClr val="646464"/>
                </a:solidFill>
                <a:latin typeface="Inter"/>
                <a:ea typeface="Inter"/>
                <a:cs typeface="Inter"/>
              </a:rPr>
              <a:t>Gemini checks evidence</a:t>
            </a:r>
          </a:p>
        </p:txBody>
      </p:sp>
      <p:sp>
        <p:nvSpPr>
          <p:cNvPr id="31" name="answer">
            <a:extLst>
              <a:ext uri="{FF2B5EF4-FFF2-40B4-BE49-F238E27FC236}">
                <a16:creationId xmlns:a16="http://schemas.microsoft.com/office/drawing/2014/main" id="{B1FB9733-0774-45FA-972E-0AACD1951ECB}"/>
              </a:ext>
            </a:extLst>
          </p:cNvPr>
          <p:cNvSpPr>
            <a:spLocks noGrp="1"/>
          </p:cNvSpPr>
          <p:nvPr/>
        </p:nvSpPr>
        <p:spPr>
          <a:xfrm>
            <a:off x="548640" y="4030980"/>
            <a:ext cx="2202180" cy="1059180"/>
          </a:xfrm>
          <a:prstGeom prst="roundRect">
            <a:avLst>
              <a:gd name="adj" fmla="val 8633"/>
            </a:avLst>
          </a:prstGeom>
          <a:solidFill>
            <a:srgbClr val="C5FF00"/>
          </a:solidFill>
          <a:ln w="11430">
            <a:solidFill>
              <a:srgbClr val="C5FF00"/>
            </a:solidFill>
            <a:prstDash val="solid"/>
          </a:ln>
        </p:spPr>
      </p:sp>
      <p:sp>
        <p:nvSpPr>
          <p:cNvPr id="32" name="answer-name">
            <a:extLst>
              <a:ext uri="{FF2B5EF4-FFF2-40B4-BE49-F238E27FC236}">
                <a16:creationId xmlns:a16="http://schemas.microsoft.com/office/drawing/2014/main" id="{F60C9405-91E8-4950-81D9-4F25C1B714DE}"/>
              </a:ext>
            </a:extLst>
          </p:cNvPr>
          <p:cNvSpPr>
            <a:spLocks noGrp="1"/>
          </p:cNvSpPr>
          <p:nvPr/>
        </p:nvSpPr>
        <p:spPr>
          <a:xfrm>
            <a:off x="716280" y="4168140"/>
            <a:ext cx="1866900" cy="381000"/>
          </a:xfrm>
          <a:prstGeom prst="rect">
            <a:avLst/>
          </a:prstGeom>
          <a:noFill/>
          <a:ln w="0">
            <a:noFill/>
            <a:prstDash val="solid"/>
          </a:ln>
        </p:spPr>
        <p:txBody>
          <a:bodyPr wrap="none" lIns="0" tIns="0" rIns="0" bIns="0" anchor="ctr">
            <a:noAutofit/>
          </a:bodyPr>
          <a:lstStyle/>
          <a:p>
            <a:pPr algn="l">
              <a:defRPr sz="1620" b="1">
                <a:solidFill>
                  <a:srgbClr val="1E1E1E"/>
                </a:solidFill>
                <a:latin typeface="Inter"/>
                <a:ea typeface="Inter"/>
                <a:cs typeface="Inter"/>
              </a:defRPr>
            </a:pPr>
            <a:r>
              <a:rPr sz="1620" b="1">
                <a:solidFill>
                  <a:srgbClr val="1E1E1E"/>
                </a:solidFill>
                <a:latin typeface="Inter"/>
                <a:ea typeface="Inter"/>
                <a:cs typeface="Inter"/>
              </a:rPr>
              <a:t>Grounded answer</a:t>
            </a:r>
          </a:p>
        </p:txBody>
      </p:sp>
      <p:sp>
        <p:nvSpPr>
          <p:cNvPr id="33" name="answer-sub">
            <a:extLst>
              <a:ext uri="{FF2B5EF4-FFF2-40B4-BE49-F238E27FC236}">
                <a16:creationId xmlns:a16="http://schemas.microsoft.com/office/drawing/2014/main" id="{7E6D983A-CE0E-41BA-BA47-4C532E3194EF}"/>
              </a:ext>
            </a:extLst>
          </p:cNvPr>
          <p:cNvSpPr>
            <a:spLocks noGrp="1"/>
          </p:cNvSpPr>
          <p:nvPr/>
        </p:nvSpPr>
        <p:spPr>
          <a:xfrm>
            <a:off x="716280" y="4610100"/>
            <a:ext cx="1866900" cy="396240"/>
          </a:xfrm>
          <a:prstGeom prst="rect">
            <a:avLst/>
          </a:prstGeom>
          <a:noFill/>
          <a:ln w="0">
            <a:noFill/>
            <a:prstDash val="solid"/>
          </a:ln>
        </p:spPr>
        <p:txBody>
          <a:bodyPr wrap="none" lIns="0" tIns="0" rIns="0" bIns="0" anchor="ctr">
            <a:noAutofit/>
          </a:bodyPr>
          <a:lstStyle/>
          <a:p>
            <a:pPr algn="l">
              <a:defRPr sz="1380" b="0">
                <a:solidFill>
                  <a:srgbClr val="1E1E1E"/>
                </a:solidFill>
                <a:latin typeface="Inter"/>
                <a:ea typeface="Inter"/>
                <a:cs typeface="Inter"/>
              </a:defRPr>
            </a:pPr>
            <a:r>
              <a:rPr sz="1380" b="0">
                <a:solidFill>
                  <a:srgbClr val="1E1E1E"/>
                </a:solidFill>
                <a:latin typeface="Inter"/>
                <a:ea typeface="Inter"/>
                <a:cs typeface="Inter"/>
              </a:rPr>
              <a:t>Code + source files</a:t>
            </a:r>
          </a:p>
        </p:txBody>
      </p:sp>
      <p:cxnSp>
        <p:nvCxnSpPr>
          <p:cNvPr id="9234" name="Elbow Connector 9233"/>
          <p:cNvCxnSpPr>
            <a:stCxn id="14" idx="2"/>
            <a:endCxn id="22" idx="0"/>
          </p:cNvCxnSpPr>
          <p:nvPr/>
        </p:nvCxnSpPr>
        <p:spPr>
          <a:xfrm>
            <a:off x="10199370" y="3002280"/>
            <a:ext cx="201930" cy="1028700"/>
          </a:xfrm>
          <a:prstGeom prst="bentConnector4">
            <a:avLst>
              <a:gd name="adj1" fmla="val 0"/>
              <a:gd name="adj2" fmla="val 50000"/>
            </a:avLst>
          </a:prstGeom>
          <a:ln w="22860">
            <a:solidFill>
              <a:srgbClr val="C5FF00"/>
            </a:solidFill>
            <a:prstDash val="solid"/>
            <a:tailEnd type="triangle" w="lg" len="med"/>
          </a:ln>
        </p:spPr>
      </p:cxnSp>
      <p:cxnSp>
        <p:nvCxnSpPr>
          <p:cNvPr id="9235" name="Straight Arrow Connector 9234"/>
          <p:cNvCxnSpPr>
            <a:stCxn id="22" idx="1"/>
            <a:endCxn id="25" idx="3"/>
          </p:cNvCxnSpPr>
          <p:nvPr/>
        </p:nvCxnSpPr>
        <p:spPr>
          <a:xfrm flipH="1">
            <a:off x="8595360" y="4560570"/>
            <a:ext cx="563880" cy="0"/>
          </a:xfrm>
          <a:prstGeom prst="straightConnector1">
            <a:avLst/>
          </a:prstGeom>
          <a:ln w="22860">
            <a:solidFill>
              <a:srgbClr val="C5FF00"/>
            </a:solidFill>
            <a:prstDash val="solid"/>
            <a:tailEnd type="triangle" w="lg" len="med"/>
          </a:ln>
        </p:spPr>
      </p:cxnSp>
      <p:cxnSp>
        <p:nvCxnSpPr>
          <p:cNvPr id="9236" name="Straight Arrow Connector 9235"/>
          <p:cNvCxnSpPr>
            <a:stCxn id="25" idx="1"/>
            <a:endCxn id="28" idx="3"/>
          </p:cNvCxnSpPr>
          <p:nvPr/>
        </p:nvCxnSpPr>
        <p:spPr>
          <a:xfrm flipH="1">
            <a:off x="5836920" y="4560570"/>
            <a:ext cx="563880" cy="0"/>
          </a:xfrm>
          <a:prstGeom prst="straightConnector1">
            <a:avLst/>
          </a:prstGeom>
          <a:ln w="22860">
            <a:solidFill>
              <a:srgbClr val="C5FF00"/>
            </a:solidFill>
            <a:prstDash val="solid"/>
            <a:tailEnd type="triangle" w="lg" len="med"/>
          </a:ln>
        </p:spPr>
      </p:cxnSp>
      <p:cxnSp>
        <p:nvCxnSpPr>
          <p:cNvPr id="9237" name="Straight Arrow Connector 9236"/>
          <p:cNvCxnSpPr>
            <a:stCxn id="28" idx="1"/>
            <a:endCxn id="31" idx="3"/>
          </p:cNvCxnSpPr>
          <p:nvPr/>
        </p:nvCxnSpPr>
        <p:spPr>
          <a:xfrm flipH="1">
            <a:off x="2750820" y="4560570"/>
            <a:ext cx="563880" cy="0"/>
          </a:xfrm>
          <a:prstGeom prst="straightConnector1">
            <a:avLst/>
          </a:prstGeom>
          <a:ln w="22860">
            <a:solidFill>
              <a:srgbClr val="C5FF00"/>
            </a:solidFill>
            <a:prstDash val="solid"/>
            <a:tailEnd type="triangle" w="lg" len="med"/>
          </a:ln>
        </p:spPr>
      </p:cxnSp>
      <p:sp>
        <p:nvSpPr>
          <p:cNvPr id="38" name="pass-label">
            <a:extLst>
              <a:ext uri="{FF2B5EF4-FFF2-40B4-BE49-F238E27FC236}">
                <a16:creationId xmlns:a16="http://schemas.microsoft.com/office/drawing/2014/main" id="{6FCC4D16-6375-419C-93D4-162C41F8E7D9}"/>
              </a:ext>
            </a:extLst>
          </p:cNvPr>
          <p:cNvSpPr>
            <a:spLocks noGrp="1"/>
          </p:cNvSpPr>
          <p:nvPr/>
        </p:nvSpPr>
        <p:spPr>
          <a:xfrm>
            <a:off x="2781300" y="4282440"/>
            <a:ext cx="495300" cy="205740"/>
          </a:xfrm>
          <a:prstGeom prst="rect">
            <a:avLst/>
          </a:prstGeom>
          <a:noFill/>
          <a:ln w="0">
            <a:noFill/>
            <a:prstDash val="solid"/>
          </a:ln>
        </p:spPr>
        <p:txBody>
          <a:bodyPr wrap="none" lIns="0" tIns="0" rIns="0" bIns="0" anchor="ctr">
            <a:noAutofit/>
          </a:bodyPr>
          <a:lstStyle/>
          <a:p>
            <a:pPr algn="ctr">
              <a:defRPr sz="1200" b="0">
                <a:solidFill>
                  <a:srgbClr val="4B6000"/>
                </a:solidFill>
                <a:latin typeface="Inter"/>
                <a:ea typeface="Inter"/>
                <a:cs typeface="Inter"/>
              </a:defRPr>
            </a:pPr>
            <a:r>
              <a:rPr sz="1200" b="0">
                <a:solidFill>
                  <a:srgbClr val="4B6000"/>
                </a:solidFill>
                <a:latin typeface="Inter"/>
                <a:ea typeface="Inter"/>
                <a:cs typeface="Inter"/>
              </a:rPr>
              <a:t>Pass</a:t>
            </a:r>
          </a:p>
        </p:txBody>
      </p:sp>
      <p:sp>
        <p:nvSpPr>
          <p:cNvPr id="39" name="revise-cycle0">
            <a:extLst>
              <a:ext uri="{FF2B5EF4-FFF2-40B4-BE49-F238E27FC236}">
                <a16:creationId xmlns:a16="http://schemas.microsoft.com/office/drawing/2014/main" id="{2D060029-B13E-4B8A-A9AB-2C4DA378DC20}"/>
              </a:ext>
            </a:extLst>
          </p:cNvPr>
          <p:cNvSpPr>
            <a:spLocks noGrp="1"/>
          </p:cNvSpPr>
          <p:nvPr/>
        </p:nvSpPr>
        <p:spPr>
          <a:xfrm>
            <a:off x="4564380" y="5082540"/>
            <a:ext cx="15240" cy="15240"/>
          </a:xfrm>
          <a:prstGeom prst="rect">
            <a:avLst/>
          </a:prstGeom>
          <a:noFill/>
          <a:ln w="0">
            <a:noFill/>
            <a:prstDash val="solid"/>
          </a:ln>
        </p:spPr>
      </p:sp>
      <p:sp>
        <p:nvSpPr>
          <p:cNvPr id="40" name="revise-cycle1">
            <a:extLst>
              <a:ext uri="{FF2B5EF4-FFF2-40B4-BE49-F238E27FC236}">
                <a16:creationId xmlns:a16="http://schemas.microsoft.com/office/drawing/2014/main" id="{B791785F-BFC2-4715-8D64-172C84F38239}"/>
              </a:ext>
            </a:extLst>
          </p:cNvPr>
          <p:cNvSpPr>
            <a:spLocks noGrp="1"/>
          </p:cNvSpPr>
          <p:nvPr/>
        </p:nvSpPr>
        <p:spPr>
          <a:xfrm>
            <a:off x="4564380" y="5600700"/>
            <a:ext cx="15240" cy="15240"/>
          </a:xfrm>
          <a:prstGeom prst="rect">
            <a:avLst/>
          </a:prstGeom>
          <a:noFill/>
          <a:ln w="0">
            <a:noFill/>
            <a:prstDash val="solid"/>
          </a:ln>
        </p:spPr>
      </p:sp>
      <p:sp>
        <p:nvSpPr>
          <p:cNvPr id="41" name="revise-cycle2">
            <a:extLst>
              <a:ext uri="{FF2B5EF4-FFF2-40B4-BE49-F238E27FC236}">
                <a16:creationId xmlns:a16="http://schemas.microsoft.com/office/drawing/2014/main" id="{3F3CF60D-CEA3-49B5-8935-369EDE8BEDE6}"/>
              </a:ext>
            </a:extLst>
          </p:cNvPr>
          <p:cNvSpPr>
            <a:spLocks noGrp="1"/>
          </p:cNvSpPr>
          <p:nvPr/>
        </p:nvSpPr>
        <p:spPr>
          <a:xfrm>
            <a:off x="7490460" y="5600700"/>
            <a:ext cx="15240" cy="15240"/>
          </a:xfrm>
          <a:prstGeom prst="rect">
            <a:avLst/>
          </a:prstGeom>
          <a:noFill/>
          <a:ln w="0">
            <a:noFill/>
            <a:prstDash val="solid"/>
          </a:ln>
        </p:spPr>
      </p:sp>
      <p:sp>
        <p:nvSpPr>
          <p:cNvPr id="42" name="revise-cycle3">
            <a:extLst>
              <a:ext uri="{FF2B5EF4-FFF2-40B4-BE49-F238E27FC236}">
                <a16:creationId xmlns:a16="http://schemas.microsoft.com/office/drawing/2014/main" id="{AFBC91C2-6AA0-472E-9885-A44F0472920F}"/>
              </a:ext>
            </a:extLst>
          </p:cNvPr>
          <p:cNvSpPr>
            <a:spLocks noGrp="1"/>
          </p:cNvSpPr>
          <p:nvPr/>
        </p:nvSpPr>
        <p:spPr>
          <a:xfrm>
            <a:off x="7490460" y="5082540"/>
            <a:ext cx="15240" cy="15240"/>
          </a:xfrm>
          <a:prstGeom prst="rect">
            <a:avLst/>
          </a:prstGeom>
          <a:noFill/>
          <a:ln w="0">
            <a:noFill/>
            <a:prstDash val="solid"/>
          </a:ln>
        </p:spPr>
      </p:sp>
      <p:cxnSp>
        <p:nvCxnSpPr>
          <p:cNvPr id="9243" name="Straight Arrow Connector 9242"/>
          <p:cNvCxnSpPr>
            <a:stCxn id="39" idx="2"/>
            <a:endCxn id="40" idx="0"/>
          </p:cNvCxnSpPr>
          <p:nvPr/>
        </p:nvCxnSpPr>
        <p:spPr>
          <a:xfrm>
            <a:off x="4572000" y="5097780"/>
            <a:ext cx="0" cy="502920"/>
          </a:xfrm>
          <a:prstGeom prst="straightConnector1">
            <a:avLst/>
          </a:prstGeom>
          <a:ln w="22860">
            <a:solidFill>
              <a:srgbClr val="9A5100"/>
            </a:solidFill>
            <a:prstDash val="solid"/>
            <a:tailEnd type="none" w="sm" len="sm"/>
          </a:ln>
        </p:spPr>
      </p:cxnSp>
      <p:cxnSp>
        <p:nvCxnSpPr>
          <p:cNvPr id="9244" name="Straight Arrow Connector 9243"/>
          <p:cNvCxnSpPr>
            <a:stCxn id="40" idx="3"/>
            <a:endCxn id="41" idx="1"/>
          </p:cNvCxnSpPr>
          <p:nvPr/>
        </p:nvCxnSpPr>
        <p:spPr>
          <a:xfrm>
            <a:off x="4579620" y="5608320"/>
            <a:ext cx="2910840" cy="0"/>
          </a:xfrm>
          <a:prstGeom prst="straightConnector1">
            <a:avLst/>
          </a:prstGeom>
          <a:ln w="22860">
            <a:solidFill>
              <a:srgbClr val="9A5100"/>
            </a:solidFill>
            <a:prstDash val="solid"/>
            <a:tailEnd type="none" w="sm" len="sm"/>
          </a:ln>
        </p:spPr>
      </p:cxnSp>
      <p:cxnSp>
        <p:nvCxnSpPr>
          <p:cNvPr id="9245" name="Straight Arrow Connector 9244"/>
          <p:cNvCxnSpPr>
            <a:stCxn id="41" idx="0"/>
            <a:endCxn id="42" idx="2"/>
          </p:cNvCxnSpPr>
          <p:nvPr/>
        </p:nvCxnSpPr>
        <p:spPr>
          <a:xfrm flipV="1">
            <a:off x="7498080" y="5097780"/>
            <a:ext cx="0" cy="502920"/>
          </a:xfrm>
          <a:prstGeom prst="straightConnector1">
            <a:avLst/>
          </a:prstGeom>
          <a:ln w="22860">
            <a:solidFill>
              <a:srgbClr val="9A5100"/>
            </a:solidFill>
            <a:prstDash val="solid"/>
            <a:tailEnd type="triangle" w="sm" len="sm"/>
          </a:ln>
        </p:spPr>
      </p:cxnSp>
      <p:sp>
        <p:nvSpPr>
          <p:cNvPr id="46" name="revise-label">
            <a:extLst>
              <a:ext uri="{FF2B5EF4-FFF2-40B4-BE49-F238E27FC236}">
                <a16:creationId xmlns:a16="http://schemas.microsoft.com/office/drawing/2014/main" id="{71A63E9B-CE9F-4D0D-B88E-D41267A9C97C}"/>
              </a:ext>
            </a:extLst>
          </p:cNvPr>
          <p:cNvSpPr>
            <a:spLocks noGrp="1"/>
          </p:cNvSpPr>
          <p:nvPr/>
        </p:nvSpPr>
        <p:spPr>
          <a:xfrm>
            <a:off x="4823460" y="5715000"/>
            <a:ext cx="3124200" cy="251460"/>
          </a:xfrm>
          <a:prstGeom prst="rect">
            <a:avLst/>
          </a:prstGeom>
          <a:noFill/>
          <a:ln w="0">
            <a:noFill/>
            <a:prstDash val="solid"/>
          </a:ln>
        </p:spPr>
        <p:txBody>
          <a:bodyPr wrap="none" lIns="0" tIns="0" rIns="0" bIns="0" anchor="ctr">
            <a:noAutofit/>
          </a:bodyPr>
          <a:lstStyle/>
          <a:p>
            <a:pPr algn="ctr">
              <a:defRPr sz="1380" b="1">
                <a:solidFill>
                  <a:srgbClr val="9A5100"/>
                </a:solidFill>
                <a:latin typeface="Inter"/>
                <a:ea typeface="Inter"/>
                <a:cs typeface="Inter"/>
              </a:defRPr>
            </a:pPr>
            <a:r>
              <a:rPr sz="1380" b="1">
                <a:solidFill>
                  <a:srgbClr val="9A5100"/>
                </a:solidFill>
                <a:latin typeface="Inter"/>
                <a:ea typeface="Inter"/>
                <a:cs typeface="Inter"/>
              </a:rPr>
              <a:t>Revise once, then recheck</a:t>
            </a:r>
          </a:p>
        </p:txBody>
      </p:sp>
      <p:sp>
        <p:nvSpPr>
          <p:cNvPr id="9201" name="Slide Number Placeholder 3">
            <a:extLst>
              <a:ext uri="{FF2B5EF4-FFF2-40B4-BE49-F238E27FC236}">
                <a16:creationId xmlns:a16="http://schemas.microsoft.com/office/drawing/2014/main" id="{E98A4731-19CE-28F0-6564-BE2C1D1F52D4}"/>
              </a:ext>
            </a:extLst>
          </p:cNvPr>
          <p:cNvSpPr>
            <a:spLocks noGrp="1"/>
          </p:cNvSpPr>
          <p:nvPr>
            <p:ph type="sldNum" idx="12"/>
          </p:nvPr>
        </p:nvSpPr>
        <p:spPr>
          <a:xfrm>
            <a:off x="315001" y="6463801"/>
            <a:ext cx="248137" cy="254509"/>
          </a:xfrm>
        </p:spPr>
        <p:txBody>
          <a:bodyPr/>
          <a:lstStyle/>
          <a:p>
            <a:pPr marL="0" marR="0" indent="0" algn="l">
              <a:spcBef>
                <a:spcPts val="0"/>
              </a:spcBef>
              <a:buNone/>
              <a:defRPr sz="900" b="1" i="0" u="none" cap="none">
                <a:solidFill>
                  <a:schemeClr val="dk1"/>
                </a:solidFill>
                <a:latin typeface="Inter"/>
                <a:ea typeface="Inter"/>
                <a:cs typeface="Inter"/>
              </a:defRPr>
            </a:pPr>
            <a:fld id="{CBA53E11-492D-48B3-9F9B-09541CA2A39A}" type="slidenum">
              <a:rPr sz="900" b="1" i="0" u="none" cap="none">
                <a:solidFill>
                  <a:schemeClr val="dk1"/>
                </a:solidFill>
                <a:latin typeface="Inter"/>
                <a:ea typeface="Inter"/>
                <a:cs typeface="Inter"/>
              </a:rPr>
              <a:t>4</a:t>
            </a:fld>
            <a:endParaRPr/>
          </a:p>
        </p:txBody>
      </p:sp>
      <p:sp>
        <p:nvSpPr>
          <p:cNvPr id="3" name="TextBox 2">
            <a:extLst>
              <a:ext uri="{FF2B5EF4-FFF2-40B4-BE49-F238E27FC236}">
                <a16:creationId xmlns:a16="http://schemas.microsoft.com/office/drawing/2014/main" id="{F6BB701D-3FB1-FFA1-8C65-9DD05FA526EF}"/>
              </a:ext>
            </a:extLst>
          </p:cNvPr>
          <p:cNvSpPr txBox="1"/>
          <p:nvPr/>
        </p:nvSpPr>
        <p:spPr>
          <a:xfrm>
            <a:off x="3373287" y="1683245"/>
            <a:ext cx="1370571" cy="276999"/>
          </a:xfrm>
          <a:prstGeom prst="rect">
            <a:avLst/>
          </a:prstGeom>
          <a:noFill/>
        </p:spPr>
        <p:txBody>
          <a:bodyPr wrap="square">
            <a:spAutoFit/>
          </a:bodyPr>
          <a:lstStyle/>
          <a:p>
            <a:pPr algn="l">
              <a:defRPr sz="1150" b="1">
                <a:solidFill>
                  <a:srgbClr val="1E1E1E"/>
                </a:solidFill>
                <a:latin typeface="Inter"/>
                <a:ea typeface="Inter"/>
                <a:cs typeface="Inter"/>
              </a:defRPr>
            </a:pPr>
            <a:r>
              <a:rPr lang="en-CA" sz="1200" b="1" dirty="0">
                <a:solidFill>
                  <a:srgbClr val="1E1E1E"/>
                </a:solidFill>
                <a:latin typeface="Inter"/>
                <a:ea typeface="Inter"/>
                <a:cs typeface="Inter"/>
              </a:rPr>
              <a:t>&lt; guardrails &gt;</a:t>
            </a:r>
          </a:p>
        </p:txBody>
      </p:sp>
      <p:pic>
        <p:nvPicPr>
          <p:cNvPr id="18" name="Picture 17">
            <a:extLst>
              <a:ext uri="{FF2B5EF4-FFF2-40B4-BE49-F238E27FC236}">
                <a16:creationId xmlns:a16="http://schemas.microsoft.com/office/drawing/2014/main" id="{FEEDB11A-EF48-1CF5-CC32-E348F6F4803A}"/>
              </a:ext>
            </a:extLst>
          </p:cNvPr>
          <p:cNvPicPr>
            <a:picLocks noChangeAspect="1"/>
          </p:cNvPicPr>
          <p:nvPr/>
        </p:nvPicPr>
        <p:blipFill>
          <a:blip r:embed="rId3"/>
          <a:stretch>
            <a:fillRect/>
          </a:stretch>
        </p:blipFill>
        <p:spPr>
          <a:xfrm>
            <a:off x="3204711" y="2054541"/>
            <a:ext cx="1388746" cy="1388746"/>
          </a:xfrm>
          <a:prstGeom prst="rect">
            <a:avLst/>
          </a:prstGeom>
        </p:spPr>
      </p:pic>
      <p:pic>
        <p:nvPicPr>
          <p:cNvPr id="19" name="Graphic 18" descr="Device Embedded Embedding Vector SVG Icon - SVG Repo">
            <a:extLst>
              <a:ext uri="{FF2B5EF4-FFF2-40B4-BE49-F238E27FC236}">
                <a16:creationId xmlns:a16="http://schemas.microsoft.com/office/drawing/2014/main" id="{1CC9D120-8ACE-D646-3CF8-13B69BC98AB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76536" y="2288733"/>
            <a:ext cx="774507" cy="774507"/>
          </a:xfrm>
          <a:prstGeom prst="rect">
            <a:avLst/>
          </a:prstGeom>
        </p:spPr>
      </p:pic>
      <p:pic>
        <p:nvPicPr>
          <p:cNvPr id="35" name="Picture 34">
            <a:extLst>
              <a:ext uri="{FF2B5EF4-FFF2-40B4-BE49-F238E27FC236}">
                <a16:creationId xmlns:a16="http://schemas.microsoft.com/office/drawing/2014/main" id="{22069918-4AE1-3D46-E7AC-5B650F3A9B93}"/>
              </a:ext>
            </a:extLst>
          </p:cNvPr>
          <p:cNvPicPr>
            <a:picLocks noChangeAspect="1"/>
          </p:cNvPicPr>
          <p:nvPr/>
        </p:nvPicPr>
        <p:blipFill>
          <a:blip r:embed="rId5"/>
          <a:stretch>
            <a:fillRect/>
          </a:stretch>
        </p:blipFill>
        <p:spPr>
          <a:xfrm>
            <a:off x="10646024" y="2047350"/>
            <a:ext cx="930413" cy="930413"/>
          </a:xfrm>
          <a:prstGeom prst="rect">
            <a:avLst/>
          </a:prstGeom>
        </p:spPr>
      </p:pic>
      <p:pic>
        <p:nvPicPr>
          <p:cNvPr id="36" name="Graphic 35" descr="Filters 2 Vector SVG Icon - SVG Repo">
            <a:extLst>
              <a:ext uri="{FF2B5EF4-FFF2-40B4-BE49-F238E27FC236}">
                <a16:creationId xmlns:a16="http://schemas.microsoft.com/office/drawing/2014/main" id="{13C67BB8-3BC0-8C2A-8459-CC8676805A8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45189" y="4307205"/>
            <a:ext cx="514351" cy="514351"/>
          </a:xfrm>
          <a:prstGeom prst="rect">
            <a:avLst/>
          </a:prstGeom>
        </p:spPr>
      </p:pic>
      <p:pic>
        <p:nvPicPr>
          <p:cNvPr id="44" name="Picture 43" descr="File:ChatGPT logo.svg - Wikipedia">
            <a:extLst>
              <a:ext uri="{FF2B5EF4-FFF2-40B4-BE49-F238E27FC236}">
                <a16:creationId xmlns:a16="http://schemas.microsoft.com/office/drawing/2014/main" id="{5FB1AC23-F2CF-F2B8-BA16-532D51CB6723}"/>
              </a:ext>
            </a:extLst>
          </p:cNvPr>
          <p:cNvPicPr>
            <a:picLocks noChangeAspect="1"/>
          </p:cNvPicPr>
          <p:nvPr/>
        </p:nvPicPr>
        <p:blipFill>
          <a:blip r:embed="rId7"/>
          <a:stretch>
            <a:fillRect/>
          </a:stretch>
        </p:blipFill>
        <p:spPr>
          <a:xfrm>
            <a:off x="8018228" y="4522968"/>
            <a:ext cx="533068" cy="533068"/>
          </a:xfrm>
          <a:prstGeom prst="rect">
            <a:avLst/>
          </a:prstGeom>
        </p:spPr>
      </p:pic>
    </p:spTree>
    <p:extLst>
      <p:ext uri="{BB962C8B-B14F-4D97-AF65-F5344CB8AC3E}">
        <p14:creationId xmlns:p14="http://schemas.microsoft.com/office/powerpoint/2010/main" val="474268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0" name="Title">
            <a:extLst>
              <a:ext uri="{FF2B5EF4-FFF2-40B4-BE49-F238E27FC236}">
                <a16:creationId xmlns:a16="http://schemas.microsoft.com/office/drawing/2014/main" id="{E7E89F8C-6493-4290-A6E8-080507336A6A}"/>
              </a:ext>
            </a:extLst>
          </p:cNvPr>
          <p:cNvSpPr>
            <a:spLocks noGrp="1"/>
          </p:cNvSpPr>
          <p:nvPr/>
        </p:nvSpPr>
        <p:spPr>
          <a:xfrm>
            <a:off x="509865" y="380000"/>
            <a:ext cx="11172270" cy="560000"/>
          </a:xfrm>
          <a:prstGeom prst="rect">
            <a:avLst/>
          </a:prstGeom>
        </p:spPr>
        <p:txBody>
          <a:bodyPr wrap="square" lIns="91440" tIns="45720" rIns="91440" bIns="45720" anchor="t"/>
          <a:lstStyle/>
          <a:p>
            <a:pPr algn="l">
              <a:buNone/>
            </a:pPr>
            <a:r>
              <a:rPr sz="2400" b="1">
                <a:solidFill>
                  <a:srgbClr val="000000"/>
                </a:solidFill>
                <a:latin typeface="Inter"/>
                <a:ea typeface="Inter"/>
                <a:cs typeface="Inter"/>
              </a:rPr>
              <a:t>Anomaly detection and customer notifications</a:t>
            </a:r>
          </a:p>
        </p:txBody>
      </p:sp>
      <p:sp>
        <p:nvSpPr>
          <p:cNvPr id="9101" name="Accent">
            <a:extLst>
              <a:ext uri="{FF2B5EF4-FFF2-40B4-BE49-F238E27FC236}">
                <a16:creationId xmlns:a16="http://schemas.microsoft.com/office/drawing/2014/main" id="{4521394B-A644-4F23-AB01-393CD9936336}"/>
              </a:ext>
            </a:extLst>
          </p:cNvPr>
          <p:cNvSpPr>
            <a:spLocks noGrp="1"/>
          </p:cNvSpPr>
          <p:nvPr/>
        </p:nvSpPr>
        <p:spPr>
          <a:xfrm>
            <a:off x="520000" y="970000"/>
            <a:ext cx="560000" cy="72000"/>
          </a:xfrm>
          <a:prstGeom prst="rect">
            <a:avLst/>
          </a:prstGeom>
          <a:solidFill>
            <a:srgbClr val="C5FF00"/>
          </a:solidFill>
        </p:spPr>
        <p:txBody>
          <a:bodyPr wrap="square" lIns="91440" tIns="45720" rIns="91440" bIns="45720" anchor="t"/>
          <a:lstStyle/>
          <a:p>
            <a:pPr algn="l">
              <a:buNone/>
            </a:pPr>
            <a:endParaRPr/>
          </a:p>
        </p:txBody>
      </p:sp>
      <p:sp>
        <p:nvSpPr>
          <p:cNvPr id="2" name="subtitle">
            <a:extLst>
              <a:ext uri="{FF2B5EF4-FFF2-40B4-BE49-F238E27FC236}">
                <a16:creationId xmlns:a16="http://schemas.microsoft.com/office/drawing/2014/main" id="{F3176BCB-E198-47FC-883E-3B23ED34013B}"/>
              </a:ext>
            </a:extLst>
          </p:cNvPr>
          <p:cNvSpPr>
            <a:spLocks noGrp="1"/>
          </p:cNvSpPr>
          <p:nvPr/>
        </p:nvSpPr>
        <p:spPr>
          <a:xfrm>
            <a:off x="563880" y="1089660"/>
            <a:ext cx="11049000" cy="304800"/>
          </a:xfrm>
          <a:prstGeom prst="rect">
            <a:avLst/>
          </a:prstGeom>
          <a:noFill/>
          <a:ln w="0">
            <a:noFill/>
            <a:prstDash val="solid"/>
          </a:ln>
        </p:spPr>
        <p:txBody>
          <a:bodyPr wrap="none" lIns="0" tIns="0" rIns="0" bIns="0" anchor="ctr">
            <a:noAutofit/>
          </a:bodyPr>
          <a:lstStyle/>
          <a:p>
            <a:pPr algn="l">
              <a:defRPr sz="1600" b="0">
                <a:solidFill>
                  <a:srgbClr val="646464"/>
                </a:solidFill>
                <a:latin typeface="Inter"/>
                <a:ea typeface="Inter"/>
                <a:cs typeface="Inter"/>
              </a:defRPr>
            </a:pPr>
            <a:r>
              <a:rPr sz="1600" b="0">
                <a:solidFill>
                  <a:srgbClr val="646464"/>
                </a:solidFill>
                <a:latin typeface="Inter"/>
                <a:ea typeface="Inter"/>
                <a:cs typeface="Inter"/>
              </a:rPr>
              <a:t>Live transaction simulation with explainable detection on each scan</a:t>
            </a:r>
          </a:p>
        </p:txBody>
      </p:sp>
      <p:sp>
        <p:nvSpPr>
          <p:cNvPr id="5" name="simulation">
            <a:extLst>
              <a:ext uri="{FF2B5EF4-FFF2-40B4-BE49-F238E27FC236}">
                <a16:creationId xmlns:a16="http://schemas.microsoft.com/office/drawing/2014/main" id="{33745970-B229-4DBF-A035-B8D1667DDAE9}"/>
              </a:ext>
            </a:extLst>
          </p:cNvPr>
          <p:cNvSpPr>
            <a:spLocks noGrp="1"/>
          </p:cNvSpPr>
          <p:nvPr/>
        </p:nvSpPr>
        <p:spPr>
          <a:xfrm>
            <a:off x="548640" y="2240280"/>
            <a:ext cx="2514600" cy="1120140"/>
          </a:xfrm>
          <a:prstGeom prst="roundRect">
            <a:avLst>
              <a:gd name="adj" fmla="val 8163"/>
            </a:avLst>
          </a:prstGeom>
          <a:solidFill>
            <a:srgbClr val="F3FFC2"/>
          </a:solidFill>
          <a:ln w="11430">
            <a:solidFill>
              <a:srgbClr val="F3FFC2"/>
            </a:solidFill>
            <a:prstDash val="solid"/>
          </a:ln>
        </p:spPr>
      </p:sp>
      <p:sp>
        <p:nvSpPr>
          <p:cNvPr id="6" name="simulation-name">
            <a:extLst>
              <a:ext uri="{FF2B5EF4-FFF2-40B4-BE49-F238E27FC236}">
                <a16:creationId xmlns:a16="http://schemas.microsoft.com/office/drawing/2014/main" id="{66F6F7E0-FC50-4CA4-9D83-8C5D9F3E2EC3}"/>
              </a:ext>
            </a:extLst>
          </p:cNvPr>
          <p:cNvSpPr>
            <a:spLocks noGrp="1"/>
          </p:cNvSpPr>
          <p:nvPr/>
        </p:nvSpPr>
        <p:spPr>
          <a:xfrm>
            <a:off x="716280" y="2377440"/>
            <a:ext cx="2179320" cy="381000"/>
          </a:xfrm>
          <a:prstGeom prst="rect">
            <a:avLst/>
          </a:prstGeom>
          <a:noFill/>
          <a:ln w="0">
            <a:noFill/>
            <a:prstDash val="solid"/>
          </a:ln>
        </p:spPr>
        <p:txBody>
          <a:bodyPr wrap="none" lIns="0" tIns="0" rIns="0" bIns="0" anchor="ctr">
            <a:noAutofit/>
          </a:bodyPr>
          <a:lstStyle/>
          <a:p>
            <a:pPr algn="l">
              <a:defRPr sz="1550" b="1">
                <a:solidFill>
                  <a:srgbClr val="1E1E1E"/>
                </a:solidFill>
                <a:latin typeface="Inter"/>
                <a:ea typeface="Inter"/>
                <a:cs typeface="Inter"/>
              </a:defRPr>
            </a:pPr>
            <a:r>
              <a:rPr sz="1550" b="1">
                <a:solidFill>
                  <a:srgbClr val="1E1E1E"/>
                </a:solidFill>
                <a:latin typeface="Inter"/>
                <a:ea typeface="Inter"/>
                <a:cs typeface="Inter"/>
              </a:rPr>
              <a:t>Simulated transactions</a:t>
            </a:r>
          </a:p>
        </p:txBody>
      </p:sp>
      <p:sp>
        <p:nvSpPr>
          <p:cNvPr id="7" name="simulation-sub">
            <a:extLst>
              <a:ext uri="{FF2B5EF4-FFF2-40B4-BE49-F238E27FC236}">
                <a16:creationId xmlns:a16="http://schemas.microsoft.com/office/drawing/2014/main" id="{643F4939-7112-4268-8D4A-2F2575966F21}"/>
              </a:ext>
            </a:extLst>
          </p:cNvPr>
          <p:cNvSpPr>
            <a:spLocks noGrp="1"/>
          </p:cNvSpPr>
          <p:nvPr/>
        </p:nvSpPr>
        <p:spPr>
          <a:xfrm>
            <a:off x="716280" y="2819400"/>
            <a:ext cx="2179320" cy="457200"/>
          </a:xfrm>
          <a:prstGeom prst="rect">
            <a:avLst/>
          </a:prstGeom>
          <a:noFill/>
          <a:ln w="0">
            <a:noFill/>
            <a:prstDash val="solid"/>
          </a:ln>
        </p:spPr>
        <p:txBody>
          <a:bodyPr wrap="none" lIns="0" tIns="0" rIns="0" bIns="0" anchor="ctr">
            <a:noAutofit/>
          </a:bodyPr>
          <a:lstStyle/>
          <a:p>
            <a:pPr algn="l">
              <a:defRPr sz="1250" b="0">
                <a:solidFill>
                  <a:srgbClr val="646464"/>
                </a:solidFill>
                <a:latin typeface="Inter"/>
                <a:ea typeface="Inter"/>
                <a:cs typeface="Inter"/>
              </a:defRPr>
            </a:pPr>
            <a:r>
              <a:rPr sz="1250" b="0">
                <a:solidFill>
                  <a:srgbClr val="646464"/>
                </a:solidFill>
                <a:latin typeface="Inter"/>
                <a:ea typeface="Inter"/>
                <a:cs typeface="Inter"/>
              </a:rPr>
              <a:t>Normal activity + anomalies</a:t>
            </a:r>
          </a:p>
        </p:txBody>
      </p:sp>
      <p:sp>
        <p:nvSpPr>
          <p:cNvPr id="8" name="bank-api">
            <a:extLst>
              <a:ext uri="{FF2B5EF4-FFF2-40B4-BE49-F238E27FC236}">
                <a16:creationId xmlns:a16="http://schemas.microsoft.com/office/drawing/2014/main" id="{AEFA4513-D61B-47F8-BC86-E1B15FA1DEFF}"/>
              </a:ext>
            </a:extLst>
          </p:cNvPr>
          <p:cNvSpPr>
            <a:spLocks noGrp="1"/>
          </p:cNvSpPr>
          <p:nvPr/>
        </p:nvSpPr>
        <p:spPr>
          <a:xfrm>
            <a:off x="548640" y="4069080"/>
            <a:ext cx="2514600" cy="1059180"/>
          </a:xfrm>
          <a:prstGeom prst="roundRect">
            <a:avLst>
              <a:gd name="adj" fmla="val 8633"/>
            </a:avLst>
          </a:prstGeom>
          <a:solidFill>
            <a:srgbClr val="FFFFFF"/>
          </a:solidFill>
          <a:ln w="11430">
            <a:solidFill>
              <a:srgbClr val="D5D5D1"/>
            </a:solidFill>
            <a:prstDash val="solid"/>
          </a:ln>
        </p:spPr>
      </p:sp>
      <p:sp>
        <p:nvSpPr>
          <p:cNvPr id="9" name="bank-api-name">
            <a:extLst>
              <a:ext uri="{FF2B5EF4-FFF2-40B4-BE49-F238E27FC236}">
                <a16:creationId xmlns:a16="http://schemas.microsoft.com/office/drawing/2014/main" id="{B533696E-D4D1-4673-B958-B61EF0308681}"/>
              </a:ext>
            </a:extLst>
          </p:cNvPr>
          <p:cNvSpPr>
            <a:spLocks noGrp="1"/>
          </p:cNvSpPr>
          <p:nvPr/>
        </p:nvSpPr>
        <p:spPr>
          <a:xfrm>
            <a:off x="716280" y="4206240"/>
            <a:ext cx="2179320" cy="381000"/>
          </a:xfrm>
          <a:prstGeom prst="rect">
            <a:avLst/>
          </a:prstGeom>
          <a:noFill/>
          <a:ln w="0">
            <a:noFill/>
            <a:prstDash val="solid"/>
          </a:ln>
        </p:spPr>
        <p:txBody>
          <a:bodyPr wrap="none" lIns="0" tIns="0" rIns="0" bIns="0" anchor="ctr">
            <a:noAutofit/>
          </a:bodyPr>
          <a:lstStyle/>
          <a:p>
            <a:pPr algn="l">
              <a:defRPr sz="1680" b="1">
                <a:solidFill>
                  <a:srgbClr val="1E1E1E"/>
                </a:solidFill>
                <a:latin typeface="Inter"/>
                <a:ea typeface="Inter"/>
                <a:cs typeface="Inter"/>
              </a:defRPr>
            </a:pPr>
            <a:r>
              <a:rPr sz="1680" b="1">
                <a:solidFill>
                  <a:srgbClr val="1E1E1E"/>
                </a:solidFill>
                <a:latin typeface="Inter"/>
                <a:ea typeface="Inter"/>
                <a:cs typeface="Inter"/>
              </a:rPr>
              <a:t>Application API</a:t>
            </a:r>
          </a:p>
        </p:txBody>
      </p:sp>
      <p:sp>
        <p:nvSpPr>
          <p:cNvPr id="10" name="bank-api-sub">
            <a:extLst>
              <a:ext uri="{FF2B5EF4-FFF2-40B4-BE49-F238E27FC236}">
                <a16:creationId xmlns:a16="http://schemas.microsoft.com/office/drawing/2014/main" id="{77DFE47B-33E8-4F6D-A4BB-41FDB39630EF}"/>
              </a:ext>
            </a:extLst>
          </p:cNvPr>
          <p:cNvSpPr>
            <a:spLocks noGrp="1"/>
          </p:cNvSpPr>
          <p:nvPr/>
        </p:nvSpPr>
        <p:spPr>
          <a:xfrm>
            <a:off x="716280" y="4648200"/>
            <a:ext cx="2179320" cy="396240"/>
          </a:xfrm>
          <a:prstGeom prst="rect">
            <a:avLst/>
          </a:prstGeom>
          <a:noFill/>
          <a:ln w="0">
            <a:noFill/>
            <a:prstDash val="solid"/>
          </a:ln>
        </p:spPr>
        <p:txBody>
          <a:bodyPr wrap="none" lIns="0" tIns="0" rIns="0" bIns="0" anchor="ctr">
            <a:noAutofit/>
          </a:bodyPr>
          <a:lstStyle/>
          <a:p>
            <a:pPr algn="l">
              <a:defRPr sz="1380" b="0">
                <a:solidFill>
                  <a:srgbClr val="646464"/>
                </a:solidFill>
                <a:latin typeface="Inter"/>
                <a:ea typeface="Inter"/>
                <a:cs typeface="Inter"/>
              </a:defRPr>
            </a:pPr>
            <a:r>
              <a:rPr sz="1380" b="0">
                <a:solidFill>
                  <a:srgbClr val="646464"/>
                </a:solidFill>
                <a:latin typeface="Inter"/>
                <a:ea typeface="Inter"/>
                <a:cs typeface="Inter"/>
              </a:rPr>
              <a:t>Spring Boot + H2</a:t>
            </a:r>
          </a:p>
        </p:txBody>
      </p:sp>
      <p:cxnSp>
        <p:nvCxnSpPr>
          <p:cNvPr id="9211" name="Straight Arrow Connector 9210"/>
          <p:cNvCxnSpPr>
            <a:stCxn id="5" idx="2"/>
            <a:endCxn id="8" idx="0"/>
          </p:cNvCxnSpPr>
          <p:nvPr/>
        </p:nvCxnSpPr>
        <p:spPr>
          <a:xfrm>
            <a:off x="1805940" y="3360420"/>
            <a:ext cx="0" cy="708660"/>
          </a:xfrm>
          <a:prstGeom prst="straightConnector1">
            <a:avLst/>
          </a:prstGeom>
          <a:ln w="22860">
            <a:solidFill>
              <a:srgbClr val="C5FF00"/>
            </a:solidFill>
            <a:prstDash val="solid"/>
            <a:tailEnd type="triangle" w="lg" len="med"/>
          </a:ln>
        </p:spPr>
      </p:cxnSp>
      <p:sp>
        <p:nvSpPr>
          <p:cNvPr id="12" name="rule-engine">
            <a:extLst>
              <a:ext uri="{FF2B5EF4-FFF2-40B4-BE49-F238E27FC236}">
                <a16:creationId xmlns:a16="http://schemas.microsoft.com/office/drawing/2014/main" id="{B8690CFB-0EF1-4189-8E12-037995AB67F2}"/>
              </a:ext>
            </a:extLst>
          </p:cNvPr>
          <p:cNvSpPr>
            <a:spLocks noGrp="1"/>
          </p:cNvSpPr>
          <p:nvPr/>
        </p:nvSpPr>
        <p:spPr>
          <a:xfrm>
            <a:off x="3756660" y="2667000"/>
            <a:ext cx="2819400" cy="2324100"/>
          </a:xfrm>
          <a:prstGeom prst="roundRect">
            <a:avLst>
              <a:gd name="adj" fmla="val 5246"/>
            </a:avLst>
          </a:prstGeom>
          <a:solidFill>
            <a:srgbClr val="1E1E1E"/>
          </a:solidFill>
          <a:ln w="0">
            <a:solidFill>
              <a:srgbClr val="1E1E1E"/>
            </a:solidFill>
            <a:prstDash val="solid"/>
          </a:ln>
        </p:spPr>
      </p:sp>
      <p:sp>
        <p:nvSpPr>
          <p:cNvPr id="13" name="rules-title">
            <a:extLst>
              <a:ext uri="{FF2B5EF4-FFF2-40B4-BE49-F238E27FC236}">
                <a16:creationId xmlns:a16="http://schemas.microsoft.com/office/drawing/2014/main" id="{964F7B7A-9CF0-4C8C-A940-C53AB1EB1EE9}"/>
              </a:ext>
            </a:extLst>
          </p:cNvPr>
          <p:cNvSpPr>
            <a:spLocks noGrp="1"/>
          </p:cNvSpPr>
          <p:nvPr/>
        </p:nvSpPr>
        <p:spPr>
          <a:xfrm>
            <a:off x="3970020" y="2857500"/>
            <a:ext cx="2377440" cy="411480"/>
          </a:xfrm>
          <a:prstGeom prst="rect">
            <a:avLst/>
          </a:prstGeom>
          <a:noFill/>
          <a:ln w="0">
            <a:noFill/>
            <a:prstDash val="solid"/>
          </a:ln>
        </p:spPr>
        <p:txBody>
          <a:bodyPr wrap="none" lIns="0" tIns="0" rIns="0" bIns="0" anchor="ctr">
            <a:noAutofit/>
          </a:bodyPr>
          <a:lstStyle/>
          <a:p>
            <a:pPr algn="l">
              <a:defRPr sz="1600" b="1">
                <a:solidFill>
                  <a:srgbClr val="FFFFFF"/>
                </a:solidFill>
                <a:latin typeface="Inter"/>
                <a:ea typeface="Inter"/>
                <a:cs typeface="Inter"/>
              </a:defRPr>
            </a:pPr>
            <a:r>
              <a:rPr sz="1600" b="1">
                <a:solidFill>
                  <a:srgbClr val="FFFFFF"/>
                </a:solidFill>
                <a:latin typeface="Inter"/>
                <a:ea typeface="Inter"/>
                <a:cs typeface="Inter"/>
              </a:rPr>
              <a:t>Rule-based detection</a:t>
            </a:r>
          </a:p>
        </p:txBody>
      </p:sp>
      <p:sp>
        <p:nvSpPr>
          <p:cNvPr id="14" name="rules-amount">
            <a:extLst>
              <a:ext uri="{FF2B5EF4-FFF2-40B4-BE49-F238E27FC236}">
                <a16:creationId xmlns:a16="http://schemas.microsoft.com/office/drawing/2014/main" id="{1CAAF8E1-A1C2-4B6C-B4DF-4BE2BB6FA20B}"/>
              </a:ext>
            </a:extLst>
          </p:cNvPr>
          <p:cNvSpPr>
            <a:spLocks noGrp="1"/>
          </p:cNvSpPr>
          <p:nvPr/>
        </p:nvSpPr>
        <p:spPr>
          <a:xfrm>
            <a:off x="3970020" y="3467100"/>
            <a:ext cx="2362200" cy="297180"/>
          </a:xfrm>
          <a:prstGeom prst="rect">
            <a:avLst/>
          </a:prstGeom>
          <a:noFill/>
          <a:ln w="0">
            <a:noFill/>
            <a:prstDash val="solid"/>
          </a:ln>
        </p:spPr>
        <p:txBody>
          <a:bodyPr wrap="none" lIns="0" tIns="0" rIns="0" bIns="0" anchor="ctr">
            <a:noAutofit/>
          </a:bodyPr>
          <a:lstStyle/>
          <a:p>
            <a:pPr algn="l">
              <a:defRPr sz="1680" b="0">
                <a:solidFill>
                  <a:srgbClr val="FFFFFF"/>
                </a:solidFill>
                <a:latin typeface="Inter"/>
                <a:ea typeface="Inter"/>
                <a:cs typeface="Inter"/>
              </a:defRPr>
            </a:pPr>
            <a:r>
              <a:rPr sz="1680" b="0">
                <a:solidFill>
                  <a:srgbClr val="FFFFFF"/>
                </a:solidFill>
                <a:latin typeface="Inter"/>
                <a:ea typeface="Inter"/>
                <a:cs typeface="Inter"/>
              </a:rPr>
              <a:t>Unusual amount</a:t>
            </a:r>
          </a:p>
        </p:txBody>
      </p:sp>
      <p:sp>
        <p:nvSpPr>
          <p:cNvPr id="15" name="rules-time">
            <a:extLst>
              <a:ext uri="{FF2B5EF4-FFF2-40B4-BE49-F238E27FC236}">
                <a16:creationId xmlns:a16="http://schemas.microsoft.com/office/drawing/2014/main" id="{A328163A-3782-46ED-88CE-31E8C6CD1662}"/>
              </a:ext>
            </a:extLst>
          </p:cNvPr>
          <p:cNvSpPr>
            <a:spLocks noGrp="1"/>
          </p:cNvSpPr>
          <p:nvPr/>
        </p:nvSpPr>
        <p:spPr>
          <a:xfrm>
            <a:off x="3970020" y="3893820"/>
            <a:ext cx="2362200" cy="297180"/>
          </a:xfrm>
          <a:prstGeom prst="rect">
            <a:avLst/>
          </a:prstGeom>
          <a:noFill/>
          <a:ln w="0">
            <a:noFill/>
            <a:prstDash val="solid"/>
          </a:ln>
        </p:spPr>
        <p:txBody>
          <a:bodyPr wrap="none" lIns="0" tIns="0" rIns="0" bIns="0" anchor="ctr">
            <a:noAutofit/>
          </a:bodyPr>
          <a:lstStyle/>
          <a:p>
            <a:pPr algn="l">
              <a:defRPr sz="1680" b="0">
                <a:solidFill>
                  <a:srgbClr val="FFFFFF"/>
                </a:solidFill>
                <a:latin typeface="Inter"/>
                <a:ea typeface="Inter"/>
                <a:cs typeface="Inter"/>
              </a:defRPr>
            </a:pPr>
            <a:r>
              <a:rPr sz="1680" b="0">
                <a:solidFill>
                  <a:srgbClr val="FFFFFF"/>
                </a:solidFill>
                <a:latin typeface="Inter"/>
                <a:ea typeface="Inter"/>
                <a:cs typeface="Inter"/>
              </a:rPr>
              <a:t>Unusual time</a:t>
            </a:r>
          </a:p>
        </p:txBody>
      </p:sp>
      <p:sp>
        <p:nvSpPr>
          <p:cNvPr id="16" name="rules-burst">
            <a:extLst>
              <a:ext uri="{FF2B5EF4-FFF2-40B4-BE49-F238E27FC236}">
                <a16:creationId xmlns:a16="http://schemas.microsoft.com/office/drawing/2014/main" id="{A9391639-F179-496A-9FFB-D4014A4E04B3}"/>
              </a:ext>
            </a:extLst>
          </p:cNvPr>
          <p:cNvSpPr>
            <a:spLocks noGrp="1"/>
          </p:cNvSpPr>
          <p:nvPr/>
        </p:nvSpPr>
        <p:spPr>
          <a:xfrm>
            <a:off x="3970020" y="4320540"/>
            <a:ext cx="2362200" cy="297180"/>
          </a:xfrm>
          <a:prstGeom prst="rect">
            <a:avLst/>
          </a:prstGeom>
          <a:noFill/>
          <a:ln w="0">
            <a:noFill/>
            <a:prstDash val="solid"/>
          </a:ln>
        </p:spPr>
        <p:txBody>
          <a:bodyPr wrap="none" lIns="0" tIns="0" rIns="0" bIns="0" anchor="ctr">
            <a:noAutofit/>
          </a:bodyPr>
          <a:lstStyle/>
          <a:p>
            <a:pPr algn="l">
              <a:defRPr sz="1680" b="0">
                <a:solidFill>
                  <a:srgbClr val="FFFFFF"/>
                </a:solidFill>
                <a:latin typeface="Inter"/>
                <a:ea typeface="Inter"/>
                <a:cs typeface="Inter"/>
              </a:defRPr>
            </a:pPr>
            <a:r>
              <a:rPr sz="1680" b="0">
                <a:solidFill>
                  <a:srgbClr val="FFFFFF"/>
                </a:solidFill>
                <a:latin typeface="Inter"/>
                <a:ea typeface="Inter"/>
                <a:cs typeface="Inter"/>
              </a:rPr>
              <a:t>Rapid activity</a:t>
            </a:r>
          </a:p>
        </p:txBody>
      </p:sp>
      <p:cxnSp>
        <p:nvCxnSpPr>
          <p:cNvPr id="9217" name="Elbow Connector 9216"/>
          <p:cNvCxnSpPr>
            <a:stCxn id="8" idx="3"/>
            <a:endCxn id="12" idx="1"/>
          </p:cNvCxnSpPr>
          <p:nvPr/>
        </p:nvCxnSpPr>
        <p:spPr>
          <a:xfrm flipV="1">
            <a:off x="3063240" y="3829050"/>
            <a:ext cx="693420" cy="769620"/>
          </a:xfrm>
          <a:prstGeom prst="bentConnector3">
            <a:avLst>
              <a:gd name="adj1" fmla="val 50000"/>
            </a:avLst>
          </a:prstGeom>
          <a:ln w="22860">
            <a:solidFill>
              <a:srgbClr val="C5FF00"/>
            </a:solidFill>
            <a:prstDash val="solid"/>
            <a:tailEnd type="triangle" w="lg" len="med"/>
          </a:ln>
        </p:spPr>
      </p:cxnSp>
      <p:sp>
        <p:nvSpPr>
          <p:cNvPr id="18" name="registry">
            <a:extLst>
              <a:ext uri="{FF2B5EF4-FFF2-40B4-BE49-F238E27FC236}">
                <a16:creationId xmlns:a16="http://schemas.microsoft.com/office/drawing/2014/main" id="{F7724154-6D2C-475C-8A00-30F0CBFB4DFA}"/>
              </a:ext>
            </a:extLst>
          </p:cNvPr>
          <p:cNvSpPr>
            <a:spLocks noGrp="1"/>
          </p:cNvSpPr>
          <p:nvPr/>
        </p:nvSpPr>
        <p:spPr>
          <a:xfrm>
            <a:off x="7360920" y="3322320"/>
            <a:ext cx="1912620" cy="1028700"/>
          </a:xfrm>
          <a:prstGeom prst="roundRect">
            <a:avLst>
              <a:gd name="adj" fmla="val 8889"/>
            </a:avLst>
          </a:prstGeom>
          <a:solidFill>
            <a:srgbClr val="FFF0DF"/>
          </a:solidFill>
          <a:ln w="11430">
            <a:solidFill>
              <a:srgbClr val="FFC28A"/>
            </a:solidFill>
            <a:prstDash val="solid"/>
          </a:ln>
        </p:spPr>
      </p:sp>
      <p:sp>
        <p:nvSpPr>
          <p:cNvPr id="19" name="registry-name">
            <a:extLst>
              <a:ext uri="{FF2B5EF4-FFF2-40B4-BE49-F238E27FC236}">
                <a16:creationId xmlns:a16="http://schemas.microsoft.com/office/drawing/2014/main" id="{4F23A100-EC35-4A12-9386-4A0496B557A3}"/>
              </a:ext>
            </a:extLst>
          </p:cNvPr>
          <p:cNvSpPr>
            <a:spLocks noGrp="1"/>
          </p:cNvSpPr>
          <p:nvPr/>
        </p:nvSpPr>
        <p:spPr>
          <a:xfrm>
            <a:off x="7528560" y="3459480"/>
            <a:ext cx="1577340" cy="381000"/>
          </a:xfrm>
          <a:prstGeom prst="rect">
            <a:avLst/>
          </a:prstGeom>
          <a:noFill/>
          <a:ln w="0">
            <a:noFill/>
            <a:prstDash val="solid"/>
          </a:ln>
        </p:spPr>
        <p:txBody>
          <a:bodyPr wrap="none" lIns="0" tIns="0" rIns="0" bIns="0" anchor="ctr">
            <a:noAutofit/>
          </a:bodyPr>
          <a:lstStyle/>
          <a:p>
            <a:pPr algn="l">
              <a:defRPr sz="1740" b="1">
                <a:solidFill>
                  <a:srgbClr val="1E1E1E"/>
                </a:solidFill>
                <a:latin typeface="Inter"/>
                <a:ea typeface="Inter"/>
                <a:cs typeface="Inter"/>
              </a:defRPr>
            </a:pPr>
            <a:r>
              <a:rPr sz="1740" b="1">
                <a:solidFill>
                  <a:srgbClr val="1E1E1E"/>
                </a:solidFill>
                <a:latin typeface="Inter"/>
                <a:ea typeface="Inter"/>
                <a:cs typeface="Inter"/>
              </a:rPr>
              <a:t>New alert</a:t>
            </a:r>
          </a:p>
        </p:txBody>
      </p:sp>
      <p:sp>
        <p:nvSpPr>
          <p:cNvPr id="20" name="registry-sub">
            <a:extLst>
              <a:ext uri="{FF2B5EF4-FFF2-40B4-BE49-F238E27FC236}">
                <a16:creationId xmlns:a16="http://schemas.microsoft.com/office/drawing/2014/main" id="{7023306C-A986-4A54-8774-8AA8A4D2DFBD}"/>
              </a:ext>
            </a:extLst>
          </p:cNvPr>
          <p:cNvSpPr>
            <a:spLocks noGrp="1"/>
          </p:cNvSpPr>
          <p:nvPr/>
        </p:nvSpPr>
        <p:spPr>
          <a:xfrm>
            <a:off x="7528560" y="3901440"/>
            <a:ext cx="1577340" cy="365760"/>
          </a:xfrm>
          <a:prstGeom prst="rect">
            <a:avLst/>
          </a:prstGeom>
          <a:noFill/>
          <a:ln w="0">
            <a:noFill/>
            <a:prstDash val="solid"/>
          </a:ln>
        </p:spPr>
        <p:txBody>
          <a:bodyPr wrap="none" lIns="0" tIns="0" rIns="0" bIns="0" anchor="ctr">
            <a:noAutofit/>
          </a:bodyPr>
          <a:lstStyle/>
          <a:p>
            <a:pPr algn="l">
              <a:defRPr sz="1380" b="0">
                <a:solidFill>
                  <a:srgbClr val="646464"/>
                </a:solidFill>
                <a:latin typeface="Inter"/>
                <a:ea typeface="Inter"/>
                <a:cs typeface="Inter"/>
              </a:defRPr>
            </a:pPr>
            <a:r>
              <a:rPr sz="1380" b="0">
                <a:solidFill>
                  <a:srgbClr val="646464"/>
                </a:solidFill>
                <a:latin typeface="Inter"/>
                <a:ea typeface="Inter"/>
                <a:cs typeface="Inter"/>
              </a:rPr>
              <a:t>SQLite registry</a:t>
            </a:r>
          </a:p>
        </p:txBody>
      </p:sp>
      <p:cxnSp>
        <p:nvCxnSpPr>
          <p:cNvPr id="9221" name="Straight Arrow Connector 9220"/>
          <p:cNvCxnSpPr>
            <a:stCxn id="12" idx="3"/>
            <a:endCxn id="18" idx="1"/>
          </p:cNvCxnSpPr>
          <p:nvPr/>
        </p:nvCxnSpPr>
        <p:spPr>
          <a:xfrm>
            <a:off x="6576060" y="3829050"/>
            <a:ext cx="784860" cy="7620"/>
          </a:xfrm>
          <a:prstGeom prst="straightConnector1">
            <a:avLst/>
          </a:prstGeom>
          <a:ln w="22860">
            <a:solidFill>
              <a:srgbClr val="C26400"/>
            </a:solidFill>
            <a:prstDash val="solid"/>
            <a:tailEnd type="triangle" w="lg" len="med"/>
          </a:ln>
        </p:spPr>
      </p:cxnSp>
      <p:sp>
        <p:nvSpPr>
          <p:cNvPr id="22" name="bank-review">
            <a:extLst>
              <a:ext uri="{FF2B5EF4-FFF2-40B4-BE49-F238E27FC236}">
                <a16:creationId xmlns:a16="http://schemas.microsoft.com/office/drawing/2014/main" id="{910F354C-7D9A-4CA4-9410-F7F7DDC38587}"/>
              </a:ext>
            </a:extLst>
          </p:cNvPr>
          <p:cNvSpPr>
            <a:spLocks noGrp="1"/>
          </p:cNvSpPr>
          <p:nvPr/>
        </p:nvSpPr>
        <p:spPr>
          <a:xfrm>
            <a:off x="9654540" y="1889760"/>
            <a:ext cx="1988820" cy="922020"/>
          </a:xfrm>
          <a:prstGeom prst="roundRect">
            <a:avLst>
              <a:gd name="adj" fmla="val 9917"/>
            </a:avLst>
          </a:prstGeom>
          <a:solidFill>
            <a:srgbClr val="FFFFFF"/>
          </a:solidFill>
          <a:ln w="11430">
            <a:solidFill>
              <a:srgbClr val="D5D5D1"/>
            </a:solidFill>
            <a:prstDash val="solid"/>
          </a:ln>
        </p:spPr>
      </p:sp>
      <p:sp>
        <p:nvSpPr>
          <p:cNvPr id="23" name="bank-review-name">
            <a:extLst>
              <a:ext uri="{FF2B5EF4-FFF2-40B4-BE49-F238E27FC236}">
                <a16:creationId xmlns:a16="http://schemas.microsoft.com/office/drawing/2014/main" id="{B98A1676-99A6-4AF3-BF84-2035AA9B743A}"/>
              </a:ext>
            </a:extLst>
          </p:cNvPr>
          <p:cNvSpPr>
            <a:spLocks noGrp="1"/>
          </p:cNvSpPr>
          <p:nvPr/>
        </p:nvSpPr>
        <p:spPr>
          <a:xfrm>
            <a:off x="9822180" y="2026920"/>
            <a:ext cx="1653540" cy="381000"/>
          </a:xfrm>
          <a:prstGeom prst="rect">
            <a:avLst/>
          </a:prstGeom>
          <a:noFill/>
          <a:ln w="0">
            <a:noFill/>
            <a:prstDash val="solid"/>
          </a:ln>
        </p:spPr>
        <p:txBody>
          <a:bodyPr wrap="none" lIns="0" tIns="0" rIns="0" bIns="0" anchor="ctr">
            <a:noAutofit/>
          </a:bodyPr>
          <a:lstStyle/>
          <a:p>
            <a:pPr algn="l">
              <a:defRPr sz="1620" b="1">
                <a:solidFill>
                  <a:srgbClr val="1E1E1E"/>
                </a:solidFill>
                <a:latin typeface="Inter"/>
                <a:ea typeface="Inter"/>
                <a:cs typeface="Inter"/>
              </a:defRPr>
            </a:pPr>
            <a:r>
              <a:rPr sz="1620" b="1">
                <a:solidFill>
                  <a:srgbClr val="1E1E1E"/>
                </a:solidFill>
                <a:latin typeface="Inter"/>
                <a:ea typeface="Inter"/>
                <a:cs typeface="Inter"/>
              </a:rPr>
              <a:t>Bank review</a:t>
            </a:r>
          </a:p>
        </p:txBody>
      </p:sp>
      <p:sp>
        <p:nvSpPr>
          <p:cNvPr id="24" name="bank-review-sub">
            <a:extLst>
              <a:ext uri="{FF2B5EF4-FFF2-40B4-BE49-F238E27FC236}">
                <a16:creationId xmlns:a16="http://schemas.microsoft.com/office/drawing/2014/main" id="{608B40C8-6456-49AD-893D-16367644E061}"/>
              </a:ext>
            </a:extLst>
          </p:cNvPr>
          <p:cNvSpPr>
            <a:spLocks noGrp="1"/>
          </p:cNvSpPr>
          <p:nvPr/>
        </p:nvSpPr>
        <p:spPr>
          <a:xfrm>
            <a:off x="9822180" y="2468880"/>
            <a:ext cx="1653540" cy="259080"/>
          </a:xfrm>
          <a:prstGeom prst="rect">
            <a:avLst/>
          </a:prstGeom>
          <a:noFill/>
          <a:ln w="0">
            <a:noFill/>
            <a:prstDash val="solid"/>
          </a:ln>
        </p:spPr>
        <p:txBody>
          <a:bodyPr wrap="none" lIns="0" tIns="0" rIns="0" bIns="0" anchor="ctr">
            <a:noAutofit/>
          </a:bodyPr>
          <a:lstStyle/>
          <a:p>
            <a:pPr algn="l">
              <a:defRPr sz="1250" b="0">
                <a:solidFill>
                  <a:srgbClr val="646464"/>
                </a:solidFill>
                <a:latin typeface="Inter"/>
                <a:ea typeface="Inter"/>
                <a:cs typeface="Inter"/>
              </a:defRPr>
            </a:pPr>
            <a:r>
              <a:rPr sz="1250" b="0">
                <a:solidFill>
                  <a:srgbClr val="646464"/>
                </a:solidFill>
                <a:latin typeface="Inter"/>
                <a:ea typeface="Inter"/>
                <a:cs typeface="Inter"/>
              </a:rPr>
              <a:t>Large credits retained</a:t>
            </a:r>
          </a:p>
        </p:txBody>
      </p:sp>
      <p:sp>
        <p:nvSpPr>
          <p:cNvPr id="25" name="bank-branch0">
            <a:extLst>
              <a:ext uri="{FF2B5EF4-FFF2-40B4-BE49-F238E27FC236}">
                <a16:creationId xmlns:a16="http://schemas.microsoft.com/office/drawing/2014/main" id="{FA389BD1-95C0-46A7-B897-071BC516775D}"/>
              </a:ext>
            </a:extLst>
          </p:cNvPr>
          <p:cNvSpPr>
            <a:spLocks noGrp="1"/>
          </p:cNvSpPr>
          <p:nvPr/>
        </p:nvSpPr>
        <p:spPr>
          <a:xfrm>
            <a:off x="8313420" y="3314700"/>
            <a:ext cx="15240" cy="15240"/>
          </a:xfrm>
          <a:prstGeom prst="rect">
            <a:avLst/>
          </a:prstGeom>
          <a:noFill/>
          <a:ln w="0">
            <a:noFill/>
            <a:prstDash val="solid"/>
          </a:ln>
        </p:spPr>
      </p:sp>
      <p:sp>
        <p:nvSpPr>
          <p:cNvPr id="26" name="bank-branch1">
            <a:extLst>
              <a:ext uri="{FF2B5EF4-FFF2-40B4-BE49-F238E27FC236}">
                <a16:creationId xmlns:a16="http://schemas.microsoft.com/office/drawing/2014/main" id="{5B235301-9111-478A-879F-7D33858175AD}"/>
              </a:ext>
            </a:extLst>
          </p:cNvPr>
          <p:cNvSpPr>
            <a:spLocks noGrp="1"/>
          </p:cNvSpPr>
          <p:nvPr/>
        </p:nvSpPr>
        <p:spPr>
          <a:xfrm>
            <a:off x="8313420" y="2346960"/>
            <a:ext cx="15240" cy="15240"/>
          </a:xfrm>
          <a:prstGeom prst="rect">
            <a:avLst/>
          </a:prstGeom>
          <a:noFill/>
          <a:ln w="0">
            <a:noFill/>
            <a:prstDash val="solid"/>
          </a:ln>
        </p:spPr>
      </p:sp>
      <p:sp>
        <p:nvSpPr>
          <p:cNvPr id="27" name="bank-branch2">
            <a:extLst>
              <a:ext uri="{FF2B5EF4-FFF2-40B4-BE49-F238E27FC236}">
                <a16:creationId xmlns:a16="http://schemas.microsoft.com/office/drawing/2014/main" id="{49E0CEFD-699D-485B-9EBF-14F919B0BF98}"/>
              </a:ext>
            </a:extLst>
          </p:cNvPr>
          <p:cNvSpPr>
            <a:spLocks noGrp="1"/>
          </p:cNvSpPr>
          <p:nvPr/>
        </p:nvSpPr>
        <p:spPr>
          <a:xfrm>
            <a:off x="9646920" y="2346960"/>
            <a:ext cx="15240" cy="15240"/>
          </a:xfrm>
          <a:prstGeom prst="rect">
            <a:avLst/>
          </a:prstGeom>
          <a:noFill/>
          <a:ln w="0">
            <a:noFill/>
            <a:prstDash val="solid"/>
          </a:ln>
        </p:spPr>
      </p:sp>
      <p:cxnSp>
        <p:nvCxnSpPr>
          <p:cNvPr id="9228" name="Straight Arrow Connector 9227"/>
          <p:cNvCxnSpPr>
            <a:stCxn id="25" idx="0"/>
            <a:endCxn id="26" idx="2"/>
          </p:cNvCxnSpPr>
          <p:nvPr/>
        </p:nvCxnSpPr>
        <p:spPr>
          <a:xfrm flipV="1">
            <a:off x="8321040" y="2362200"/>
            <a:ext cx="0" cy="952500"/>
          </a:xfrm>
          <a:prstGeom prst="straightConnector1">
            <a:avLst/>
          </a:prstGeom>
          <a:ln w="22860">
            <a:solidFill>
              <a:srgbClr val="646464"/>
            </a:solidFill>
            <a:prstDash val="solid"/>
            <a:tailEnd type="none" w="sm" len="sm"/>
          </a:ln>
        </p:spPr>
      </p:cxnSp>
      <p:cxnSp>
        <p:nvCxnSpPr>
          <p:cNvPr id="9229" name="Straight Arrow Connector 9228"/>
          <p:cNvCxnSpPr>
            <a:stCxn id="26" idx="3"/>
            <a:endCxn id="27" idx="1"/>
          </p:cNvCxnSpPr>
          <p:nvPr/>
        </p:nvCxnSpPr>
        <p:spPr>
          <a:xfrm>
            <a:off x="8328660" y="2354580"/>
            <a:ext cx="1318260" cy="0"/>
          </a:xfrm>
          <a:prstGeom prst="straightConnector1">
            <a:avLst/>
          </a:prstGeom>
          <a:ln w="22860">
            <a:solidFill>
              <a:srgbClr val="646464"/>
            </a:solidFill>
            <a:prstDash val="solid"/>
            <a:tailEnd type="triangle" w="lg" len="med"/>
          </a:ln>
        </p:spPr>
      </p:cxnSp>
      <p:sp>
        <p:nvSpPr>
          <p:cNvPr id="30" name="draft">
            <a:extLst>
              <a:ext uri="{FF2B5EF4-FFF2-40B4-BE49-F238E27FC236}">
                <a16:creationId xmlns:a16="http://schemas.microsoft.com/office/drawing/2014/main" id="{CADF3AFF-8500-4968-B29A-EB761C993BEB}"/>
              </a:ext>
            </a:extLst>
          </p:cNvPr>
          <p:cNvSpPr>
            <a:spLocks noGrp="1"/>
          </p:cNvSpPr>
          <p:nvPr/>
        </p:nvSpPr>
        <p:spPr>
          <a:xfrm>
            <a:off x="9654540" y="3322320"/>
            <a:ext cx="1988820" cy="1028700"/>
          </a:xfrm>
          <a:prstGeom prst="roundRect">
            <a:avLst>
              <a:gd name="adj" fmla="val 8889"/>
            </a:avLst>
          </a:prstGeom>
          <a:solidFill>
            <a:srgbClr val="FFF0DF"/>
          </a:solidFill>
          <a:ln w="11430">
            <a:solidFill>
              <a:srgbClr val="FFC28A"/>
            </a:solidFill>
            <a:prstDash val="solid"/>
          </a:ln>
        </p:spPr>
      </p:sp>
      <p:sp>
        <p:nvSpPr>
          <p:cNvPr id="31" name="draft-name">
            <a:extLst>
              <a:ext uri="{FF2B5EF4-FFF2-40B4-BE49-F238E27FC236}">
                <a16:creationId xmlns:a16="http://schemas.microsoft.com/office/drawing/2014/main" id="{8EB0CE5F-4F01-4CDF-9A00-1FEC03A9661C}"/>
              </a:ext>
            </a:extLst>
          </p:cNvPr>
          <p:cNvSpPr>
            <a:spLocks noGrp="1"/>
          </p:cNvSpPr>
          <p:nvPr/>
        </p:nvSpPr>
        <p:spPr>
          <a:xfrm>
            <a:off x="9822180" y="3459480"/>
            <a:ext cx="1653540" cy="381000"/>
          </a:xfrm>
          <a:prstGeom prst="rect">
            <a:avLst/>
          </a:prstGeom>
          <a:noFill/>
          <a:ln w="0">
            <a:noFill/>
            <a:prstDash val="solid"/>
          </a:ln>
        </p:spPr>
        <p:txBody>
          <a:bodyPr wrap="none" lIns="0" tIns="0" rIns="0" bIns="0" anchor="ctr">
            <a:noAutofit/>
          </a:bodyPr>
          <a:lstStyle/>
          <a:p>
            <a:pPr algn="l">
              <a:defRPr sz="1500" b="1">
                <a:solidFill>
                  <a:srgbClr val="1E1E1E"/>
                </a:solidFill>
                <a:latin typeface="Inter"/>
                <a:ea typeface="Inter"/>
                <a:cs typeface="Inter"/>
              </a:defRPr>
            </a:pPr>
            <a:r>
              <a:rPr sz="1500" b="1">
                <a:solidFill>
                  <a:srgbClr val="1E1E1E"/>
                </a:solidFill>
                <a:latin typeface="Inter"/>
                <a:ea typeface="Inter"/>
                <a:cs typeface="Inter"/>
              </a:rPr>
              <a:t>Customer email</a:t>
            </a:r>
          </a:p>
        </p:txBody>
      </p:sp>
      <p:sp>
        <p:nvSpPr>
          <p:cNvPr id="32" name="draft-sub">
            <a:extLst>
              <a:ext uri="{FF2B5EF4-FFF2-40B4-BE49-F238E27FC236}">
                <a16:creationId xmlns:a16="http://schemas.microsoft.com/office/drawing/2014/main" id="{9A8B415D-DE09-4AB7-BC01-232CE9A716AC}"/>
              </a:ext>
            </a:extLst>
          </p:cNvPr>
          <p:cNvSpPr>
            <a:spLocks noGrp="1"/>
          </p:cNvSpPr>
          <p:nvPr/>
        </p:nvSpPr>
        <p:spPr>
          <a:xfrm>
            <a:off x="9755920" y="3924300"/>
            <a:ext cx="1653540" cy="365760"/>
          </a:xfrm>
          <a:prstGeom prst="rect">
            <a:avLst/>
          </a:prstGeom>
          <a:noFill/>
          <a:ln w="0">
            <a:noFill/>
            <a:prstDash val="solid"/>
          </a:ln>
        </p:spPr>
        <p:txBody>
          <a:bodyPr wrap="none" lIns="0" tIns="0" rIns="0" bIns="0" anchor="ctr">
            <a:noAutofit/>
          </a:bodyPr>
          <a:lstStyle/>
          <a:p>
            <a:pPr algn="l">
              <a:defRPr sz="1380" b="0">
                <a:solidFill>
                  <a:srgbClr val="646464"/>
                </a:solidFill>
                <a:latin typeface="Inter"/>
                <a:ea typeface="Inter"/>
                <a:cs typeface="Inter"/>
              </a:defRPr>
            </a:pPr>
            <a:r>
              <a:rPr sz="1380" b="0" dirty="0" err="1">
                <a:solidFill>
                  <a:srgbClr val="646464"/>
                </a:solidFill>
                <a:latin typeface="Inter"/>
                <a:ea typeface="Inter"/>
                <a:cs typeface="Inter"/>
              </a:rPr>
              <a:t>Groq</a:t>
            </a:r>
            <a:r>
              <a:rPr sz="1380" b="0" dirty="0">
                <a:solidFill>
                  <a:srgbClr val="646464"/>
                </a:solidFill>
                <a:latin typeface="Inter"/>
                <a:ea typeface="Inter"/>
                <a:cs typeface="Inter"/>
              </a:rPr>
              <a:t> draft</a:t>
            </a:r>
            <a:r>
              <a:rPr lang="en-CA" sz="1380" b="0" dirty="0">
                <a:solidFill>
                  <a:srgbClr val="646464"/>
                </a:solidFill>
                <a:latin typeface="Inter"/>
                <a:ea typeface="Inter"/>
                <a:cs typeface="Inter"/>
              </a:rPr>
              <a:t>s email</a:t>
            </a:r>
            <a:endParaRPr sz="1380" b="0" dirty="0">
              <a:solidFill>
                <a:srgbClr val="646464"/>
              </a:solidFill>
              <a:latin typeface="Inter"/>
              <a:ea typeface="Inter"/>
              <a:cs typeface="Inter"/>
            </a:endParaRPr>
          </a:p>
          <a:p>
            <a:pPr algn="l">
              <a:defRPr sz="1380" b="0">
                <a:solidFill>
                  <a:srgbClr val="646464"/>
                </a:solidFill>
                <a:latin typeface="Inter"/>
                <a:ea typeface="Inter"/>
                <a:cs typeface="Inter"/>
              </a:defRPr>
            </a:pPr>
            <a:r>
              <a:rPr sz="1380" b="0" dirty="0">
                <a:solidFill>
                  <a:srgbClr val="646464"/>
                </a:solidFill>
                <a:latin typeface="Inter"/>
                <a:ea typeface="Inter"/>
                <a:cs typeface="Inter"/>
              </a:rPr>
              <a:t>Python </a:t>
            </a:r>
            <a:r>
              <a:rPr lang="en-CA" sz="1380" b="0" dirty="0">
                <a:solidFill>
                  <a:srgbClr val="646464"/>
                </a:solidFill>
                <a:latin typeface="Inter"/>
                <a:ea typeface="Inter"/>
                <a:cs typeface="Inter"/>
              </a:rPr>
              <a:t>scripts notifies</a:t>
            </a:r>
            <a:endParaRPr sz="1380" b="0" dirty="0">
              <a:solidFill>
                <a:srgbClr val="646464"/>
              </a:solidFill>
              <a:latin typeface="Inter"/>
              <a:ea typeface="Inter"/>
              <a:cs typeface="Inter"/>
            </a:endParaRPr>
          </a:p>
        </p:txBody>
      </p:sp>
      <p:cxnSp>
        <p:nvCxnSpPr>
          <p:cNvPr id="9233" name="Straight Arrow Connector 9232"/>
          <p:cNvCxnSpPr>
            <a:stCxn id="18" idx="3"/>
            <a:endCxn id="30" idx="1"/>
          </p:cNvCxnSpPr>
          <p:nvPr/>
        </p:nvCxnSpPr>
        <p:spPr>
          <a:xfrm>
            <a:off x="9273540" y="3836670"/>
            <a:ext cx="381000" cy="0"/>
          </a:xfrm>
          <a:prstGeom prst="straightConnector1">
            <a:avLst/>
          </a:prstGeom>
          <a:ln w="22860">
            <a:solidFill>
              <a:srgbClr val="C26400"/>
            </a:solidFill>
            <a:prstDash val="solid"/>
            <a:tailEnd type="triangle" w="lg" len="med"/>
          </a:ln>
        </p:spPr>
      </p:cxnSp>
      <p:sp>
        <p:nvSpPr>
          <p:cNvPr id="34" name="mailpit">
            <a:extLst>
              <a:ext uri="{FF2B5EF4-FFF2-40B4-BE49-F238E27FC236}">
                <a16:creationId xmlns:a16="http://schemas.microsoft.com/office/drawing/2014/main" id="{63F09FD8-B251-4D76-A01A-C268EA1F12AD}"/>
              </a:ext>
            </a:extLst>
          </p:cNvPr>
          <p:cNvSpPr>
            <a:spLocks noGrp="1"/>
          </p:cNvSpPr>
          <p:nvPr/>
        </p:nvSpPr>
        <p:spPr>
          <a:xfrm>
            <a:off x="9654540" y="4968240"/>
            <a:ext cx="1988820" cy="990600"/>
          </a:xfrm>
          <a:prstGeom prst="roundRect">
            <a:avLst>
              <a:gd name="adj" fmla="val 9231"/>
            </a:avLst>
          </a:prstGeom>
          <a:solidFill>
            <a:srgbClr val="C5FF00"/>
          </a:solidFill>
          <a:ln w="11430">
            <a:solidFill>
              <a:srgbClr val="C5FF00"/>
            </a:solidFill>
            <a:prstDash val="solid"/>
          </a:ln>
        </p:spPr>
      </p:sp>
      <p:sp>
        <p:nvSpPr>
          <p:cNvPr id="35" name="mailpit-name">
            <a:extLst>
              <a:ext uri="{FF2B5EF4-FFF2-40B4-BE49-F238E27FC236}">
                <a16:creationId xmlns:a16="http://schemas.microsoft.com/office/drawing/2014/main" id="{CB1890F1-8404-42C0-9BF5-E7354925C465}"/>
              </a:ext>
            </a:extLst>
          </p:cNvPr>
          <p:cNvSpPr>
            <a:spLocks noGrp="1"/>
          </p:cNvSpPr>
          <p:nvPr/>
        </p:nvSpPr>
        <p:spPr>
          <a:xfrm>
            <a:off x="9822180" y="5105400"/>
            <a:ext cx="1653540" cy="381000"/>
          </a:xfrm>
          <a:prstGeom prst="rect">
            <a:avLst/>
          </a:prstGeom>
          <a:noFill/>
          <a:ln w="0">
            <a:noFill/>
            <a:prstDash val="solid"/>
          </a:ln>
        </p:spPr>
        <p:txBody>
          <a:bodyPr wrap="none" lIns="0" tIns="0" rIns="0" bIns="0" anchor="ctr">
            <a:noAutofit/>
          </a:bodyPr>
          <a:lstStyle/>
          <a:p>
            <a:pPr algn="l">
              <a:defRPr sz="1680" b="1">
                <a:solidFill>
                  <a:srgbClr val="1E1E1E"/>
                </a:solidFill>
                <a:latin typeface="Inter"/>
                <a:ea typeface="Inter"/>
                <a:cs typeface="Inter"/>
              </a:defRPr>
            </a:pPr>
            <a:r>
              <a:rPr sz="1680" b="1">
                <a:solidFill>
                  <a:srgbClr val="1E1E1E"/>
                </a:solidFill>
                <a:latin typeface="Inter"/>
                <a:ea typeface="Inter"/>
                <a:cs typeface="Inter"/>
              </a:rPr>
              <a:t>Mailpit inbox</a:t>
            </a:r>
          </a:p>
        </p:txBody>
      </p:sp>
      <p:sp>
        <p:nvSpPr>
          <p:cNvPr id="36" name="mailpit-sub">
            <a:extLst>
              <a:ext uri="{FF2B5EF4-FFF2-40B4-BE49-F238E27FC236}">
                <a16:creationId xmlns:a16="http://schemas.microsoft.com/office/drawing/2014/main" id="{C83ABFDE-8782-4F88-B39D-AED3D99BB638}"/>
              </a:ext>
            </a:extLst>
          </p:cNvPr>
          <p:cNvSpPr>
            <a:spLocks noGrp="1"/>
          </p:cNvSpPr>
          <p:nvPr/>
        </p:nvSpPr>
        <p:spPr>
          <a:xfrm>
            <a:off x="9822180" y="5547360"/>
            <a:ext cx="1653540" cy="327660"/>
          </a:xfrm>
          <a:prstGeom prst="rect">
            <a:avLst/>
          </a:prstGeom>
          <a:noFill/>
          <a:ln w="0">
            <a:noFill/>
            <a:prstDash val="solid"/>
          </a:ln>
        </p:spPr>
        <p:txBody>
          <a:bodyPr wrap="none" lIns="0" tIns="0" rIns="0" bIns="0" anchor="ctr">
            <a:noAutofit/>
          </a:bodyPr>
          <a:lstStyle/>
          <a:p>
            <a:pPr algn="l">
              <a:defRPr sz="1380" b="0">
                <a:solidFill>
                  <a:srgbClr val="1E1E1E"/>
                </a:solidFill>
                <a:latin typeface="Inter"/>
                <a:ea typeface="Inter"/>
                <a:cs typeface="Inter"/>
              </a:defRPr>
            </a:pPr>
            <a:r>
              <a:rPr sz="1380" b="0">
                <a:solidFill>
                  <a:srgbClr val="1E1E1E"/>
                </a:solidFill>
                <a:latin typeface="Inter"/>
                <a:ea typeface="Inter"/>
                <a:cs typeface="Inter"/>
              </a:rPr>
              <a:t>Local test delivery</a:t>
            </a:r>
          </a:p>
        </p:txBody>
      </p:sp>
      <p:cxnSp>
        <p:nvCxnSpPr>
          <p:cNvPr id="9237" name="Straight Arrow Connector 9236"/>
          <p:cNvCxnSpPr>
            <a:stCxn id="30" idx="2"/>
            <a:endCxn id="34" idx="0"/>
          </p:cNvCxnSpPr>
          <p:nvPr/>
        </p:nvCxnSpPr>
        <p:spPr>
          <a:xfrm>
            <a:off x="10648950" y="4351020"/>
            <a:ext cx="0" cy="617220"/>
          </a:xfrm>
          <a:prstGeom prst="straightConnector1">
            <a:avLst/>
          </a:prstGeom>
          <a:ln w="22860">
            <a:solidFill>
              <a:srgbClr val="C5FF00"/>
            </a:solidFill>
            <a:prstDash val="solid"/>
            <a:tailEnd type="triangle" w="lg" len="med"/>
          </a:ln>
        </p:spPr>
      </p:cxnSp>
      <p:sp>
        <p:nvSpPr>
          <p:cNvPr id="38" name="duplicate">
            <a:extLst>
              <a:ext uri="{FF2B5EF4-FFF2-40B4-BE49-F238E27FC236}">
                <a16:creationId xmlns:a16="http://schemas.microsoft.com/office/drawing/2014/main" id="{8893D478-3039-4571-B4E3-FD6E564DFCA6}"/>
              </a:ext>
            </a:extLst>
          </p:cNvPr>
          <p:cNvSpPr>
            <a:spLocks noGrp="1"/>
          </p:cNvSpPr>
          <p:nvPr/>
        </p:nvSpPr>
        <p:spPr>
          <a:xfrm>
            <a:off x="3756660" y="5425440"/>
            <a:ext cx="5166360" cy="320040"/>
          </a:xfrm>
          <a:prstGeom prst="rect">
            <a:avLst/>
          </a:prstGeom>
          <a:noFill/>
          <a:ln w="0">
            <a:noFill/>
            <a:prstDash val="solid"/>
          </a:ln>
        </p:spPr>
        <p:txBody>
          <a:bodyPr wrap="none" lIns="0" tIns="0" rIns="0" bIns="0" anchor="ctr">
            <a:noAutofit/>
          </a:bodyPr>
          <a:lstStyle/>
          <a:p>
            <a:pPr algn="l">
              <a:defRPr sz="1920" b="1">
                <a:solidFill>
                  <a:srgbClr val="1E1E1E"/>
                </a:solidFill>
                <a:latin typeface="Inter"/>
                <a:ea typeface="Inter"/>
                <a:cs typeface="Inter"/>
              </a:defRPr>
            </a:pPr>
            <a:r>
              <a:rPr sz="1920" b="1">
                <a:solidFill>
                  <a:srgbClr val="1E1E1E"/>
                </a:solidFill>
                <a:latin typeface="Inter"/>
                <a:ea typeface="Inter"/>
                <a:cs typeface="Inter"/>
              </a:rPr>
              <a:t>One alert per transaction</a:t>
            </a:r>
          </a:p>
        </p:txBody>
      </p:sp>
      <p:sp>
        <p:nvSpPr>
          <p:cNvPr id="39" name="status">
            <a:extLst>
              <a:ext uri="{FF2B5EF4-FFF2-40B4-BE49-F238E27FC236}">
                <a16:creationId xmlns:a16="http://schemas.microsoft.com/office/drawing/2014/main" id="{A6732318-2780-4999-B328-9603BEDBEEFB}"/>
              </a:ext>
            </a:extLst>
          </p:cNvPr>
          <p:cNvSpPr>
            <a:spLocks noGrp="1"/>
          </p:cNvSpPr>
          <p:nvPr/>
        </p:nvSpPr>
        <p:spPr>
          <a:xfrm>
            <a:off x="3756660" y="5814060"/>
            <a:ext cx="5166360" cy="243840"/>
          </a:xfrm>
          <a:prstGeom prst="rect">
            <a:avLst/>
          </a:prstGeom>
          <a:noFill/>
          <a:ln w="0">
            <a:noFill/>
            <a:prstDash val="solid"/>
          </a:ln>
        </p:spPr>
        <p:txBody>
          <a:bodyPr wrap="none" lIns="0" tIns="0" rIns="0" bIns="0" anchor="ctr">
            <a:noAutofit/>
          </a:bodyPr>
          <a:lstStyle/>
          <a:p>
            <a:pPr algn="l">
              <a:defRPr sz="1300" b="0">
                <a:solidFill>
                  <a:srgbClr val="646464"/>
                </a:solidFill>
                <a:latin typeface="Inter"/>
                <a:ea typeface="Inter"/>
                <a:cs typeface="Inter"/>
              </a:defRPr>
            </a:pPr>
            <a:r>
              <a:rPr sz="1300" b="0">
                <a:solidFill>
                  <a:srgbClr val="646464"/>
                </a:solidFill>
                <a:latin typeface="Inter"/>
                <a:ea typeface="Inter"/>
                <a:cs typeface="Inter"/>
              </a:rPr>
              <a:t>Track delivery status and prevent repeat notifications</a:t>
            </a:r>
          </a:p>
        </p:txBody>
      </p:sp>
      <p:sp>
        <p:nvSpPr>
          <p:cNvPr id="40" name="sim-note">
            <a:extLst>
              <a:ext uri="{FF2B5EF4-FFF2-40B4-BE49-F238E27FC236}">
                <a16:creationId xmlns:a16="http://schemas.microsoft.com/office/drawing/2014/main" id="{659D6157-F3E3-42DB-B6EB-9341F4AF1713}"/>
              </a:ext>
            </a:extLst>
          </p:cNvPr>
          <p:cNvSpPr>
            <a:spLocks noGrp="1"/>
          </p:cNvSpPr>
          <p:nvPr/>
        </p:nvSpPr>
        <p:spPr>
          <a:xfrm>
            <a:off x="548640" y="5463540"/>
            <a:ext cx="2514600" cy="236220"/>
          </a:xfrm>
          <a:prstGeom prst="rect">
            <a:avLst/>
          </a:prstGeom>
          <a:noFill/>
          <a:ln w="0">
            <a:noFill/>
            <a:prstDash val="solid"/>
          </a:ln>
        </p:spPr>
        <p:txBody>
          <a:bodyPr wrap="none" lIns="0" tIns="0" rIns="0" bIns="0" anchor="ctr">
            <a:noAutofit/>
          </a:bodyPr>
          <a:lstStyle/>
          <a:p>
            <a:pPr algn="l">
              <a:defRPr sz="1380" b="0">
                <a:solidFill>
                  <a:srgbClr val="646464"/>
                </a:solidFill>
                <a:latin typeface="Inter"/>
                <a:ea typeface="Inter"/>
                <a:cs typeface="Inter"/>
              </a:defRPr>
            </a:pPr>
            <a:r>
              <a:rPr sz="1380" b="0">
                <a:solidFill>
                  <a:srgbClr val="646464"/>
                </a:solidFill>
                <a:latin typeface="Inter"/>
                <a:ea typeface="Inter"/>
                <a:cs typeface="Inter"/>
              </a:rPr>
              <a:t>Synthetic data</a:t>
            </a:r>
          </a:p>
        </p:txBody>
      </p:sp>
      <p:sp>
        <p:nvSpPr>
          <p:cNvPr id="41" name="scan-note">
            <a:extLst>
              <a:ext uri="{FF2B5EF4-FFF2-40B4-BE49-F238E27FC236}">
                <a16:creationId xmlns:a16="http://schemas.microsoft.com/office/drawing/2014/main" id="{4E5344A2-507E-42F8-8F58-E24D681EDEB1}"/>
              </a:ext>
            </a:extLst>
          </p:cNvPr>
          <p:cNvSpPr>
            <a:spLocks noGrp="1"/>
          </p:cNvSpPr>
          <p:nvPr/>
        </p:nvSpPr>
        <p:spPr>
          <a:xfrm>
            <a:off x="7360920" y="4549140"/>
            <a:ext cx="1912620" cy="419100"/>
          </a:xfrm>
          <a:prstGeom prst="rect">
            <a:avLst/>
          </a:prstGeom>
          <a:noFill/>
          <a:ln w="0">
            <a:noFill/>
            <a:prstDash val="solid"/>
          </a:ln>
        </p:spPr>
        <p:txBody>
          <a:bodyPr wrap="none" lIns="0" tIns="0" rIns="0" bIns="0" anchor="ctr">
            <a:noAutofit/>
          </a:bodyPr>
          <a:lstStyle/>
          <a:p>
            <a:pPr algn="ctr">
              <a:defRPr sz="1320" b="0">
                <a:solidFill>
                  <a:srgbClr val="646464"/>
                </a:solidFill>
                <a:latin typeface="Inter"/>
                <a:ea typeface="Inter"/>
                <a:cs typeface="Inter"/>
              </a:defRPr>
            </a:pPr>
            <a:r>
              <a:rPr sz="1320" b="0">
                <a:solidFill>
                  <a:srgbClr val="646464"/>
                </a:solidFill>
                <a:latin typeface="Inter"/>
                <a:ea typeface="Inter"/>
                <a:cs typeface="Inter"/>
              </a:rPr>
              <a:t>Detection runs per scan</a:t>
            </a:r>
          </a:p>
        </p:txBody>
      </p:sp>
      <p:sp>
        <p:nvSpPr>
          <p:cNvPr id="9201" name="Slide Number Placeholder 3">
            <a:extLst>
              <a:ext uri="{FF2B5EF4-FFF2-40B4-BE49-F238E27FC236}">
                <a16:creationId xmlns:a16="http://schemas.microsoft.com/office/drawing/2014/main" id="{E98A4731-19CE-28F0-6564-BE2C1D1F52D4}"/>
              </a:ext>
            </a:extLst>
          </p:cNvPr>
          <p:cNvSpPr>
            <a:spLocks noGrp="1"/>
          </p:cNvSpPr>
          <p:nvPr>
            <p:ph type="sldNum" idx="12"/>
          </p:nvPr>
        </p:nvSpPr>
        <p:spPr>
          <a:xfrm>
            <a:off x="315001" y="6463801"/>
            <a:ext cx="248137" cy="254509"/>
          </a:xfrm>
        </p:spPr>
        <p:txBody>
          <a:bodyPr/>
          <a:lstStyle/>
          <a:p>
            <a:pPr marL="0" marR="0" indent="0" algn="l">
              <a:spcBef>
                <a:spcPts val="0"/>
              </a:spcBef>
              <a:buNone/>
              <a:defRPr sz="900" b="1" i="0" u="none" cap="none">
                <a:solidFill>
                  <a:schemeClr val="dk1"/>
                </a:solidFill>
                <a:latin typeface="Inter"/>
                <a:ea typeface="Inter"/>
                <a:cs typeface="Inter"/>
              </a:defRPr>
            </a:pPr>
            <a:fld id="{CBA53E11-492D-48B3-9F9B-09541CA2A39A}" type="slidenum">
              <a:rPr sz="900" b="1" i="0" u="none" cap="none">
                <a:solidFill>
                  <a:schemeClr val="dk1"/>
                </a:solidFill>
                <a:latin typeface="Inter"/>
                <a:ea typeface="Inter"/>
                <a:cs typeface="Inter"/>
              </a:rPr>
              <a:t>5</a:t>
            </a:fld>
            <a:endParaRPr/>
          </a:p>
        </p:txBody>
      </p:sp>
    </p:spTree>
    <p:extLst>
      <p:ext uri="{BB962C8B-B14F-4D97-AF65-F5344CB8AC3E}">
        <p14:creationId xmlns:p14="http://schemas.microsoft.com/office/powerpoint/2010/main" val="1335001834"/>
      </p:ext>
    </p:extLst>
  </p:cSld>
  <p:clrMapOvr>
    <a:masterClrMapping/>
  </p:clrMapOvr>
</p:sld>
</file>

<file path=ppt/theme/theme1.xml><?xml version="1.0" encoding="utf-8"?>
<a:theme xmlns:a="http://schemas.openxmlformats.org/drawingml/2006/main" name="FDM PPT Theme">
  <a:themeElements>
    <a:clrScheme name="FDM colour theme">
      <a:dk1>
        <a:srgbClr val="000000"/>
      </a:dk1>
      <a:lt1>
        <a:srgbClr val="FFFFFF"/>
      </a:lt1>
      <a:dk2>
        <a:srgbClr val="1E1E1E"/>
      </a:dk2>
      <a:lt2>
        <a:srgbClr val="EEECEA"/>
      </a:lt2>
      <a:accent1>
        <a:srgbClr val="C5FF00"/>
      </a:accent1>
      <a:accent2>
        <a:srgbClr val="FF7F00"/>
      </a:accent2>
      <a:accent3>
        <a:srgbClr val="70D8FF"/>
      </a:accent3>
      <a:accent4>
        <a:srgbClr val="A44CFF"/>
      </a:accent4>
      <a:accent5>
        <a:srgbClr val="FF4E48"/>
      </a:accent5>
      <a:accent6>
        <a:srgbClr val="FF74FF"/>
      </a:accent6>
      <a:hlink>
        <a:srgbClr val="C5FF00"/>
      </a:hlink>
      <a:folHlink>
        <a:srgbClr val="A44C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DM colour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FDM PPT Theme">
  <a:themeElements>
    <a:clrScheme name="FDM colour theme">
      <a:dk1>
        <a:srgbClr val="000000"/>
      </a:dk1>
      <a:lt1>
        <a:srgbClr val="FFFFFF"/>
      </a:lt1>
      <a:dk2>
        <a:srgbClr val="1E1E1E"/>
      </a:dk2>
      <a:lt2>
        <a:srgbClr val="EEECEA"/>
      </a:lt2>
      <a:accent1>
        <a:srgbClr val="C5FF00"/>
      </a:accent1>
      <a:accent2>
        <a:srgbClr val="FF7F00"/>
      </a:accent2>
      <a:accent3>
        <a:srgbClr val="70D8FF"/>
      </a:accent3>
      <a:accent4>
        <a:srgbClr val="A44CFF"/>
      </a:accent4>
      <a:accent5>
        <a:srgbClr val="FF4E48"/>
      </a:accent5>
      <a:accent6>
        <a:srgbClr val="FF74FF"/>
      </a:accent6>
      <a:hlink>
        <a:srgbClr val="C5FF00"/>
      </a:hlink>
      <a:folHlink>
        <a:srgbClr val="A44C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DM colour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1339</Words>
  <Application>Microsoft Macintosh PowerPoint</Application>
  <DocSecurity>0</DocSecurity>
  <PresentationFormat>Widescreen</PresentationFormat>
  <Paragraphs>149</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Inter</vt:lpstr>
      <vt:lpstr>Arial</vt:lpstr>
      <vt:lpstr>Impact</vt:lpstr>
      <vt:lpstr>FDM PPT Theme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Sehajbir Singh</cp:lastModifiedBy>
  <cp:revision>1</cp:revision>
  <dcterms:created xsi:type="dcterms:W3CDTF">2026-09-29T16:16:29Z</dcterms:created>
  <dcterms:modified xsi:type="dcterms:W3CDTF">2026-09-29T18:35:14Z</dcterms:modified>
</cp:coreProperties>
</file>